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4"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05" autoAdjust="0"/>
  </p:normalViewPr>
  <p:slideViewPr>
    <p:cSldViewPr snapToGrid="0">
      <p:cViewPr varScale="1">
        <p:scale>
          <a:sx n="80" d="100"/>
          <a:sy n="80" d="100"/>
        </p:scale>
        <p:origin x="78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F93AA0-CAF7-48A0-81AA-BE7269043D55}" type="datetimeFigureOut">
              <a:rPr lang="en-IN" smtClean="0"/>
              <a:t>10-12-2023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86A3A1-2583-4B98-9A50-B89D599B05E0}" type="slidenum">
              <a:rPr lang="en-IN" smtClean="0"/>
              <a:t>‹#›</a:t>
            </a:fld>
            <a:endParaRPr lang="en-IN"/>
          </a:p>
        </p:txBody>
      </p:sp>
    </p:spTree>
    <p:extLst>
      <p:ext uri="{BB962C8B-B14F-4D97-AF65-F5344CB8AC3E}">
        <p14:creationId xmlns:p14="http://schemas.microsoft.com/office/powerpoint/2010/main" val="2601530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86A3A1-2583-4B98-9A50-B89D599B05E0}" type="slidenum">
              <a:rPr lang="en-IN" smtClean="0"/>
              <a:t>24</a:t>
            </a:fld>
            <a:endParaRPr lang="en-IN"/>
          </a:p>
        </p:txBody>
      </p:sp>
    </p:spTree>
    <p:extLst>
      <p:ext uri="{BB962C8B-B14F-4D97-AF65-F5344CB8AC3E}">
        <p14:creationId xmlns:p14="http://schemas.microsoft.com/office/powerpoint/2010/main" val="2962176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86A3A1-2583-4B98-9A50-B89D599B05E0}" type="slidenum">
              <a:rPr lang="en-IN" smtClean="0"/>
              <a:t>40</a:t>
            </a:fld>
            <a:endParaRPr lang="en-IN"/>
          </a:p>
        </p:txBody>
      </p:sp>
    </p:spTree>
    <p:extLst>
      <p:ext uri="{BB962C8B-B14F-4D97-AF65-F5344CB8AC3E}">
        <p14:creationId xmlns:p14="http://schemas.microsoft.com/office/powerpoint/2010/main" val="1153379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86A3A1-2583-4B98-9A50-B89D599B05E0}" type="slidenum">
              <a:rPr lang="en-IN" smtClean="0"/>
              <a:t>44</a:t>
            </a:fld>
            <a:endParaRPr lang="en-IN"/>
          </a:p>
        </p:txBody>
      </p:sp>
    </p:spTree>
    <p:extLst>
      <p:ext uri="{BB962C8B-B14F-4D97-AF65-F5344CB8AC3E}">
        <p14:creationId xmlns:p14="http://schemas.microsoft.com/office/powerpoint/2010/main" val="2737884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4664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1102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1074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43742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6986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289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3675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46875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2181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653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8884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2060749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89110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905053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8562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3586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7579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smtClean="0"/>
              <a:pPr/>
              <a:t>12/10/2023</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0469634"/>
      </p:ext>
    </p:extLst>
  </p:cSld>
  <p:clrMap bg1="dk1" tx1="lt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50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50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50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4pPr>
      <a:lvl5pPr marL="21145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6B0E-B4F9-E737-5271-3818D8B4648C}"/>
              </a:ext>
            </a:extLst>
          </p:cNvPr>
          <p:cNvSpPr>
            <a:spLocks noGrp="1"/>
          </p:cNvSpPr>
          <p:nvPr>
            <p:ph type="ctrTitle"/>
          </p:nvPr>
        </p:nvSpPr>
        <p:spPr/>
        <p:txBody>
          <a:bodyPr/>
          <a:lstStyle/>
          <a:p>
            <a:r>
              <a:rPr lang="en-US" dirty="0"/>
              <a:t>JAVA</a:t>
            </a:r>
            <a:endParaRPr lang="en-IN" dirty="0"/>
          </a:p>
        </p:txBody>
      </p:sp>
      <p:sp>
        <p:nvSpPr>
          <p:cNvPr id="3" name="Subtitle 2">
            <a:extLst>
              <a:ext uri="{FF2B5EF4-FFF2-40B4-BE49-F238E27FC236}">
                <a16:creationId xmlns:a16="http://schemas.microsoft.com/office/drawing/2014/main" id="{A6534E6A-6B52-4E32-2870-B6F1CD744557}"/>
              </a:ext>
            </a:extLst>
          </p:cNvPr>
          <p:cNvSpPr>
            <a:spLocks noGrp="1"/>
          </p:cNvSpPr>
          <p:nvPr>
            <p:ph type="subTitle" idx="1"/>
          </p:nvPr>
        </p:nvSpPr>
        <p:spPr/>
        <p:txBody>
          <a:bodyPr/>
          <a:lstStyle/>
          <a:p>
            <a:r>
              <a:rPr lang="en-US" dirty="0"/>
              <a:t>DOLAR RUTVIK</a:t>
            </a:r>
            <a:endParaRPr lang="en-IN" dirty="0"/>
          </a:p>
        </p:txBody>
      </p:sp>
    </p:spTree>
    <p:extLst>
      <p:ext uri="{BB962C8B-B14F-4D97-AF65-F5344CB8AC3E}">
        <p14:creationId xmlns:p14="http://schemas.microsoft.com/office/powerpoint/2010/main" val="1091087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980A8E-5D31-1BFA-5970-B3A024199D5E}"/>
              </a:ext>
            </a:extLst>
          </p:cNvPr>
          <p:cNvSpPr txBox="1"/>
          <p:nvPr/>
        </p:nvSpPr>
        <p:spPr>
          <a:xfrm>
            <a:off x="206188" y="554923"/>
            <a:ext cx="6096000" cy="707886"/>
          </a:xfrm>
          <a:prstGeom prst="rect">
            <a:avLst/>
          </a:prstGeom>
          <a:noFill/>
        </p:spPr>
        <p:txBody>
          <a:bodyPr wrap="square">
            <a:spAutoFit/>
          </a:bodyPr>
          <a:lstStyle/>
          <a:p>
            <a:pPr algn="l"/>
            <a:r>
              <a:rPr lang="en-IN" sz="4000" b="1" i="0" dirty="0">
                <a:solidFill>
                  <a:srgbClr val="000000"/>
                </a:solidFill>
                <a:effectLst/>
                <a:latin typeface="Poppins" panose="00000500000000000000" pitchFamily="2" charset="0"/>
              </a:rPr>
              <a:t>Introduction to Java</a:t>
            </a:r>
          </a:p>
        </p:txBody>
      </p:sp>
      <p:sp>
        <p:nvSpPr>
          <p:cNvPr id="5" name="TextBox 4">
            <a:extLst>
              <a:ext uri="{FF2B5EF4-FFF2-40B4-BE49-F238E27FC236}">
                <a16:creationId xmlns:a16="http://schemas.microsoft.com/office/drawing/2014/main" id="{9919A41E-DDE1-2338-3CF6-55C47024BF25}"/>
              </a:ext>
            </a:extLst>
          </p:cNvPr>
          <p:cNvSpPr txBox="1"/>
          <p:nvPr/>
        </p:nvSpPr>
        <p:spPr>
          <a:xfrm>
            <a:off x="206188" y="1997839"/>
            <a:ext cx="10228730" cy="3477875"/>
          </a:xfrm>
          <a:prstGeom prst="rect">
            <a:avLst/>
          </a:prstGeom>
          <a:noFill/>
        </p:spPr>
        <p:txBody>
          <a:bodyPr wrap="square">
            <a:spAutoFit/>
          </a:bodyPr>
          <a:lstStyle/>
          <a:p>
            <a:pPr algn="l">
              <a:buFont typeface="Arial" panose="020B0604020202020204" pitchFamily="34" charset="0"/>
              <a:buChar char="•"/>
            </a:pPr>
            <a:r>
              <a:rPr lang="en-US" sz="2000" b="0" i="0" dirty="0">
                <a:solidFill>
                  <a:srgbClr val="000000"/>
                </a:solidFill>
                <a:effectLst/>
                <a:latin typeface="Poppins" panose="00000500000000000000" pitchFamily="2" charset="0"/>
              </a:rPr>
              <a:t>Java is one of the most popular programming languages because it is used in various tech fields like app development, web development, client-server applications, etc.</a:t>
            </a:r>
          </a:p>
          <a:p>
            <a:pPr algn="l">
              <a:buFont typeface="Arial" panose="020B0604020202020204" pitchFamily="34" charset="0"/>
              <a:buChar char="•"/>
            </a:pPr>
            <a:endParaRPr lang="en-US" sz="2000" b="0" i="0" dirty="0">
              <a:solidFill>
                <a:srgbClr val="000000"/>
              </a:solidFill>
              <a:effectLst/>
              <a:latin typeface="Poppins" panose="00000500000000000000" pitchFamily="2" charset="0"/>
            </a:endParaRPr>
          </a:p>
          <a:p>
            <a:pPr algn="l">
              <a:buFont typeface="Arial" panose="020B0604020202020204" pitchFamily="34" charset="0"/>
              <a:buChar char="•"/>
            </a:pPr>
            <a:r>
              <a:rPr lang="en-US" sz="2000" b="0" i="0" dirty="0">
                <a:solidFill>
                  <a:srgbClr val="000000"/>
                </a:solidFill>
                <a:effectLst/>
                <a:latin typeface="Poppins" panose="00000500000000000000" pitchFamily="2" charset="0"/>
              </a:rPr>
              <a:t>Java is an object-oriented programming language developed by </a:t>
            </a:r>
            <a:r>
              <a:rPr lang="en-US" sz="2000" b="0" i="0" dirty="0">
                <a:solidFill>
                  <a:srgbClr val="000000"/>
                </a:solidFill>
                <a:effectLst/>
                <a:highlight>
                  <a:srgbClr val="FFFF00"/>
                </a:highlight>
                <a:latin typeface="Poppins" panose="00000500000000000000" pitchFamily="2" charset="0"/>
              </a:rPr>
              <a:t>Sun Microsystems </a:t>
            </a:r>
            <a:r>
              <a:rPr lang="en-US" sz="2000" b="0" i="0" dirty="0">
                <a:solidFill>
                  <a:srgbClr val="000000"/>
                </a:solidFill>
                <a:effectLst/>
                <a:latin typeface="Poppins" panose="00000500000000000000" pitchFamily="2" charset="0"/>
              </a:rPr>
              <a:t>of the</a:t>
            </a:r>
            <a:r>
              <a:rPr lang="en-US" sz="2000" b="0" i="0" dirty="0">
                <a:solidFill>
                  <a:srgbClr val="000000"/>
                </a:solidFill>
                <a:effectLst/>
                <a:highlight>
                  <a:srgbClr val="FFFF00"/>
                </a:highlight>
                <a:latin typeface="Poppins" panose="00000500000000000000" pitchFamily="2" charset="0"/>
              </a:rPr>
              <a:t> USA in 1991.</a:t>
            </a:r>
          </a:p>
          <a:p>
            <a:pPr algn="l">
              <a:buFont typeface="Arial" panose="020B0604020202020204" pitchFamily="34" charset="0"/>
              <a:buChar char="•"/>
            </a:pPr>
            <a:endParaRPr lang="en-US" sz="2000" b="0" i="0" dirty="0">
              <a:solidFill>
                <a:srgbClr val="000000"/>
              </a:solidFill>
              <a:effectLst/>
              <a:latin typeface="Poppins" panose="00000500000000000000" pitchFamily="2" charset="0"/>
            </a:endParaRPr>
          </a:p>
          <a:p>
            <a:pPr algn="l">
              <a:buFont typeface="Arial" panose="020B0604020202020204" pitchFamily="34" charset="0"/>
              <a:buChar char="•"/>
            </a:pPr>
            <a:r>
              <a:rPr lang="en-US" sz="2000" b="0" i="0" dirty="0">
                <a:solidFill>
                  <a:srgbClr val="000000"/>
                </a:solidFill>
                <a:effectLst/>
                <a:latin typeface="Poppins" panose="00000500000000000000" pitchFamily="2" charset="0"/>
              </a:rPr>
              <a:t>It was originally called Oak by </a:t>
            </a:r>
            <a:r>
              <a:rPr lang="en-US" sz="2000" b="0" i="0" dirty="0">
                <a:solidFill>
                  <a:srgbClr val="000000"/>
                </a:solidFill>
                <a:effectLst/>
                <a:highlight>
                  <a:srgbClr val="FFFF00"/>
                </a:highlight>
                <a:latin typeface="Poppins" panose="00000500000000000000" pitchFamily="2" charset="0"/>
              </a:rPr>
              <a:t>James </a:t>
            </a:r>
            <a:r>
              <a:rPr lang="en-US" sz="2000" b="0" i="0" dirty="0" err="1">
                <a:solidFill>
                  <a:srgbClr val="000000"/>
                </a:solidFill>
                <a:effectLst/>
                <a:highlight>
                  <a:srgbClr val="FFFF00"/>
                </a:highlight>
                <a:latin typeface="Poppins" panose="00000500000000000000" pitchFamily="2" charset="0"/>
              </a:rPr>
              <a:t>Goslin</a:t>
            </a:r>
            <a:r>
              <a:rPr lang="en-US" sz="2000" b="0" i="0" dirty="0">
                <a:solidFill>
                  <a:srgbClr val="000000"/>
                </a:solidFill>
                <a:effectLst/>
                <a:highlight>
                  <a:srgbClr val="FFFF00"/>
                </a:highlight>
                <a:latin typeface="Poppins" panose="00000500000000000000" pitchFamily="2" charset="0"/>
              </a:rPr>
              <a:t>. </a:t>
            </a:r>
            <a:r>
              <a:rPr lang="en-US" sz="2000" b="0" i="0" dirty="0">
                <a:solidFill>
                  <a:srgbClr val="000000"/>
                </a:solidFill>
                <a:effectLst/>
                <a:latin typeface="Poppins" panose="00000500000000000000" pitchFamily="2" charset="0"/>
              </a:rPr>
              <a:t>He was one of the inventors of Java.</a:t>
            </a:r>
          </a:p>
          <a:p>
            <a:pPr algn="l">
              <a:buFont typeface="Arial" panose="020B0604020202020204" pitchFamily="34" charset="0"/>
              <a:buChar char="•"/>
            </a:pPr>
            <a:endParaRPr lang="en-US" sz="2000" b="0" i="0" dirty="0">
              <a:solidFill>
                <a:srgbClr val="000000"/>
              </a:solidFill>
              <a:effectLst/>
              <a:latin typeface="Poppins" panose="00000500000000000000" pitchFamily="2" charset="0"/>
            </a:endParaRPr>
          </a:p>
          <a:p>
            <a:pPr algn="l">
              <a:buFont typeface="Arial" panose="020B0604020202020204" pitchFamily="34" charset="0"/>
              <a:buChar char="•"/>
            </a:pPr>
            <a:r>
              <a:rPr lang="en-US" sz="2000" b="0" i="0" dirty="0">
                <a:solidFill>
                  <a:srgbClr val="000000"/>
                </a:solidFill>
                <a:effectLst/>
                <a:latin typeface="Poppins" panose="00000500000000000000" pitchFamily="2" charset="0"/>
              </a:rPr>
              <a:t>Java = Purely Object-Oriented.</a:t>
            </a:r>
          </a:p>
        </p:txBody>
      </p:sp>
    </p:spTree>
    <p:extLst>
      <p:ext uri="{BB962C8B-B14F-4D97-AF65-F5344CB8AC3E}">
        <p14:creationId xmlns:p14="http://schemas.microsoft.com/office/powerpoint/2010/main" val="21890012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9FB111-0E8C-FD2A-6770-FC33F4EADA3C}"/>
              </a:ext>
            </a:extLst>
          </p:cNvPr>
          <p:cNvSpPr>
            <a:spLocks noChangeArrowheads="1"/>
          </p:cNvSpPr>
          <p:nvPr/>
        </p:nvSpPr>
        <p:spPr bwMode="auto">
          <a:xfrm>
            <a:off x="484094" y="1175321"/>
            <a:ext cx="9621143" cy="2939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Poppins" panose="00000500000000000000" pitchFamily="2" charset="0"/>
              </a:rPr>
              <a:t>The source code in Java is first compiled into the bytecode.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Poppins" panose="00000500000000000000" pitchFamily="2" charset="0"/>
              </a:rPr>
              <a:t>Then the Java Virtual Machine(JVM) compiles the bytecode to the machine code</a:t>
            </a:r>
            <a:r>
              <a:rPr kumimoji="0" lang="en-US" altLang="en-US" sz="1600" b="0" i="0" u="none" strike="noStrike" cap="none" normalizeH="0" baseline="0" dirty="0">
                <a:ln>
                  <a:noFill/>
                </a:ln>
                <a:solidFill>
                  <a:srgbClr val="000000"/>
                </a:solidFill>
                <a:effectLst/>
                <a:latin typeface="Poppins" panose="00000500000000000000" pitchFamily="2"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0000"/>
                </a:solidFill>
                <a:effectLst/>
                <a:latin typeface="Poppins" panose="00000500000000000000" pitchFamily="2" charset="0"/>
              </a:rPr>
              <a:t>  </a:t>
            </a:r>
            <a:r>
              <a:rPr kumimoji="0" lang="en-US" altLang="en-US" sz="12500" b="0" i="0" u="none" strike="noStrike" cap="none" normalizeH="0" baseline="0" dirty="0">
                <a:ln>
                  <a:noFill/>
                </a:ln>
                <a:solidFill>
                  <a:srgbClr val="000000"/>
                </a:solidFill>
                <a:effectLst/>
                <a:latin typeface="Poppins" panose="00000500000000000000" pitchFamily="2"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0" name="Picture 2">
            <a:extLst>
              <a:ext uri="{FF2B5EF4-FFF2-40B4-BE49-F238E27FC236}">
                <a16:creationId xmlns:a16="http://schemas.microsoft.com/office/drawing/2014/main" id="{D107A503-6F50-6983-6431-444A8A41B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069" y="1956363"/>
            <a:ext cx="8408894" cy="24073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247DB89-9EA6-9AB6-AB05-0117DD02003A}"/>
              </a:ext>
            </a:extLst>
          </p:cNvPr>
          <p:cNvSpPr txBox="1"/>
          <p:nvPr/>
        </p:nvSpPr>
        <p:spPr>
          <a:xfrm>
            <a:off x="89647" y="234247"/>
            <a:ext cx="6096000"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Poppins" panose="00000500000000000000" pitchFamily="2" charset="0"/>
              </a:rPr>
              <a:t>How Java Works?                                                                                                   </a:t>
            </a:r>
          </a:p>
        </p:txBody>
      </p:sp>
      <p:sp>
        <p:nvSpPr>
          <p:cNvPr id="6" name="TextBox 5">
            <a:extLst>
              <a:ext uri="{FF2B5EF4-FFF2-40B4-BE49-F238E27FC236}">
                <a16:creationId xmlns:a16="http://schemas.microsoft.com/office/drawing/2014/main" id="{C824A5F7-42C1-EDBA-05FF-0DE9B02084AE}"/>
              </a:ext>
            </a:extLst>
          </p:cNvPr>
          <p:cNvSpPr txBox="1"/>
          <p:nvPr/>
        </p:nvSpPr>
        <p:spPr>
          <a:xfrm>
            <a:off x="152400" y="4490045"/>
            <a:ext cx="12039600"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Poppins" panose="00000500000000000000" pitchFamily="2" charset="0"/>
              </a:rPr>
              <a:t>Java Installation: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bg1"/>
              </a:solidFill>
              <a:effectLst/>
              <a:latin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Poppins" panose="00000500000000000000" pitchFamily="2" charset="0"/>
              </a:rPr>
              <a:t>JDK stands for Java Development Kit. It contains Java Virtual Machine(JVM) and Java Runtime Environment(JRE).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rgbClr val="000000"/>
              </a:solidFill>
              <a:effectLst/>
              <a:latin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0000"/>
                </a:solidFill>
                <a:effectLst/>
                <a:latin typeface="Poppins" panose="00000500000000000000" pitchFamily="2" charset="0"/>
              </a:rPr>
              <a:t>JDK – </a:t>
            </a:r>
            <a:r>
              <a:rPr kumimoji="0" lang="en-US" altLang="en-US" b="0" i="0" u="none" strike="noStrike" cap="none" normalizeH="0" baseline="0" dirty="0">
                <a:ln>
                  <a:noFill/>
                </a:ln>
                <a:solidFill>
                  <a:srgbClr val="000000"/>
                </a:solidFill>
                <a:effectLst/>
                <a:highlight>
                  <a:srgbClr val="FFFF00"/>
                </a:highlight>
                <a:latin typeface="Poppins" panose="00000500000000000000" pitchFamily="2" charset="0"/>
              </a:rPr>
              <a:t>Java Development Kit </a:t>
            </a:r>
            <a:r>
              <a:rPr kumimoji="0" lang="en-US" altLang="en-US" b="0" i="0" u="none" strike="noStrike" cap="none" normalizeH="0" baseline="0" dirty="0">
                <a:ln>
                  <a:noFill/>
                </a:ln>
                <a:solidFill>
                  <a:srgbClr val="000000"/>
                </a:solidFill>
                <a:effectLst/>
                <a:latin typeface="Poppins" panose="00000500000000000000" pitchFamily="2" charset="0"/>
              </a:rPr>
              <a:t>= Collection of tools used for developing and running java programs.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rgbClr val="000000"/>
              </a:solidFill>
              <a:effectLst/>
              <a:latin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0000"/>
                </a:solidFill>
                <a:effectLst/>
                <a:latin typeface="Poppins" panose="00000500000000000000" pitchFamily="2" charset="0"/>
              </a:rPr>
              <a:t>JRE – </a:t>
            </a:r>
            <a:r>
              <a:rPr kumimoji="0" lang="en-US" altLang="en-US" b="0" i="0" u="none" strike="noStrike" cap="none" normalizeH="0" baseline="0" dirty="0">
                <a:ln>
                  <a:noFill/>
                </a:ln>
                <a:solidFill>
                  <a:srgbClr val="000000"/>
                </a:solidFill>
                <a:effectLst/>
                <a:highlight>
                  <a:srgbClr val="FFFF00"/>
                </a:highlight>
                <a:latin typeface="Poppins" panose="00000500000000000000" pitchFamily="2" charset="0"/>
              </a:rPr>
              <a:t>Java Runtime Environment </a:t>
            </a:r>
            <a:r>
              <a:rPr kumimoji="0" lang="en-US" altLang="en-US" b="0" i="0" u="none" strike="noStrike" cap="none" normalizeH="0" baseline="0" dirty="0">
                <a:ln>
                  <a:noFill/>
                </a:ln>
                <a:solidFill>
                  <a:srgbClr val="000000"/>
                </a:solidFill>
                <a:effectLst/>
                <a:latin typeface="Poppins" panose="00000500000000000000" pitchFamily="2" charset="0"/>
              </a:rPr>
              <a:t>= Helps in executing programs developed in JAVA.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000000"/>
              </a:solidFill>
              <a:effectLst/>
              <a:latin typeface="Poppins" panose="00000500000000000000" pitchFamily="2" charset="0"/>
            </a:endParaRPr>
          </a:p>
        </p:txBody>
      </p:sp>
    </p:spTree>
    <p:extLst>
      <p:ext uri="{BB962C8B-B14F-4D97-AF65-F5344CB8AC3E}">
        <p14:creationId xmlns:p14="http://schemas.microsoft.com/office/powerpoint/2010/main" val="599480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8A7751-B665-35D6-6117-690E506E1DD5}"/>
              </a:ext>
            </a:extLst>
          </p:cNvPr>
          <p:cNvSpPr txBox="1"/>
          <p:nvPr/>
        </p:nvSpPr>
        <p:spPr>
          <a:xfrm>
            <a:off x="0" y="382108"/>
            <a:ext cx="6096000" cy="1077218"/>
          </a:xfrm>
          <a:prstGeom prst="rect">
            <a:avLst/>
          </a:prstGeom>
          <a:noFill/>
        </p:spPr>
        <p:txBody>
          <a:bodyPr wrap="square">
            <a:spAutoFit/>
          </a:bodyPr>
          <a:lstStyle/>
          <a:p>
            <a:pPr algn="l"/>
            <a:r>
              <a:rPr lang="en-US" sz="3200" b="1" i="0" dirty="0">
                <a:solidFill>
                  <a:srgbClr val="000000"/>
                </a:solidFill>
                <a:effectLst/>
                <a:latin typeface="Poppins" panose="00000500000000000000" pitchFamily="2" charset="0"/>
              </a:rPr>
              <a:t>Basic Structure of a Java Program:</a:t>
            </a:r>
          </a:p>
        </p:txBody>
      </p:sp>
      <p:sp>
        <p:nvSpPr>
          <p:cNvPr id="6" name="TextBox 5">
            <a:extLst>
              <a:ext uri="{FF2B5EF4-FFF2-40B4-BE49-F238E27FC236}">
                <a16:creationId xmlns:a16="http://schemas.microsoft.com/office/drawing/2014/main" id="{79B38EAE-F381-5BF1-A871-71AC22B8C323}"/>
              </a:ext>
            </a:extLst>
          </p:cNvPr>
          <p:cNvSpPr txBox="1"/>
          <p:nvPr/>
        </p:nvSpPr>
        <p:spPr>
          <a:xfrm>
            <a:off x="89646" y="2595396"/>
            <a:ext cx="11963007" cy="3693319"/>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package </a:t>
            </a:r>
            <a:r>
              <a:rPr lang="en-IN" dirty="0" err="1"/>
              <a:t>com.company</a:t>
            </a:r>
            <a:r>
              <a:rPr lang="en-IN" dirty="0"/>
              <a:t>; </a:t>
            </a:r>
            <a:r>
              <a:rPr lang="en-IN" dirty="0">
                <a:solidFill>
                  <a:srgbClr val="FF0000"/>
                </a:solidFill>
              </a:rPr>
              <a:t>// Groups classes</a:t>
            </a:r>
          </a:p>
          <a:p>
            <a:endParaRPr lang="en-IN" dirty="0"/>
          </a:p>
          <a:p>
            <a:endParaRPr lang="en-IN" dirty="0"/>
          </a:p>
          <a:p>
            <a:r>
              <a:rPr lang="en-IN" dirty="0"/>
              <a:t>public class Main{	</a:t>
            </a:r>
            <a:r>
              <a:rPr lang="en-IN" dirty="0">
                <a:solidFill>
                  <a:srgbClr val="FF0000"/>
                </a:solidFill>
              </a:rPr>
              <a:t>// </a:t>
            </a:r>
            <a:r>
              <a:rPr lang="en-IN" dirty="0" err="1">
                <a:solidFill>
                  <a:srgbClr val="FF0000"/>
                </a:solidFill>
              </a:rPr>
              <a:t>Entrypoint</a:t>
            </a:r>
            <a:r>
              <a:rPr lang="en-IN" dirty="0">
                <a:solidFill>
                  <a:srgbClr val="FF0000"/>
                </a:solidFill>
              </a:rPr>
              <a:t> into the application</a:t>
            </a:r>
          </a:p>
          <a:p>
            <a:endParaRPr lang="en-IN" dirty="0"/>
          </a:p>
          <a:p>
            <a:endParaRPr lang="en-IN" dirty="0"/>
          </a:p>
          <a:p>
            <a:r>
              <a:rPr lang="en-IN" dirty="0"/>
              <a:t>	public static void main(String[]</a:t>
            </a:r>
            <a:r>
              <a:rPr lang="en-IN" dirty="0" err="1"/>
              <a:t>args</a:t>
            </a:r>
            <a:r>
              <a:rPr lang="en-IN" dirty="0"/>
              <a:t>){</a:t>
            </a:r>
          </a:p>
          <a:p>
            <a:endParaRPr lang="en-IN" dirty="0"/>
          </a:p>
          <a:p>
            <a:endParaRPr lang="en-IN" dirty="0"/>
          </a:p>
          <a:p>
            <a:r>
              <a:rPr lang="en-IN" dirty="0"/>
              <a:t>		</a:t>
            </a:r>
            <a:r>
              <a:rPr lang="en-IN" dirty="0" err="1"/>
              <a:t>System.out.println</a:t>
            </a:r>
            <a:r>
              <a:rPr lang="en-IN" dirty="0"/>
              <a:t>(“Hello World”);</a:t>
            </a:r>
          </a:p>
          <a:p>
            <a:endParaRPr lang="en-IN" dirty="0"/>
          </a:p>
          <a:p>
            <a:r>
              <a:rPr lang="en-IN" dirty="0"/>
              <a:t>	}</a:t>
            </a:r>
          </a:p>
          <a:p>
            <a:r>
              <a:rPr lang="en-IN" dirty="0"/>
              <a:t>}</a:t>
            </a:r>
          </a:p>
        </p:txBody>
      </p:sp>
      <p:cxnSp>
        <p:nvCxnSpPr>
          <p:cNvPr id="10" name="Straight Arrow Connector 9">
            <a:extLst>
              <a:ext uri="{FF2B5EF4-FFF2-40B4-BE49-F238E27FC236}">
                <a16:creationId xmlns:a16="http://schemas.microsoft.com/office/drawing/2014/main" id="{A3E85843-0B38-7EB0-4250-8B782410D82A}"/>
              </a:ext>
            </a:extLst>
          </p:cNvPr>
          <p:cNvCxnSpPr/>
          <p:nvPr/>
        </p:nvCxnSpPr>
        <p:spPr>
          <a:xfrm>
            <a:off x="1165412" y="3325906"/>
            <a:ext cx="0" cy="313765"/>
          </a:xfrm>
          <a:prstGeom prst="straightConnector1">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F431CEAD-9A0F-2FC1-6831-A23D4E6BC1C7}"/>
              </a:ext>
            </a:extLst>
          </p:cNvPr>
          <p:cNvCxnSpPr/>
          <p:nvPr/>
        </p:nvCxnSpPr>
        <p:spPr>
          <a:xfrm>
            <a:off x="1165860" y="3314700"/>
            <a:ext cx="1017270" cy="0"/>
          </a:xfrm>
          <a:prstGeom prst="straightConnector1">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Rectangle 12">
            <a:extLst>
              <a:ext uri="{FF2B5EF4-FFF2-40B4-BE49-F238E27FC236}">
                <a16:creationId xmlns:a16="http://schemas.microsoft.com/office/drawing/2014/main" id="{1E2F9850-D6A3-245B-C77A-0E04D561BD60}"/>
              </a:ext>
            </a:extLst>
          </p:cNvPr>
          <p:cNvSpPr/>
          <p:nvPr/>
        </p:nvSpPr>
        <p:spPr>
          <a:xfrm>
            <a:off x="2251710" y="3188970"/>
            <a:ext cx="1409698" cy="24003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Keyword</a:t>
            </a:r>
            <a:endParaRPr lang="en-IN" dirty="0"/>
          </a:p>
        </p:txBody>
      </p:sp>
      <p:cxnSp>
        <p:nvCxnSpPr>
          <p:cNvPr id="22" name="Straight Connector 21">
            <a:extLst>
              <a:ext uri="{FF2B5EF4-FFF2-40B4-BE49-F238E27FC236}">
                <a16:creationId xmlns:a16="http://schemas.microsoft.com/office/drawing/2014/main" id="{385DD782-5FED-56DB-A812-60578CAE8215}"/>
              </a:ext>
            </a:extLst>
          </p:cNvPr>
          <p:cNvCxnSpPr>
            <a:cxnSpLocks/>
          </p:cNvCxnSpPr>
          <p:nvPr/>
        </p:nvCxnSpPr>
        <p:spPr>
          <a:xfrm flipV="1">
            <a:off x="525781" y="3314700"/>
            <a:ext cx="639631" cy="11206"/>
          </a:xfrm>
          <a:prstGeom prst="line">
            <a:avLst/>
          </a:prstGeom>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85F66E0F-6D35-4F4E-CA35-EA6AC3279C98}"/>
              </a:ext>
            </a:extLst>
          </p:cNvPr>
          <p:cNvCxnSpPr/>
          <p:nvPr/>
        </p:nvCxnSpPr>
        <p:spPr>
          <a:xfrm flipV="1">
            <a:off x="525781" y="2945130"/>
            <a:ext cx="0" cy="3695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16B5E36C-DC51-5D78-6954-060F3F0E2E87}"/>
              </a:ext>
            </a:extLst>
          </p:cNvPr>
          <p:cNvCxnSpPr>
            <a:cxnSpLocks/>
          </p:cNvCxnSpPr>
          <p:nvPr/>
        </p:nvCxnSpPr>
        <p:spPr>
          <a:xfrm flipV="1">
            <a:off x="2712720" y="4617294"/>
            <a:ext cx="0" cy="434745"/>
          </a:xfrm>
          <a:prstGeom prst="straightConnector1">
            <a:avLst/>
          </a:pr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F153CFDC-115F-AA6E-4180-20DC5745C723}"/>
              </a:ext>
            </a:extLst>
          </p:cNvPr>
          <p:cNvCxnSpPr>
            <a:cxnSpLocks/>
          </p:cNvCxnSpPr>
          <p:nvPr/>
        </p:nvCxnSpPr>
        <p:spPr>
          <a:xfrm>
            <a:off x="2712720" y="5052039"/>
            <a:ext cx="1409700" cy="0"/>
          </a:xfrm>
          <a:prstGeom prst="line">
            <a:avLst/>
          </a:pr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 name="Rectangle: Rounded Corners 31">
            <a:extLst>
              <a:ext uri="{FF2B5EF4-FFF2-40B4-BE49-F238E27FC236}">
                <a16:creationId xmlns:a16="http://schemas.microsoft.com/office/drawing/2014/main" id="{C2FFA52A-C4F1-1767-A882-AF71F043A75E}"/>
              </a:ext>
            </a:extLst>
          </p:cNvPr>
          <p:cNvSpPr/>
          <p:nvPr/>
        </p:nvSpPr>
        <p:spPr>
          <a:xfrm>
            <a:off x="4131942" y="4932031"/>
            <a:ext cx="1329689" cy="24001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Functions</a:t>
            </a:r>
            <a:endParaRPr lang="en-IN" dirty="0"/>
          </a:p>
        </p:txBody>
      </p:sp>
      <p:cxnSp>
        <p:nvCxnSpPr>
          <p:cNvPr id="38" name="Straight Arrow Connector 37">
            <a:extLst>
              <a:ext uri="{FF2B5EF4-FFF2-40B4-BE49-F238E27FC236}">
                <a16:creationId xmlns:a16="http://schemas.microsoft.com/office/drawing/2014/main" id="{BD7319F1-BE54-9EFA-8D29-9FEED0824205}"/>
              </a:ext>
            </a:extLst>
          </p:cNvPr>
          <p:cNvCxnSpPr/>
          <p:nvPr/>
        </p:nvCxnSpPr>
        <p:spPr>
          <a:xfrm flipV="1">
            <a:off x="1554480" y="3789045"/>
            <a:ext cx="0" cy="209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B58E410-0962-F3B7-8F63-F05687BA58B3}"/>
              </a:ext>
            </a:extLst>
          </p:cNvPr>
          <p:cNvCxnSpPr/>
          <p:nvPr/>
        </p:nvCxnSpPr>
        <p:spPr>
          <a:xfrm>
            <a:off x="1546860" y="3998595"/>
            <a:ext cx="1489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4C087D4B-1F6A-9000-471C-CB50132DE599}"/>
              </a:ext>
            </a:extLst>
          </p:cNvPr>
          <p:cNvSpPr/>
          <p:nvPr/>
        </p:nvSpPr>
        <p:spPr>
          <a:xfrm>
            <a:off x="3036570" y="3878587"/>
            <a:ext cx="1223011" cy="24001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Class name</a:t>
            </a:r>
            <a:endParaRPr lang="en-IN" sz="1400" dirty="0"/>
          </a:p>
        </p:txBody>
      </p:sp>
      <p:cxnSp>
        <p:nvCxnSpPr>
          <p:cNvPr id="54" name="Straight Arrow Connector 53">
            <a:extLst>
              <a:ext uri="{FF2B5EF4-FFF2-40B4-BE49-F238E27FC236}">
                <a16:creationId xmlns:a16="http://schemas.microsoft.com/office/drawing/2014/main" id="{966DF415-09D6-370D-B1F0-A3219BF68D3F}"/>
              </a:ext>
            </a:extLst>
          </p:cNvPr>
          <p:cNvCxnSpPr/>
          <p:nvPr/>
        </p:nvCxnSpPr>
        <p:spPr>
          <a:xfrm>
            <a:off x="918210" y="4194810"/>
            <a:ext cx="0" cy="24765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5" name="Rectangle: Rounded Corners 54">
            <a:extLst>
              <a:ext uri="{FF2B5EF4-FFF2-40B4-BE49-F238E27FC236}">
                <a16:creationId xmlns:a16="http://schemas.microsoft.com/office/drawing/2014/main" id="{1EF0D3EB-0634-82C9-616C-D2FC49B8AF9F}"/>
              </a:ext>
            </a:extLst>
          </p:cNvPr>
          <p:cNvSpPr/>
          <p:nvPr/>
        </p:nvSpPr>
        <p:spPr>
          <a:xfrm>
            <a:off x="339202" y="3940684"/>
            <a:ext cx="1158016" cy="24292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Modifier</a:t>
            </a:r>
            <a:endParaRPr lang="en-IN" dirty="0"/>
          </a:p>
        </p:txBody>
      </p:sp>
      <p:cxnSp>
        <p:nvCxnSpPr>
          <p:cNvPr id="57" name="Straight Arrow Connector 56">
            <a:extLst>
              <a:ext uri="{FF2B5EF4-FFF2-40B4-BE49-F238E27FC236}">
                <a16:creationId xmlns:a16="http://schemas.microsoft.com/office/drawing/2014/main" id="{9F7D618C-8108-3664-5567-7BBB86267FF0}"/>
              </a:ext>
            </a:extLst>
          </p:cNvPr>
          <p:cNvCxnSpPr/>
          <p:nvPr/>
        </p:nvCxnSpPr>
        <p:spPr>
          <a:xfrm flipV="1">
            <a:off x="1554480" y="4626656"/>
            <a:ext cx="0" cy="278556"/>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59" name="Straight Arrow Connector 58">
            <a:extLst>
              <a:ext uri="{FF2B5EF4-FFF2-40B4-BE49-F238E27FC236}">
                <a16:creationId xmlns:a16="http://schemas.microsoft.com/office/drawing/2014/main" id="{566B3071-B87B-08BE-477D-FB05095700DA}"/>
              </a:ext>
            </a:extLst>
          </p:cNvPr>
          <p:cNvCxnSpPr>
            <a:cxnSpLocks/>
          </p:cNvCxnSpPr>
          <p:nvPr/>
        </p:nvCxnSpPr>
        <p:spPr>
          <a:xfrm flipH="1" flipV="1">
            <a:off x="1243797" y="4895850"/>
            <a:ext cx="306873" cy="9362"/>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60" name="Rectangle: Rounded Corners 59">
            <a:extLst>
              <a:ext uri="{FF2B5EF4-FFF2-40B4-BE49-F238E27FC236}">
                <a16:creationId xmlns:a16="http://schemas.microsoft.com/office/drawing/2014/main" id="{BE86D54F-084C-8297-D368-19405492F9F3}"/>
              </a:ext>
            </a:extLst>
          </p:cNvPr>
          <p:cNvSpPr/>
          <p:nvPr/>
        </p:nvSpPr>
        <p:spPr>
          <a:xfrm>
            <a:off x="139347" y="4745192"/>
            <a:ext cx="1104450" cy="27270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solidFill>
                  <a:schemeClr val="bg1"/>
                </a:solidFill>
              </a:rPr>
              <a:t>Keyword</a:t>
            </a:r>
            <a:endParaRPr lang="en-IN" dirty="0">
              <a:solidFill>
                <a:schemeClr val="bg1"/>
              </a:solidFill>
            </a:endParaRPr>
          </a:p>
        </p:txBody>
      </p:sp>
      <p:cxnSp>
        <p:nvCxnSpPr>
          <p:cNvPr id="64" name="Straight Arrow Connector 63">
            <a:extLst>
              <a:ext uri="{FF2B5EF4-FFF2-40B4-BE49-F238E27FC236}">
                <a16:creationId xmlns:a16="http://schemas.microsoft.com/office/drawing/2014/main" id="{51ABD1A0-EF8E-E538-6DCF-C55DB25E4740}"/>
              </a:ext>
            </a:extLst>
          </p:cNvPr>
          <p:cNvCxnSpPr/>
          <p:nvPr/>
        </p:nvCxnSpPr>
        <p:spPr>
          <a:xfrm flipV="1">
            <a:off x="491490" y="3789045"/>
            <a:ext cx="0" cy="15163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8" name="Straight Connector 67">
            <a:extLst>
              <a:ext uri="{FF2B5EF4-FFF2-40B4-BE49-F238E27FC236}">
                <a16:creationId xmlns:a16="http://schemas.microsoft.com/office/drawing/2014/main" id="{6786624D-5C4C-01EC-60D8-722F141D5E8F}"/>
              </a:ext>
            </a:extLst>
          </p:cNvPr>
          <p:cNvCxnSpPr>
            <a:cxnSpLocks/>
          </p:cNvCxnSpPr>
          <p:nvPr/>
        </p:nvCxnSpPr>
        <p:spPr>
          <a:xfrm>
            <a:off x="1554480" y="4905212"/>
            <a:ext cx="632461"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74" name="Straight Arrow Connector 73">
            <a:extLst>
              <a:ext uri="{FF2B5EF4-FFF2-40B4-BE49-F238E27FC236}">
                <a16:creationId xmlns:a16="http://schemas.microsoft.com/office/drawing/2014/main" id="{D4F68630-38E0-683B-E11D-2971A317F49A}"/>
              </a:ext>
            </a:extLst>
          </p:cNvPr>
          <p:cNvCxnSpPr/>
          <p:nvPr/>
        </p:nvCxnSpPr>
        <p:spPr>
          <a:xfrm flipV="1">
            <a:off x="2183130" y="4617294"/>
            <a:ext cx="0" cy="287918"/>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76" name="Straight Arrow Connector 75">
            <a:extLst>
              <a:ext uri="{FF2B5EF4-FFF2-40B4-BE49-F238E27FC236}">
                <a16:creationId xmlns:a16="http://schemas.microsoft.com/office/drawing/2014/main" id="{85250B9C-C621-8CAE-5AB5-844EBC02909F}"/>
              </a:ext>
            </a:extLst>
          </p:cNvPr>
          <p:cNvCxnSpPr/>
          <p:nvPr/>
        </p:nvCxnSpPr>
        <p:spPr>
          <a:xfrm flipV="1">
            <a:off x="3314700" y="4617294"/>
            <a:ext cx="0" cy="217372"/>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80" name="Straight Connector 79">
            <a:extLst>
              <a:ext uri="{FF2B5EF4-FFF2-40B4-BE49-F238E27FC236}">
                <a16:creationId xmlns:a16="http://schemas.microsoft.com/office/drawing/2014/main" id="{E7260CE1-D10C-23D8-27D2-C792D5EF931D}"/>
              </a:ext>
            </a:extLst>
          </p:cNvPr>
          <p:cNvCxnSpPr/>
          <p:nvPr/>
        </p:nvCxnSpPr>
        <p:spPr>
          <a:xfrm>
            <a:off x="3318510" y="4834666"/>
            <a:ext cx="1421130"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88" name="Straight Connector 87">
            <a:extLst>
              <a:ext uri="{FF2B5EF4-FFF2-40B4-BE49-F238E27FC236}">
                <a16:creationId xmlns:a16="http://schemas.microsoft.com/office/drawing/2014/main" id="{69F78FAE-B6AD-DF84-2633-E69D559BF511}"/>
              </a:ext>
            </a:extLst>
          </p:cNvPr>
          <p:cNvCxnSpPr/>
          <p:nvPr/>
        </p:nvCxnSpPr>
        <p:spPr>
          <a:xfrm flipV="1">
            <a:off x="4739640" y="4617294"/>
            <a:ext cx="0" cy="217372"/>
          </a:xfrm>
          <a:prstGeom prst="line">
            <a:avLst/>
          </a:prstGeom>
        </p:spPr>
        <p:style>
          <a:lnRef idx="1">
            <a:schemeClr val="accent3"/>
          </a:lnRef>
          <a:fillRef idx="0">
            <a:schemeClr val="accent3"/>
          </a:fillRef>
          <a:effectRef idx="0">
            <a:schemeClr val="accent3"/>
          </a:effectRef>
          <a:fontRef idx="minor">
            <a:schemeClr val="tx1"/>
          </a:fontRef>
        </p:style>
      </p:cxnSp>
      <p:cxnSp>
        <p:nvCxnSpPr>
          <p:cNvPr id="90" name="Straight Arrow Connector 89">
            <a:extLst>
              <a:ext uri="{FF2B5EF4-FFF2-40B4-BE49-F238E27FC236}">
                <a16:creationId xmlns:a16="http://schemas.microsoft.com/office/drawing/2014/main" id="{A402CC59-F049-ECAB-5673-DEC0598516FD}"/>
              </a:ext>
            </a:extLst>
          </p:cNvPr>
          <p:cNvCxnSpPr/>
          <p:nvPr/>
        </p:nvCxnSpPr>
        <p:spPr>
          <a:xfrm>
            <a:off x="4739640" y="4617294"/>
            <a:ext cx="24384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91" name="Rectangle: Rounded Corners 90">
            <a:extLst>
              <a:ext uri="{FF2B5EF4-FFF2-40B4-BE49-F238E27FC236}">
                <a16:creationId xmlns:a16="http://schemas.microsoft.com/office/drawing/2014/main" id="{72AEAE5C-D3FF-656A-320F-989932B0C6B8}"/>
              </a:ext>
            </a:extLst>
          </p:cNvPr>
          <p:cNvSpPr/>
          <p:nvPr/>
        </p:nvSpPr>
        <p:spPr>
          <a:xfrm>
            <a:off x="4983480" y="4438064"/>
            <a:ext cx="1424939" cy="28791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err="1"/>
              <a:t>Purameters</a:t>
            </a:r>
            <a:endParaRPr lang="en-IN" dirty="0"/>
          </a:p>
        </p:txBody>
      </p:sp>
      <p:cxnSp>
        <p:nvCxnSpPr>
          <p:cNvPr id="93" name="Straight Arrow Connector 92">
            <a:extLst>
              <a:ext uri="{FF2B5EF4-FFF2-40B4-BE49-F238E27FC236}">
                <a16:creationId xmlns:a16="http://schemas.microsoft.com/office/drawing/2014/main" id="{1273CC08-099C-7C30-3AC8-6D4CAF63F0AB}"/>
              </a:ext>
            </a:extLst>
          </p:cNvPr>
          <p:cNvCxnSpPr/>
          <p:nvPr/>
        </p:nvCxnSpPr>
        <p:spPr>
          <a:xfrm>
            <a:off x="2183130" y="5450840"/>
            <a:ext cx="0" cy="406400"/>
          </a:xfrm>
          <a:prstGeom prst="straightConnector1">
            <a:avLst/>
          </a:prstGeom>
          <a:ln>
            <a:headEnd type="triangle"/>
            <a:tailEnd type="triangle"/>
          </a:ln>
        </p:spPr>
        <p:style>
          <a:lnRef idx="2">
            <a:schemeClr val="accent6"/>
          </a:lnRef>
          <a:fillRef idx="0">
            <a:schemeClr val="accent6"/>
          </a:fillRef>
          <a:effectRef idx="1">
            <a:schemeClr val="accent6"/>
          </a:effectRef>
          <a:fontRef idx="minor">
            <a:schemeClr val="tx1"/>
          </a:fontRef>
        </p:style>
      </p:cxnSp>
      <p:sp>
        <p:nvSpPr>
          <p:cNvPr id="94" name="Rectangle: Rounded Corners 93">
            <a:extLst>
              <a:ext uri="{FF2B5EF4-FFF2-40B4-BE49-F238E27FC236}">
                <a16:creationId xmlns:a16="http://schemas.microsoft.com/office/drawing/2014/main" id="{9B7176A0-FBCB-7ABF-8745-061621763F0F}"/>
              </a:ext>
            </a:extLst>
          </p:cNvPr>
          <p:cNvSpPr/>
          <p:nvPr/>
        </p:nvSpPr>
        <p:spPr>
          <a:xfrm>
            <a:off x="1024954" y="5853970"/>
            <a:ext cx="2316351" cy="43474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Printing Statement</a:t>
            </a:r>
            <a:endParaRPr lang="en-IN" dirty="0"/>
          </a:p>
        </p:txBody>
      </p:sp>
      <p:cxnSp>
        <p:nvCxnSpPr>
          <p:cNvPr id="96" name="Straight Arrow Connector 95">
            <a:extLst>
              <a:ext uri="{FF2B5EF4-FFF2-40B4-BE49-F238E27FC236}">
                <a16:creationId xmlns:a16="http://schemas.microsoft.com/office/drawing/2014/main" id="{9FD8205F-059A-44AF-6F64-ABEEE917360D}"/>
              </a:ext>
            </a:extLst>
          </p:cNvPr>
          <p:cNvCxnSpPr>
            <a:cxnSpLocks/>
          </p:cNvCxnSpPr>
          <p:nvPr/>
        </p:nvCxnSpPr>
        <p:spPr>
          <a:xfrm>
            <a:off x="3947160" y="5450840"/>
            <a:ext cx="0" cy="403130"/>
          </a:xfrm>
          <a:prstGeom prst="straightConnector1">
            <a:avLst/>
          </a:prstGeom>
          <a:ln>
            <a:headEnd type="triangle"/>
            <a:tailEnd type="triangle"/>
          </a:ln>
        </p:spPr>
        <p:style>
          <a:lnRef idx="1">
            <a:schemeClr val="accent3"/>
          </a:lnRef>
          <a:fillRef idx="0">
            <a:schemeClr val="accent3"/>
          </a:fillRef>
          <a:effectRef idx="0">
            <a:schemeClr val="accent3"/>
          </a:effectRef>
          <a:fontRef idx="minor">
            <a:schemeClr val="tx1"/>
          </a:fontRef>
        </p:style>
      </p:cxnSp>
      <p:sp>
        <p:nvSpPr>
          <p:cNvPr id="98" name="Rectangle: Rounded Corners 97">
            <a:extLst>
              <a:ext uri="{FF2B5EF4-FFF2-40B4-BE49-F238E27FC236}">
                <a16:creationId xmlns:a16="http://schemas.microsoft.com/office/drawing/2014/main" id="{8AEAB278-65D1-7392-0E96-8DFC480208BF}"/>
              </a:ext>
            </a:extLst>
          </p:cNvPr>
          <p:cNvSpPr/>
          <p:nvPr/>
        </p:nvSpPr>
        <p:spPr>
          <a:xfrm>
            <a:off x="3449319" y="5865761"/>
            <a:ext cx="1159512" cy="38267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solidFill>
                  <a:schemeClr val="bg1"/>
                </a:solidFill>
              </a:rPr>
              <a:t>String</a:t>
            </a:r>
            <a:endParaRPr lang="en-IN" dirty="0">
              <a:solidFill>
                <a:schemeClr val="bg1"/>
              </a:solidFill>
            </a:endParaRPr>
          </a:p>
        </p:txBody>
      </p:sp>
      <p:graphicFrame>
        <p:nvGraphicFramePr>
          <p:cNvPr id="2" name="Table 3">
            <a:extLst>
              <a:ext uri="{FF2B5EF4-FFF2-40B4-BE49-F238E27FC236}">
                <a16:creationId xmlns:a16="http://schemas.microsoft.com/office/drawing/2014/main" id="{61970825-7E5E-6D23-1E38-6D804B1BF412}"/>
              </a:ext>
            </a:extLst>
          </p:cNvPr>
          <p:cNvGraphicFramePr>
            <a:graphicFrameLocks noGrp="1"/>
          </p:cNvGraphicFramePr>
          <p:nvPr>
            <p:extLst>
              <p:ext uri="{D42A27DB-BD31-4B8C-83A1-F6EECF244321}">
                <p14:modId xmlns:p14="http://schemas.microsoft.com/office/powerpoint/2010/main" val="763479492"/>
              </p:ext>
            </p:extLst>
          </p:nvPr>
        </p:nvGraphicFramePr>
        <p:xfrm>
          <a:off x="9001387" y="6217920"/>
          <a:ext cx="2729298" cy="640080"/>
        </p:xfrm>
        <a:graphic>
          <a:graphicData uri="http://schemas.openxmlformats.org/drawingml/2006/table">
            <a:tbl>
              <a:tblPr firstRow="1" bandRow="1">
                <a:tableStyleId>{5C22544A-7EE6-4342-B048-85BDC9FD1C3A}</a:tableStyleId>
              </a:tblPr>
              <a:tblGrid>
                <a:gridCol w="2729298">
                  <a:extLst>
                    <a:ext uri="{9D8B030D-6E8A-4147-A177-3AD203B41FA5}">
                      <a16:colId xmlns:a16="http://schemas.microsoft.com/office/drawing/2014/main" val="3868280206"/>
                    </a:ext>
                  </a:extLst>
                </a:gridCol>
              </a:tblGrid>
              <a:tr h="455974">
                <a:tc>
                  <a:txBody>
                    <a:bodyPr/>
                    <a:lstStyle/>
                    <a:p>
                      <a:r>
                        <a:rPr lang="en-US" dirty="0"/>
                        <a:t>                                                                                </a:t>
                      </a:r>
                      <a:r>
                        <a:rPr lang="en-US" dirty="0">
                          <a:solidFill>
                            <a:schemeClr val="bg1"/>
                          </a:solidFill>
                        </a:rPr>
                        <a:t>MR.     </a:t>
                      </a:r>
                      <a:r>
                        <a:rPr lang="en-US" dirty="0">
                          <a:solidFill>
                            <a:srgbClr val="FF0000"/>
                          </a:solidFill>
                        </a:rPr>
                        <a:t>DOLAR RUTVIK</a:t>
                      </a:r>
                      <a:endParaRPr lang="en-IN" dirty="0">
                        <a:solidFill>
                          <a:srgbClr val="FF0000"/>
                        </a:solidFill>
                      </a:endParaRPr>
                    </a:p>
                  </a:txBody>
                  <a:tcPr/>
                </a:tc>
                <a:extLst>
                  <a:ext uri="{0D108BD9-81ED-4DB2-BD59-A6C34878D82A}">
                    <a16:rowId xmlns:a16="http://schemas.microsoft.com/office/drawing/2014/main" val="418439563"/>
                  </a:ext>
                </a:extLst>
              </a:tr>
            </a:tbl>
          </a:graphicData>
        </a:graphic>
      </p:graphicFrame>
    </p:spTree>
    <p:extLst>
      <p:ext uri="{BB962C8B-B14F-4D97-AF65-F5344CB8AC3E}">
        <p14:creationId xmlns:p14="http://schemas.microsoft.com/office/powerpoint/2010/main" val="448326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66891E-F50C-B1F3-5E04-F15272302F6B}"/>
              </a:ext>
            </a:extLst>
          </p:cNvPr>
          <p:cNvSpPr txBox="1"/>
          <p:nvPr/>
        </p:nvSpPr>
        <p:spPr>
          <a:xfrm>
            <a:off x="0" y="1666240"/>
            <a:ext cx="12192000" cy="4708981"/>
          </a:xfrm>
          <a:prstGeom prst="rect">
            <a:avLst/>
          </a:prstGeom>
          <a:noFill/>
        </p:spPr>
        <p:txBody>
          <a:bodyPr wrap="square">
            <a:spAutoFit/>
          </a:bodyPr>
          <a:lstStyle/>
          <a:p>
            <a:pPr algn="l">
              <a:buFont typeface="+mj-lt"/>
              <a:buAutoNum type="arabicPeriod"/>
            </a:pPr>
            <a:r>
              <a:rPr lang="en-US" sz="2000" b="1" i="0" dirty="0">
                <a:solidFill>
                  <a:srgbClr val="000000"/>
                </a:solidFill>
                <a:effectLst/>
                <a:latin typeface="Poppins" panose="00000500000000000000" pitchFamily="2" charset="0"/>
              </a:rPr>
              <a:t>package </a:t>
            </a:r>
            <a:r>
              <a:rPr lang="en-US" sz="2000" b="1" i="0" dirty="0" err="1">
                <a:solidFill>
                  <a:srgbClr val="000000"/>
                </a:solidFill>
                <a:effectLst/>
                <a:latin typeface="Poppins" panose="00000500000000000000" pitchFamily="2" charset="0"/>
              </a:rPr>
              <a:t>com.company</a:t>
            </a:r>
            <a:r>
              <a:rPr lang="en-US" sz="2000" b="1" i="0" dirty="0">
                <a:solidFill>
                  <a:srgbClr val="000000"/>
                </a:solidFill>
                <a:effectLst/>
                <a:latin typeface="Poppins" panose="00000500000000000000" pitchFamily="2" charset="0"/>
              </a:rPr>
              <a:t> :</a:t>
            </a:r>
          </a:p>
          <a:p>
            <a:pPr marL="742950" lvl="1" indent="-285750" algn="l">
              <a:buFont typeface="+mj-lt"/>
              <a:buAutoNum type="arabicPeriod"/>
            </a:pPr>
            <a:r>
              <a:rPr lang="en-US" sz="2000" b="0" i="0" dirty="0">
                <a:solidFill>
                  <a:srgbClr val="000000"/>
                </a:solidFill>
                <a:effectLst/>
                <a:latin typeface="Poppins" panose="00000500000000000000" pitchFamily="2" charset="0"/>
              </a:rPr>
              <a:t>Packages are used to group the related classes.</a:t>
            </a:r>
          </a:p>
          <a:p>
            <a:pPr marL="742950" lvl="1" indent="-285750" algn="l">
              <a:buFont typeface="+mj-lt"/>
              <a:buAutoNum type="arabicPeriod"/>
            </a:pPr>
            <a:r>
              <a:rPr lang="en-US" sz="2000" b="0" i="0" dirty="0">
                <a:solidFill>
                  <a:srgbClr val="000000"/>
                </a:solidFill>
                <a:effectLst/>
                <a:latin typeface="Poppins" panose="00000500000000000000" pitchFamily="2" charset="0"/>
              </a:rPr>
              <a:t>The "Package" keyword is used to create packages in Java.</a:t>
            </a:r>
          </a:p>
          <a:p>
            <a:pPr marL="742950" lvl="1" indent="-285750" algn="l">
              <a:buFont typeface="+mj-lt"/>
              <a:buAutoNum type="arabicPeriod"/>
            </a:pPr>
            <a:r>
              <a:rPr lang="en-US" sz="2000" b="0" i="0" dirty="0">
                <a:solidFill>
                  <a:srgbClr val="000000"/>
                </a:solidFill>
                <a:effectLst/>
                <a:latin typeface="Poppins" panose="00000500000000000000" pitchFamily="2" charset="0"/>
              </a:rPr>
              <a:t>Here, </a:t>
            </a:r>
            <a:r>
              <a:rPr lang="en-US" sz="2000" b="0" i="0" dirty="0" err="1">
                <a:solidFill>
                  <a:srgbClr val="000000"/>
                </a:solidFill>
                <a:effectLst/>
                <a:latin typeface="Poppins" panose="00000500000000000000" pitchFamily="2" charset="0"/>
              </a:rPr>
              <a:t>com.company</a:t>
            </a:r>
            <a:r>
              <a:rPr lang="en-US" sz="2000" b="0" i="0" dirty="0">
                <a:solidFill>
                  <a:srgbClr val="000000"/>
                </a:solidFill>
                <a:effectLst/>
                <a:latin typeface="Poppins" panose="00000500000000000000" pitchFamily="2" charset="0"/>
              </a:rPr>
              <a:t> is the name of our package.</a:t>
            </a:r>
          </a:p>
          <a:p>
            <a:pPr algn="l">
              <a:buFont typeface="+mj-lt"/>
              <a:buAutoNum type="arabicPeriod"/>
            </a:pPr>
            <a:r>
              <a:rPr lang="en-US" sz="2000" b="1" i="0" dirty="0">
                <a:solidFill>
                  <a:srgbClr val="000000"/>
                </a:solidFill>
                <a:effectLst/>
                <a:latin typeface="Poppins" panose="00000500000000000000" pitchFamily="2" charset="0"/>
              </a:rPr>
              <a:t>public class Main :</a:t>
            </a:r>
          </a:p>
          <a:p>
            <a:pPr marL="742950" lvl="1" indent="-285750" algn="l">
              <a:buFont typeface="+mj-lt"/>
              <a:buAutoNum type="arabicPeriod"/>
            </a:pPr>
            <a:r>
              <a:rPr lang="en-US" sz="2000" b="0" i="0" dirty="0">
                <a:solidFill>
                  <a:srgbClr val="000000"/>
                </a:solidFill>
                <a:effectLst/>
                <a:latin typeface="Poppins" panose="00000500000000000000" pitchFamily="2" charset="0"/>
              </a:rPr>
              <a:t>In Java, every program must contain a class.</a:t>
            </a:r>
          </a:p>
          <a:p>
            <a:pPr marL="742950" lvl="1" indent="-285750" algn="l">
              <a:buFont typeface="+mj-lt"/>
              <a:buAutoNum type="arabicPeriod"/>
            </a:pPr>
            <a:r>
              <a:rPr lang="en-US" sz="2000" b="0" i="0" dirty="0">
                <a:solidFill>
                  <a:srgbClr val="000000"/>
                </a:solidFill>
                <a:effectLst/>
                <a:latin typeface="Poppins" panose="00000500000000000000" pitchFamily="2" charset="0"/>
              </a:rPr>
              <a:t>The filename and name of the class should be the same.</a:t>
            </a:r>
          </a:p>
          <a:p>
            <a:pPr marL="742950" lvl="1" indent="-285750" algn="l">
              <a:buFont typeface="+mj-lt"/>
              <a:buAutoNum type="arabicPeriod"/>
            </a:pPr>
            <a:r>
              <a:rPr lang="en-US" sz="2000" b="0" i="0" dirty="0">
                <a:solidFill>
                  <a:srgbClr val="000000"/>
                </a:solidFill>
                <a:effectLst/>
                <a:latin typeface="Poppins" panose="00000500000000000000" pitchFamily="2" charset="0"/>
              </a:rPr>
              <a:t>Here, we've created a class named "Main".</a:t>
            </a:r>
          </a:p>
          <a:p>
            <a:pPr marL="742950" lvl="1" indent="-285750" algn="l">
              <a:buFont typeface="+mj-lt"/>
              <a:buAutoNum type="arabicPeriod"/>
            </a:pPr>
            <a:r>
              <a:rPr lang="en-US" sz="2000" b="0" i="0" dirty="0">
                <a:solidFill>
                  <a:srgbClr val="000000"/>
                </a:solidFill>
                <a:effectLst/>
                <a:latin typeface="Poppins" panose="00000500000000000000" pitchFamily="2" charset="0"/>
              </a:rPr>
              <a:t>It is the entry point to the application.</a:t>
            </a:r>
          </a:p>
          <a:p>
            <a:pPr algn="l">
              <a:buFont typeface="+mj-lt"/>
              <a:buAutoNum type="arabicPeriod"/>
            </a:pPr>
            <a:r>
              <a:rPr lang="en-US" sz="2000" b="1" i="0" dirty="0">
                <a:solidFill>
                  <a:srgbClr val="000000"/>
                </a:solidFill>
                <a:effectLst/>
                <a:latin typeface="Poppins" panose="00000500000000000000" pitchFamily="2" charset="0"/>
              </a:rPr>
              <a:t>public static void main(String[]</a:t>
            </a:r>
            <a:r>
              <a:rPr lang="en-US" sz="2000" b="1" i="0" dirty="0" err="1">
                <a:solidFill>
                  <a:srgbClr val="000000"/>
                </a:solidFill>
                <a:effectLst/>
                <a:latin typeface="Poppins" panose="00000500000000000000" pitchFamily="2" charset="0"/>
              </a:rPr>
              <a:t>args</a:t>
            </a:r>
            <a:r>
              <a:rPr lang="en-US" sz="2000" b="1" i="0" dirty="0">
                <a:solidFill>
                  <a:srgbClr val="000000"/>
                </a:solidFill>
                <a:effectLst/>
                <a:latin typeface="Poppins" panose="00000500000000000000" pitchFamily="2" charset="0"/>
              </a:rPr>
              <a:t>){..} :</a:t>
            </a:r>
          </a:p>
          <a:p>
            <a:pPr marL="742950" lvl="1" indent="-285750" algn="l">
              <a:buFont typeface="+mj-lt"/>
              <a:buAutoNum type="arabicPeriod"/>
            </a:pPr>
            <a:r>
              <a:rPr lang="en-US" sz="2000" b="0" i="0" dirty="0">
                <a:solidFill>
                  <a:srgbClr val="000000"/>
                </a:solidFill>
                <a:effectLst/>
                <a:latin typeface="Poppins" panose="00000500000000000000" pitchFamily="2" charset="0"/>
              </a:rPr>
              <a:t>This is the main() method of our Java program.</a:t>
            </a:r>
          </a:p>
          <a:p>
            <a:pPr marL="742950" lvl="1" indent="-285750" algn="l">
              <a:buFont typeface="+mj-lt"/>
              <a:buAutoNum type="arabicPeriod"/>
            </a:pPr>
            <a:r>
              <a:rPr lang="en-US" sz="2000" b="0" i="0" dirty="0">
                <a:solidFill>
                  <a:srgbClr val="000000"/>
                </a:solidFill>
                <a:effectLst/>
                <a:latin typeface="Poppins" panose="00000500000000000000" pitchFamily="2" charset="0"/>
              </a:rPr>
              <a:t>Every Java program must contain the main() method.</a:t>
            </a:r>
          </a:p>
          <a:p>
            <a:pPr algn="l">
              <a:buFont typeface="+mj-lt"/>
              <a:buAutoNum type="arabicPeriod"/>
            </a:pPr>
            <a:r>
              <a:rPr lang="en-US" sz="2000" b="1" i="0" dirty="0" err="1">
                <a:solidFill>
                  <a:srgbClr val="000000"/>
                </a:solidFill>
                <a:effectLst/>
                <a:latin typeface="Poppins" panose="00000500000000000000" pitchFamily="2" charset="0"/>
              </a:rPr>
              <a:t>System.out.println</a:t>
            </a:r>
            <a:r>
              <a:rPr lang="en-US" sz="2000" b="1" i="0" dirty="0">
                <a:solidFill>
                  <a:srgbClr val="000000"/>
                </a:solidFill>
                <a:effectLst/>
                <a:latin typeface="Poppins" panose="00000500000000000000" pitchFamily="2" charset="0"/>
              </a:rPr>
              <a:t>("Hello World"):</a:t>
            </a:r>
          </a:p>
          <a:p>
            <a:pPr marL="742950" lvl="1" indent="-285750" algn="l">
              <a:buFont typeface="+mj-lt"/>
              <a:buAutoNum type="arabicPeriod"/>
            </a:pPr>
            <a:r>
              <a:rPr lang="en-US" sz="2000" b="0" i="0" dirty="0">
                <a:solidFill>
                  <a:srgbClr val="000000"/>
                </a:solidFill>
                <a:effectLst/>
                <a:latin typeface="Poppins" panose="00000500000000000000" pitchFamily="2" charset="0"/>
              </a:rPr>
              <a:t>The above code is used to display the output on the screen.</a:t>
            </a:r>
          </a:p>
          <a:p>
            <a:pPr marL="742950" lvl="1" indent="-285750" algn="l">
              <a:buFont typeface="+mj-lt"/>
              <a:buAutoNum type="arabicPeriod"/>
            </a:pPr>
            <a:r>
              <a:rPr lang="en-US" sz="2000" b="0" i="0" dirty="0">
                <a:solidFill>
                  <a:srgbClr val="000000"/>
                </a:solidFill>
                <a:effectLst/>
                <a:latin typeface="Poppins" panose="00000500000000000000" pitchFamily="2" charset="0"/>
              </a:rPr>
              <a:t>Anything passed inside the inverted commas is printed on the screen as plain text</a:t>
            </a:r>
            <a:r>
              <a:rPr lang="en-US" b="0" i="0" dirty="0">
                <a:solidFill>
                  <a:srgbClr val="000000"/>
                </a:solidFill>
                <a:effectLst/>
                <a:latin typeface="Poppins" panose="00000500000000000000" pitchFamily="2" charset="0"/>
              </a:rPr>
              <a:t>.</a:t>
            </a:r>
          </a:p>
        </p:txBody>
      </p:sp>
      <p:sp>
        <p:nvSpPr>
          <p:cNvPr id="5" name="TextBox 4">
            <a:extLst>
              <a:ext uri="{FF2B5EF4-FFF2-40B4-BE49-F238E27FC236}">
                <a16:creationId xmlns:a16="http://schemas.microsoft.com/office/drawing/2014/main" id="{A1E45A31-C5E8-70B4-7134-89731D81C64B}"/>
              </a:ext>
            </a:extLst>
          </p:cNvPr>
          <p:cNvSpPr txBox="1"/>
          <p:nvPr/>
        </p:nvSpPr>
        <p:spPr>
          <a:xfrm>
            <a:off x="0" y="108635"/>
            <a:ext cx="6136640" cy="1077218"/>
          </a:xfrm>
          <a:prstGeom prst="rect">
            <a:avLst/>
          </a:prstGeom>
          <a:noFill/>
        </p:spPr>
        <p:txBody>
          <a:bodyPr wrap="square">
            <a:spAutoFit/>
          </a:bodyPr>
          <a:lstStyle/>
          <a:p>
            <a:pPr algn="l"/>
            <a:r>
              <a:rPr lang="en-US" sz="3200" b="1" i="0" dirty="0">
                <a:solidFill>
                  <a:schemeClr val="bg1"/>
                </a:solidFill>
                <a:effectLst/>
                <a:latin typeface="Poppins" panose="00000500000000000000" pitchFamily="2" charset="0"/>
              </a:rPr>
              <a:t>Working of the "Hello World" program shown above :</a:t>
            </a:r>
          </a:p>
        </p:txBody>
      </p:sp>
    </p:spTree>
    <p:extLst>
      <p:ext uri="{BB962C8B-B14F-4D97-AF65-F5344CB8AC3E}">
        <p14:creationId xmlns:p14="http://schemas.microsoft.com/office/powerpoint/2010/main" val="10953251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EE4A8F-A2F4-06B6-5BA2-2F8F75F81AF9}"/>
              </a:ext>
            </a:extLst>
          </p:cNvPr>
          <p:cNvSpPr txBox="1"/>
          <p:nvPr/>
        </p:nvSpPr>
        <p:spPr>
          <a:xfrm>
            <a:off x="142240" y="2560320"/>
            <a:ext cx="12192000" cy="2862322"/>
          </a:xfrm>
          <a:prstGeom prst="rect">
            <a:avLst/>
          </a:prstGeom>
          <a:noFill/>
        </p:spPr>
        <p:txBody>
          <a:bodyPr wrap="square">
            <a:spAutoFit/>
          </a:bodyPr>
          <a:lstStyle/>
          <a:p>
            <a:pPr algn="l">
              <a:buFont typeface="Arial" panose="020B0604020202020204" pitchFamily="34" charset="0"/>
              <a:buChar char="•"/>
            </a:pPr>
            <a:r>
              <a:rPr lang="en-US" sz="2000" b="0" i="0" dirty="0">
                <a:solidFill>
                  <a:srgbClr val="000000"/>
                </a:solidFill>
                <a:effectLst/>
                <a:latin typeface="Poppins" panose="00000500000000000000" pitchFamily="2" charset="0"/>
              </a:rPr>
              <a:t>For classes, we use Pascal Convention. The first and Subsequent characters from a word are capital letters (uppercase).</a:t>
            </a:r>
          </a:p>
          <a:p>
            <a:pPr algn="l"/>
            <a:br>
              <a:rPr lang="en-US" sz="2000" b="0" i="0" dirty="0">
                <a:solidFill>
                  <a:srgbClr val="000000"/>
                </a:solidFill>
                <a:effectLst/>
                <a:latin typeface="Poppins" panose="00000500000000000000" pitchFamily="2" charset="0"/>
              </a:rPr>
            </a:br>
            <a:r>
              <a:rPr lang="en-US" sz="2000" b="0" i="0" dirty="0">
                <a:solidFill>
                  <a:srgbClr val="000000"/>
                </a:solidFill>
                <a:effectLst/>
                <a:latin typeface="Poppins" panose="00000500000000000000" pitchFamily="2" charset="0"/>
              </a:rPr>
              <a:t>Example: Main, </a:t>
            </a:r>
            <a:r>
              <a:rPr lang="en-US" sz="2000" b="0" i="0" dirty="0" err="1">
                <a:solidFill>
                  <a:srgbClr val="000000"/>
                </a:solidFill>
                <a:effectLst/>
                <a:latin typeface="Poppins" panose="00000500000000000000" pitchFamily="2" charset="0"/>
              </a:rPr>
              <a:t>MyScanner</a:t>
            </a:r>
            <a:r>
              <a:rPr lang="en-US" sz="2000" b="0" i="0" dirty="0">
                <a:solidFill>
                  <a:srgbClr val="000000"/>
                </a:solidFill>
                <a:effectLst/>
                <a:latin typeface="Poppins" panose="00000500000000000000" pitchFamily="2" charset="0"/>
              </a:rPr>
              <a:t>, </a:t>
            </a:r>
            <a:r>
              <a:rPr lang="en-US" sz="2000" b="0" i="0" dirty="0" err="1">
                <a:solidFill>
                  <a:srgbClr val="000000"/>
                </a:solidFill>
                <a:effectLst/>
                <a:latin typeface="Poppins" panose="00000500000000000000" pitchFamily="2" charset="0"/>
              </a:rPr>
              <a:t>MyEmployee</a:t>
            </a:r>
            <a:r>
              <a:rPr lang="en-US" sz="2000" b="0" i="0" dirty="0">
                <a:solidFill>
                  <a:srgbClr val="000000"/>
                </a:solidFill>
                <a:effectLst/>
                <a:latin typeface="Poppins" panose="00000500000000000000" pitchFamily="2" charset="0"/>
              </a:rPr>
              <a:t>, </a:t>
            </a:r>
            <a:r>
              <a:rPr lang="en-US" sz="2000" b="0" i="0" dirty="0" err="1">
                <a:solidFill>
                  <a:srgbClr val="000000"/>
                </a:solidFill>
                <a:effectLst/>
                <a:latin typeface="Poppins" panose="00000500000000000000" pitchFamily="2" charset="0"/>
              </a:rPr>
              <a:t>CodeWithHarry</a:t>
            </a:r>
            <a:endParaRPr lang="en-US" sz="2000" b="0" i="0" dirty="0">
              <a:solidFill>
                <a:srgbClr val="000000"/>
              </a:solidFill>
              <a:effectLst/>
              <a:latin typeface="Poppins" panose="00000500000000000000" pitchFamily="2" charset="0"/>
            </a:endParaRPr>
          </a:p>
          <a:p>
            <a:pPr algn="l">
              <a:buFont typeface="Arial" panose="020B0604020202020204" pitchFamily="34" charset="0"/>
              <a:buChar char="•"/>
            </a:pPr>
            <a:endParaRPr lang="en-US" sz="2000" b="0" i="0" dirty="0">
              <a:solidFill>
                <a:srgbClr val="000000"/>
              </a:solidFill>
              <a:effectLst/>
              <a:latin typeface="Poppins" panose="00000500000000000000" pitchFamily="2" charset="0"/>
            </a:endParaRPr>
          </a:p>
          <a:p>
            <a:pPr algn="l">
              <a:buFont typeface="Arial" panose="020B0604020202020204" pitchFamily="34" charset="0"/>
              <a:buChar char="•"/>
            </a:pPr>
            <a:r>
              <a:rPr lang="en-US" sz="2000" b="0" i="0" dirty="0">
                <a:solidFill>
                  <a:srgbClr val="000000"/>
                </a:solidFill>
                <a:effectLst/>
                <a:latin typeface="Poppins" panose="00000500000000000000" pitchFamily="2" charset="0"/>
              </a:rPr>
              <a:t>For functions and variables, we use </a:t>
            </a:r>
            <a:r>
              <a:rPr lang="en-US" sz="2000" b="0" i="0" dirty="0" err="1">
                <a:solidFill>
                  <a:srgbClr val="000000"/>
                </a:solidFill>
                <a:effectLst/>
                <a:latin typeface="Poppins" panose="00000500000000000000" pitchFamily="2" charset="0"/>
              </a:rPr>
              <a:t>camelCaseConvention</a:t>
            </a:r>
            <a:r>
              <a:rPr lang="en-US" sz="2000" b="0" i="0" dirty="0">
                <a:solidFill>
                  <a:srgbClr val="000000"/>
                </a:solidFill>
                <a:effectLst/>
                <a:latin typeface="Poppins" panose="00000500000000000000" pitchFamily="2" charset="0"/>
              </a:rPr>
              <a:t>. Here the first</a:t>
            </a:r>
          </a:p>
          <a:p>
            <a:pPr algn="l"/>
            <a:r>
              <a:rPr lang="en-US" sz="2000" b="0" i="0" dirty="0">
                <a:solidFill>
                  <a:srgbClr val="000000"/>
                </a:solidFill>
                <a:effectLst/>
                <a:latin typeface="Poppins" panose="00000500000000000000" pitchFamily="2" charset="0"/>
              </a:rPr>
              <a:t> character is lowercase, and the subsequent characters are uppercase like </a:t>
            </a:r>
          </a:p>
          <a:p>
            <a:pPr algn="l"/>
            <a:endParaRPr lang="en-US" sz="2000" dirty="0">
              <a:solidFill>
                <a:srgbClr val="000000"/>
              </a:solidFill>
              <a:latin typeface="Poppins" panose="00000500000000000000" pitchFamily="2" charset="0"/>
            </a:endParaRPr>
          </a:p>
          <a:p>
            <a:pPr algn="l"/>
            <a:r>
              <a:rPr lang="en-US" sz="2000" b="0" i="0" dirty="0">
                <a:solidFill>
                  <a:srgbClr val="000000"/>
                </a:solidFill>
                <a:effectLst/>
                <a:latin typeface="Poppins" panose="00000500000000000000" pitchFamily="2" charset="0"/>
              </a:rPr>
              <a:t>                  Ex: </a:t>
            </a:r>
            <a:r>
              <a:rPr lang="en-US" sz="2000" b="0" i="0" dirty="0" err="1">
                <a:solidFill>
                  <a:srgbClr val="000000"/>
                </a:solidFill>
                <a:effectLst/>
                <a:latin typeface="Poppins" panose="00000500000000000000" pitchFamily="2" charset="0"/>
              </a:rPr>
              <a:t>myScanner</a:t>
            </a:r>
            <a:r>
              <a:rPr lang="en-US" sz="2000" b="0" i="0" dirty="0">
                <a:solidFill>
                  <a:srgbClr val="000000"/>
                </a:solidFill>
                <a:effectLst/>
                <a:latin typeface="Poppins" panose="00000500000000000000" pitchFamily="2" charset="0"/>
              </a:rPr>
              <a:t>, </a:t>
            </a:r>
            <a:r>
              <a:rPr lang="en-US" sz="2000" b="0" i="0" dirty="0" err="1">
                <a:solidFill>
                  <a:srgbClr val="000000"/>
                </a:solidFill>
                <a:effectLst/>
                <a:latin typeface="Poppins" panose="00000500000000000000" pitchFamily="2" charset="0"/>
              </a:rPr>
              <a:t>myMarks</a:t>
            </a:r>
            <a:r>
              <a:rPr lang="en-US" sz="2000" b="0" i="0" dirty="0">
                <a:solidFill>
                  <a:srgbClr val="000000"/>
                </a:solidFill>
                <a:effectLst/>
                <a:latin typeface="Poppins" panose="00000500000000000000" pitchFamily="2" charset="0"/>
              </a:rPr>
              <a:t>, </a:t>
            </a:r>
            <a:r>
              <a:rPr lang="en-US" sz="2000" b="0" i="0" dirty="0" err="1">
                <a:solidFill>
                  <a:srgbClr val="000000"/>
                </a:solidFill>
                <a:effectLst/>
                <a:latin typeface="Poppins" panose="00000500000000000000" pitchFamily="2" charset="0"/>
              </a:rPr>
              <a:t>CodeWithHarry</a:t>
            </a:r>
            <a:endParaRPr lang="en-US" sz="2000" b="0" i="0" dirty="0">
              <a:solidFill>
                <a:srgbClr val="000000"/>
              </a:solidFill>
              <a:effectLst/>
              <a:latin typeface="Poppins" panose="00000500000000000000" pitchFamily="2" charset="0"/>
            </a:endParaRPr>
          </a:p>
        </p:txBody>
      </p:sp>
      <p:sp>
        <p:nvSpPr>
          <p:cNvPr id="5" name="TextBox 4">
            <a:extLst>
              <a:ext uri="{FF2B5EF4-FFF2-40B4-BE49-F238E27FC236}">
                <a16:creationId xmlns:a16="http://schemas.microsoft.com/office/drawing/2014/main" id="{31DE76B8-FBB7-0BCA-E61E-84D1B65F78B9}"/>
              </a:ext>
            </a:extLst>
          </p:cNvPr>
          <p:cNvSpPr txBox="1"/>
          <p:nvPr/>
        </p:nvSpPr>
        <p:spPr>
          <a:xfrm>
            <a:off x="142240" y="1088688"/>
            <a:ext cx="6096000" cy="584775"/>
          </a:xfrm>
          <a:prstGeom prst="rect">
            <a:avLst/>
          </a:prstGeom>
          <a:noFill/>
        </p:spPr>
        <p:txBody>
          <a:bodyPr wrap="square">
            <a:spAutoFit/>
          </a:bodyPr>
          <a:lstStyle/>
          <a:p>
            <a:pPr algn="l"/>
            <a:r>
              <a:rPr lang="en-US" sz="3200" b="1" i="0" dirty="0">
                <a:solidFill>
                  <a:schemeClr val="bg1"/>
                </a:solidFill>
                <a:effectLst/>
                <a:latin typeface="Poppins" panose="00000500000000000000" pitchFamily="2" charset="0"/>
              </a:rPr>
              <a:t>Naming Conventions</a:t>
            </a:r>
          </a:p>
        </p:txBody>
      </p:sp>
    </p:spTree>
    <p:extLst>
      <p:ext uri="{BB962C8B-B14F-4D97-AF65-F5344CB8AC3E}">
        <p14:creationId xmlns:p14="http://schemas.microsoft.com/office/powerpoint/2010/main" val="4116517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94B81C-59A9-60B6-CAC7-E49732971CA2}"/>
              </a:ext>
            </a:extLst>
          </p:cNvPr>
          <p:cNvSpPr txBox="1"/>
          <p:nvPr/>
        </p:nvSpPr>
        <p:spPr>
          <a:xfrm>
            <a:off x="254000" y="734814"/>
            <a:ext cx="6329680" cy="646331"/>
          </a:xfrm>
          <a:prstGeom prst="rect">
            <a:avLst/>
          </a:prstGeom>
          <a:noFill/>
        </p:spPr>
        <p:txBody>
          <a:bodyPr wrap="square">
            <a:spAutoFit/>
          </a:bodyPr>
          <a:lstStyle/>
          <a:p>
            <a:pPr algn="l"/>
            <a:r>
              <a:rPr lang="en-IN" b="1" i="0" dirty="0">
                <a:solidFill>
                  <a:srgbClr val="000000"/>
                </a:solidFill>
                <a:effectLst/>
                <a:latin typeface="Poppins" panose="00000500000000000000" pitchFamily="2" charset="0"/>
              </a:rPr>
              <a:t> </a:t>
            </a:r>
            <a:r>
              <a:rPr lang="en-IN" sz="3600" b="1" i="0" dirty="0">
                <a:solidFill>
                  <a:srgbClr val="000000"/>
                </a:solidFill>
                <a:effectLst/>
                <a:latin typeface="Poppins" panose="00000500000000000000" pitchFamily="2" charset="0"/>
              </a:rPr>
              <a:t>Variables</a:t>
            </a:r>
          </a:p>
        </p:txBody>
      </p:sp>
      <p:sp>
        <p:nvSpPr>
          <p:cNvPr id="5" name="TextBox 4">
            <a:extLst>
              <a:ext uri="{FF2B5EF4-FFF2-40B4-BE49-F238E27FC236}">
                <a16:creationId xmlns:a16="http://schemas.microsoft.com/office/drawing/2014/main" id="{7CC3F3BD-0EDA-D232-9FFE-3777124ADE27}"/>
              </a:ext>
            </a:extLst>
          </p:cNvPr>
          <p:cNvSpPr txBox="1"/>
          <p:nvPr/>
        </p:nvSpPr>
        <p:spPr>
          <a:xfrm>
            <a:off x="0" y="1533465"/>
            <a:ext cx="11704320" cy="5324535"/>
          </a:xfrm>
          <a:prstGeom prst="rect">
            <a:avLst/>
          </a:prstGeom>
          <a:noFill/>
        </p:spPr>
        <p:txBody>
          <a:bodyPr wrap="square">
            <a:spAutoFit/>
          </a:bodyPr>
          <a:lstStyle/>
          <a:p>
            <a:pPr algn="just"/>
            <a:r>
              <a:rPr lang="en-US" sz="2000" b="0" i="0" dirty="0">
                <a:solidFill>
                  <a:srgbClr val="000000"/>
                </a:solidFill>
                <a:effectLst/>
                <a:latin typeface="Poppins" panose="00000500000000000000" pitchFamily="2" charset="0"/>
              </a:rPr>
              <a:t>     just like we have some rules that we follow to speak English (the grammar),</a:t>
            </a:r>
          </a:p>
          <a:p>
            <a:pPr algn="just"/>
            <a:r>
              <a:rPr lang="en-US" sz="2000" b="0" i="0" dirty="0">
                <a:solidFill>
                  <a:srgbClr val="000000"/>
                </a:solidFill>
                <a:effectLst/>
                <a:latin typeface="Poppins" panose="00000500000000000000" pitchFamily="2" charset="0"/>
              </a:rPr>
              <a:t> we have some rules to follow while writing a Java program. This set of these rules</a:t>
            </a:r>
          </a:p>
          <a:p>
            <a:pPr algn="just"/>
            <a:r>
              <a:rPr lang="en-US" sz="2000" b="0" i="0" dirty="0">
                <a:solidFill>
                  <a:srgbClr val="000000"/>
                </a:solidFill>
                <a:effectLst/>
                <a:latin typeface="Poppins" panose="00000500000000000000" pitchFamily="2" charset="0"/>
              </a:rPr>
              <a:t> is called syntax. It’s like Vocabulary and Grammar of Java.</a:t>
            </a:r>
          </a:p>
          <a:p>
            <a:pPr algn="just"/>
            <a:endParaRPr lang="en-US" sz="2000" b="0" i="0" dirty="0">
              <a:solidFill>
                <a:srgbClr val="000000"/>
              </a:solidFill>
              <a:effectLst/>
              <a:latin typeface="Poppins" panose="00000500000000000000" pitchFamily="2" charset="0"/>
            </a:endParaRPr>
          </a:p>
          <a:p>
            <a:pPr algn="l"/>
            <a:r>
              <a:rPr lang="en-US" sz="2000" b="1" i="0" dirty="0">
                <a:solidFill>
                  <a:schemeClr val="bg1"/>
                </a:solidFill>
                <a:effectLst/>
                <a:latin typeface="Poppins" panose="00000500000000000000" pitchFamily="2" charset="0"/>
              </a:rPr>
              <a:t>Variables</a:t>
            </a:r>
          </a:p>
          <a:p>
            <a:pPr algn="l">
              <a:buFont typeface="Arial" panose="020B0604020202020204" pitchFamily="34" charset="0"/>
              <a:buChar char="•"/>
            </a:pPr>
            <a:r>
              <a:rPr lang="en-US" sz="2000" b="0" i="0" dirty="0">
                <a:solidFill>
                  <a:srgbClr val="000000"/>
                </a:solidFill>
                <a:effectLst/>
                <a:latin typeface="Poppins" panose="00000500000000000000" pitchFamily="2" charset="0"/>
              </a:rPr>
              <a:t>A variable is a container that stores a value.</a:t>
            </a:r>
          </a:p>
          <a:p>
            <a:pPr algn="l">
              <a:buFont typeface="Arial" panose="020B0604020202020204" pitchFamily="34" charset="0"/>
              <a:buChar char="•"/>
            </a:pPr>
            <a:r>
              <a:rPr lang="en-US" sz="2000" b="0" i="0" dirty="0">
                <a:solidFill>
                  <a:srgbClr val="000000"/>
                </a:solidFill>
                <a:effectLst/>
                <a:latin typeface="Poppins" panose="00000500000000000000" pitchFamily="2" charset="0"/>
              </a:rPr>
              <a:t>This value can be changed during the execution of the program.</a:t>
            </a:r>
          </a:p>
          <a:p>
            <a:pPr algn="l">
              <a:buFont typeface="Arial" panose="020B0604020202020204" pitchFamily="34" charset="0"/>
              <a:buChar char="•"/>
            </a:pPr>
            <a:r>
              <a:rPr lang="en-US" sz="2000" b="0" i="0" dirty="0">
                <a:solidFill>
                  <a:srgbClr val="000000"/>
                </a:solidFill>
                <a:effectLst/>
                <a:latin typeface="Poppins" panose="00000500000000000000" pitchFamily="2" charset="0"/>
              </a:rPr>
              <a:t>Example: int number = 8; (Here, int is a data type, the number is the variable name, and 8 is the value it contains/stores).</a:t>
            </a:r>
          </a:p>
          <a:p>
            <a:pPr algn="l">
              <a:buFont typeface="Arial" panose="020B0604020202020204" pitchFamily="34" charset="0"/>
              <a:buChar char="•"/>
            </a:pPr>
            <a:endParaRPr lang="en-US" sz="2000" b="0" i="0" dirty="0">
              <a:solidFill>
                <a:srgbClr val="000000"/>
              </a:solidFill>
              <a:effectLst/>
              <a:latin typeface="Poppins" panose="00000500000000000000" pitchFamily="2" charset="0"/>
            </a:endParaRPr>
          </a:p>
          <a:p>
            <a:pPr algn="l"/>
            <a:r>
              <a:rPr lang="en-US" sz="2000" b="1" i="0" dirty="0">
                <a:solidFill>
                  <a:schemeClr val="bg1"/>
                </a:solidFill>
                <a:effectLst/>
                <a:latin typeface="Poppins" panose="00000500000000000000" pitchFamily="2" charset="0"/>
              </a:rPr>
              <a:t>Rules for declaring a variable name</a:t>
            </a:r>
          </a:p>
          <a:p>
            <a:pPr algn="l"/>
            <a:r>
              <a:rPr lang="en-US" sz="2000" b="0" i="0" dirty="0">
                <a:solidFill>
                  <a:srgbClr val="000000"/>
                </a:solidFill>
                <a:effectLst/>
                <a:latin typeface="Poppins" panose="00000500000000000000" pitchFamily="2" charset="0"/>
              </a:rPr>
              <a:t>We can choose a name while declaring a Java variable if the following rules are followed:</a:t>
            </a:r>
          </a:p>
          <a:p>
            <a:pPr algn="l">
              <a:buFont typeface="Arial" panose="020B0604020202020204" pitchFamily="34" charset="0"/>
              <a:buChar char="•"/>
            </a:pPr>
            <a:r>
              <a:rPr lang="en-US" sz="2000" b="0" i="0" dirty="0">
                <a:solidFill>
                  <a:srgbClr val="000000"/>
                </a:solidFill>
                <a:effectLst/>
                <a:latin typeface="Poppins" panose="00000500000000000000" pitchFamily="2" charset="0"/>
              </a:rPr>
              <a:t>Must not begin with a digit. (E.g., 1arry is an invalid variable)</a:t>
            </a:r>
          </a:p>
          <a:p>
            <a:pPr algn="l">
              <a:buFont typeface="Arial" panose="020B0604020202020204" pitchFamily="34" charset="0"/>
              <a:buChar char="•"/>
            </a:pPr>
            <a:r>
              <a:rPr lang="en-US" sz="2000" b="0" i="0" dirty="0">
                <a:solidFill>
                  <a:srgbClr val="000000"/>
                </a:solidFill>
                <a:effectLst/>
                <a:latin typeface="Poppins" panose="00000500000000000000" pitchFamily="2" charset="0"/>
              </a:rPr>
              <a:t>Name is case sensitive. (Harry and harry are different)</a:t>
            </a:r>
          </a:p>
          <a:p>
            <a:pPr algn="l">
              <a:buFont typeface="Arial" panose="020B0604020202020204" pitchFamily="34" charset="0"/>
              <a:buChar char="•"/>
            </a:pPr>
            <a:r>
              <a:rPr lang="en-US" sz="2000" b="0" i="0" dirty="0">
                <a:solidFill>
                  <a:srgbClr val="000000"/>
                </a:solidFill>
                <a:effectLst/>
                <a:latin typeface="Poppins" panose="00000500000000000000" pitchFamily="2" charset="0"/>
              </a:rPr>
              <a:t>Should not be a keyword (like Void).</a:t>
            </a:r>
          </a:p>
          <a:p>
            <a:pPr algn="l">
              <a:buFont typeface="Arial" panose="020B0604020202020204" pitchFamily="34" charset="0"/>
              <a:buChar char="•"/>
            </a:pPr>
            <a:r>
              <a:rPr lang="en-US" sz="2000" b="0" i="0" dirty="0">
                <a:solidFill>
                  <a:srgbClr val="000000"/>
                </a:solidFill>
                <a:effectLst/>
                <a:latin typeface="Poppins" panose="00000500000000000000" pitchFamily="2" charset="0"/>
              </a:rPr>
              <a:t>White space is not allowed. (int Code With Harry is invalid)</a:t>
            </a:r>
          </a:p>
          <a:p>
            <a:pPr algn="l">
              <a:buFont typeface="Arial" panose="020B0604020202020204" pitchFamily="34" charset="0"/>
              <a:buChar char="•"/>
            </a:pPr>
            <a:r>
              <a:rPr lang="en-US" sz="2000" b="0" i="0" dirty="0">
                <a:solidFill>
                  <a:srgbClr val="000000"/>
                </a:solidFill>
                <a:effectLst/>
                <a:latin typeface="Poppins" panose="00000500000000000000" pitchFamily="2" charset="0"/>
              </a:rPr>
              <a:t>Can contain alphabets, $character, _character, and digits if the other conditions are met.</a:t>
            </a:r>
          </a:p>
        </p:txBody>
      </p:sp>
    </p:spTree>
    <p:extLst>
      <p:ext uri="{BB962C8B-B14F-4D97-AF65-F5344CB8AC3E}">
        <p14:creationId xmlns:p14="http://schemas.microsoft.com/office/powerpoint/2010/main" val="40853805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5874A443-AD9A-4B27-D9C0-9FC418CE8D83}"/>
              </a:ext>
            </a:extLst>
          </p:cNvPr>
          <p:cNvSpPr>
            <a:spLocks noChangeArrowheads="1"/>
          </p:cNvSpPr>
          <p:nvPr/>
        </p:nvSpPr>
        <p:spPr bwMode="auto">
          <a:xfrm>
            <a:off x="177800" y="752933"/>
            <a:ext cx="11836400" cy="2327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220" tIns="95220"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Poppins" panose="00000500000000000000" pitchFamily="2" charset="0"/>
              </a:rPr>
              <a:t>Data types in Java fall under the following categories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Poppins" panose="00000500000000000000" pitchFamily="2" charset="0"/>
              </a:rPr>
              <a:t>Primitive Data Types (Intrinsic)</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000000"/>
                </a:solidFill>
                <a:effectLst/>
                <a:latin typeface="Poppins" panose="00000500000000000000" pitchFamily="2" charset="0"/>
              </a:rPr>
              <a:t>Non-Primitive Data Types (Derived)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bg1"/>
                </a:solidFill>
                <a:effectLst/>
                <a:latin typeface="Poppins" panose="00000500000000000000" pitchFamily="2" charset="0"/>
              </a:rPr>
              <a:t>Primitive Data Types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Poppins" panose="00000500000000000000" pitchFamily="2" charset="0"/>
              </a:rPr>
              <a:t>Java is statically typed, i.e., variables must be declared before use. Java supports 8 primitive data types:</a:t>
            </a:r>
            <a:endParaRPr kumimoji="0" lang="en-US" altLang="en-US" sz="2000" b="0" i="0" u="none" strike="noStrike" cap="none" normalizeH="0" baseline="0" dirty="0">
              <a:ln>
                <a:noFill/>
              </a:ln>
              <a:solidFill>
                <a:schemeClr val="tx1"/>
              </a:solidFill>
              <a:effectLst/>
            </a:endParaRPr>
          </a:p>
        </p:txBody>
      </p:sp>
      <p:sp>
        <p:nvSpPr>
          <p:cNvPr id="5" name="TextBox 4">
            <a:extLst>
              <a:ext uri="{FF2B5EF4-FFF2-40B4-BE49-F238E27FC236}">
                <a16:creationId xmlns:a16="http://schemas.microsoft.com/office/drawing/2014/main" id="{B1747A2B-6E09-B785-A3B2-1124AD8D9C12}"/>
              </a:ext>
            </a:extLst>
          </p:cNvPr>
          <p:cNvSpPr txBox="1"/>
          <p:nvPr/>
        </p:nvSpPr>
        <p:spPr>
          <a:xfrm>
            <a:off x="0" y="0"/>
            <a:ext cx="6131560"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Poppins" panose="00000500000000000000" pitchFamily="2" charset="0"/>
              </a:rPr>
              <a:t>Data Types</a:t>
            </a:r>
          </a:p>
        </p:txBody>
      </p:sp>
      <p:graphicFrame>
        <p:nvGraphicFramePr>
          <p:cNvPr id="6" name="Table 5">
            <a:extLst>
              <a:ext uri="{FF2B5EF4-FFF2-40B4-BE49-F238E27FC236}">
                <a16:creationId xmlns:a16="http://schemas.microsoft.com/office/drawing/2014/main" id="{BB73C17C-51D3-9531-B205-DB5C2907A8A8}"/>
              </a:ext>
            </a:extLst>
          </p:cNvPr>
          <p:cNvGraphicFramePr>
            <a:graphicFrameLocks noGrp="1"/>
          </p:cNvGraphicFramePr>
          <p:nvPr>
            <p:extLst>
              <p:ext uri="{D42A27DB-BD31-4B8C-83A1-F6EECF244321}">
                <p14:modId xmlns:p14="http://schemas.microsoft.com/office/powerpoint/2010/main" val="491325271"/>
              </p:ext>
            </p:extLst>
          </p:nvPr>
        </p:nvGraphicFramePr>
        <p:xfrm>
          <a:off x="3251200" y="2856918"/>
          <a:ext cx="5415280" cy="3747773"/>
        </p:xfrm>
        <a:graphic>
          <a:graphicData uri="http://schemas.openxmlformats.org/drawingml/2006/table">
            <a:tbl>
              <a:tblPr>
                <a:tableStyleId>{284E427A-3D55-4303-BF80-6455036E1DE7}</a:tableStyleId>
              </a:tblPr>
              <a:tblGrid>
                <a:gridCol w="1414624">
                  <a:extLst>
                    <a:ext uri="{9D8B030D-6E8A-4147-A177-3AD203B41FA5}">
                      <a16:colId xmlns:a16="http://schemas.microsoft.com/office/drawing/2014/main" val="4023285030"/>
                    </a:ext>
                  </a:extLst>
                </a:gridCol>
                <a:gridCol w="1379376">
                  <a:extLst>
                    <a:ext uri="{9D8B030D-6E8A-4147-A177-3AD203B41FA5}">
                      <a16:colId xmlns:a16="http://schemas.microsoft.com/office/drawing/2014/main" val="1033769367"/>
                    </a:ext>
                  </a:extLst>
                </a:gridCol>
                <a:gridCol w="2621280">
                  <a:extLst>
                    <a:ext uri="{9D8B030D-6E8A-4147-A177-3AD203B41FA5}">
                      <a16:colId xmlns:a16="http://schemas.microsoft.com/office/drawing/2014/main" val="2290964557"/>
                    </a:ext>
                  </a:extLst>
                </a:gridCol>
              </a:tblGrid>
              <a:tr h="365546">
                <a:tc>
                  <a:txBody>
                    <a:bodyPr/>
                    <a:lstStyle/>
                    <a:p>
                      <a:pPr algn="ctr"/>
                      <a:r>
                        <a:rPr lang="en-IN" sz="1200" b="1" dirty="0">
                          <a:effectLst/>
                        </a:rPr>
                        <a:t>Data Type</a:t>
                      </a:r>
                      <a:endParaRPr lang="en-IN" sz="1200" dirty="0">
                        <a:effectLst/>
                      </a:endParaRPr>
                    </a:p>
                  </a:txBody>
                  <a:tcPr marL="46139" marR="46139" marT="23070" marB="23070" anchor="ctr"/>
                </a:tc>
                <a:tc>
                  <a:txBody>
                    <a:bodyPr/>
                    <a:lstStyle/>
                    <a:p>
                      <a:pPr algn="ctr"/>
                      <a:r>
                        <a:rPr lang="en-IN" sz="1200" b="1">
                          <a:effectLst/>
                        </a:rPr>
                        <a:t>Size</a:t>
                      </a:r>
                      <a:endParaRPr lang="en-IN" sz="1200">
                        <a:effectLst/>
                      </a:endParaRPr>
                    </a:p>
                  </a:txBody>
                  <a:tcPr marL="46139" marR="46139" marT="23070" marB="23070" anchor="ctr"/>
                </a:tc>
                <a:tc>
                  <a:txBody>
                    <a:bodyPr/>
                    <a:lstStyle/>
                    <a:p>
                      <a:pPr algn="ctr"/>
                      <a:r>
                        <a:rPr lang="en-IN" sz="1200" b="1">
                          <a:effectLst/>
                        </a:rPr>
                        <a:t>Value Range</a:t>
                      </a:r>
                      <a:endParaRPr lang="en-IN" sz="1200">
                        <a:effectLst/>
                      </a:endParaRPr>
                    </a:p>
                  </a:txBody>
                  <a:tcPr marL="46139" marR="46139" marT="23070" marB="23070" anchor="ctr"/>
                </a:tc>
                <a:extLst>
                  <a:ext uri="{0D108BD9-81ED-4DB2-BD59-A6C34878D82A}">
                    <a16:rowId xmlns:a16="http://schemas.microsoft.com/office/drawing/2014/main" val="2017869325"/>
                  </a:ext>
                </a:extLst>
              </a:tr>
              <a:tr h="208883">
                <a:tc>
                  <a:txBody>
                    <a:bodyPr/>
                    <a:lstStyle/>
                    <a:p>
                      <a:pPr algn="ctr"/>
                      <a:r>
                        <a:rPr lang="en-IN" sz="1200" dirty="0">
                          <a:effectLst/>
                        </a:rPr>
                        <a:t>1. Byte</a:t>
                      </a:r>
                    </a:p>
                  </a:txBody>
                  <a:tcPr marL="46139" marR="46139" marT="23070" marB="23070" anchor="ctr"/>
                </a:tc>
                <a:tc>
                  <a:txBody>
                    <a:bodyPr/>
                    <a:lstStyle/>
                    <a:p>
                      <a:r>
                        <a:rPr lang="en-IN" sz="1200">
                          <a:effectLst/>
                        </a:rPr>
                        <a:t>1 byte</a:t>
                      </a:r>
                    </a:p>
                  </a:txBody>
                  <a:tcPr marL="46139" marR="46139" marT="23070" marB="23070" anchor="ctr"/>
                </a:tc>
                <a:tc>
                  <a:txBody>
                    <a:bodyPr/>
                    <a:lstStyle/>
                    <a:p>
                      <a:r>
                        <a:rPr lang="en-IN" sz="1200">
                          <a:effectLst/>
                        </a:rPr>
                        <a:t>-128 to 127</a:t>
                      </a:r>
                    </a:p>
                  </a:txBody>
                  <a:tcPr marL="46139" marR="46139" marT="23070" marB="23070" anchor="ctr"/>
                </a:tc>
                <a:extLst>
                  <a:ext uri="{0D108BD9-81ED-4DB2-BD59-A6C34878D82A}">
                    <a16:rowId xmlns:a16="http://schemas.microsoft.com/office/drawing/2014/main" val="2419837443"/>
                  </a:ext>
                </a:extLst>
              </a:tr>
              <a:tr h="208883">
                <a:tc>
                  <a:txBody>
                    <a:bodyPr/>
                    <a:lstStyle/>
                    <a:p>
                      <a:pPr algn="ctr"/>
                      <a:r>
                        <a:rPr lang="en-IN" sz="1200" dirty="0">
                          <a:effectLst/>
                        </a:rPr>
                        <a:t>2. short</a:t>
                      </a:r>
                    </a:p>
                  </a:txBody>
                  <a:tcPr marL="46139" marR="46139" marT="23070" marB="23070" anchor="ctr"/>
                </a:tc>
                <a:tc>
                  <a:txBody>
                    <a:bodyPr/>
                    <a:lstStyle/>
                    <a:p>
                      <a:r>
                        <a:rPr lang="en-IN" sz="1200">
                          <a:effectLst/>
                        </a:rPr>
                        <a:t>1 byte</a:t>
                      </a:r>
                    </a:p>
                  </a:txBody>
                  <a:tcPr marL="46139" marR="46139" marT="23070" marB="23070" anchor="ctr"/>
                </a:tc>
                <a:tc>
                  <a:txBody>
                    <a:bodyPr/>
                    <a:lstStyle/>
                    <a:p>
                      <a:r>
                        <a:rPr lang="en-IN" sz="1200">
                          <a:effectLst/>
                        </a:rPr>
                        <a:t>-32,768 to 32,767</a:t>
                      </a:r>
                    </a:p>
                  </a:txBody>
                  <a:tcPr marL="46139" marR="46139" marT="23070" marB="23070" anchor="ctr"/>
                </a:tc>
                <a:extLst>
                  <a:ext uri="{0D108BD9-81ED-4DB2-BD59-A6C34878D82A}">
                    <a16:rowId xmlns:a16="http://schemas.microsoft.com/office/drawing/2014/main" val="4218949487"/>
                  </a:ext>
                </a:extLst>
              </a:tr>
              <a:tr h="365546">
                <a:tc>
                  <a:txBody>
                    <a:bodyPr/>
                    <a:lstStyle/>
                    <a:p>
                      <a:pPr algn="ctr"/>
                      <a:r>
                        <a:rPr lang="en-IN" sz="1200" dirty="0">
                          <a:effectLst/>
                        </a:rPr>
                        <a:t>3. int</a:t>
                      </a:r>
                    </a:p>
                  </a:txBody>
                  <a:tcPr marL="46139" marR="46139" marT="23070" marB="23070" anchor="ctr"/>
                </a:tc>
                <a:tc>
                  <a:txBody>
                    <a:bodyPr/>
                    <a:lstStyle/>
                    <a:p>
                      <a:r>
                        <a:rPr lang="en-IN" sz="1200">
                          <a:effectLst/>
                        </a:rPr>
                        <a:t>2 byte</a:t>
                      </a:r>
                    </a:p>
                  </a:txBody>
                  <a:tcPr marL="46139" marR="46139" marT="23070" marB="23070" anchor="ctr"/>
                </a:tc>
                <a:tc>
                  <a:txBody>
                    <a:bodyPr/>
                    <a:lstStyle/>
                    <a:p>
                      <a:r>
                        <a:rPr lang="en-IN" sz="1200">
                          <a:effectLst/>
                        </a:rPr>
                        <a:t>-2,147,483,648 to 2,147,483,647</a:t>
                      </a:r>
                    </a:p>
                  </a:txBody>
                  <a:tcPr marL="46139" marR="46139" marT="23070" marB="23070" anchor="ctr"/>
                </a:tc>
                <a:extLst>
                  <a:ext uri="{0D108BD9-81ED-4DB2-BD59-A6C34878D82A}">
                    <a16:rowId xmlns:a16="http://schemas.microsoft.com/office/drawing/2014/main" val="1076321547"/>
                  </a:ext>
                </a:extLst>
              </a:tr>
              <a:tr h="678870">
                <a:tc>
                  <a:txBody>
                    <a:bodyPr/>
                    <a:lstStyle/>
                    <a:p>
                      <a:pPr algn="ctr"/>
                      <a:r>
                        <a:rPr lang="en-IN" sz="1200">
                          <a:effectLst/>
                        </a:rPr>
                        <a:t>4. float</a:t>
                      </a:r>
                    </a:p>
                  </a:txBody>
                  <a:tcPr marL="46139" marR="46139" marT="23070" marB="23070" anchor="ctr"/>
                </a:tc>
                <a:tc>
                  <a:txBody>
                    <a:bodyPr/>
                    <a:lstStyle/>
                    <a:p>
                      <a:r>
                        <a:rPr lang="en-IN" sz="1200" dirty="0">
                          <a:effectLst/>
                        </a:rPr>
                        <a:t>4 byte</a:t>
                      </a:r>
                    </a:p>
                  </a:txBody>
                  <a:tcPr marL="46139" marR="46139" marT="23070" marB="23070" anchor="ctr"/>
                </a:tc>
                <a:tc>
                  <a:txBody>
                    <a:bodyPr/>
                    <a:lstStyle/>
                    <a:p>
                      <a:r>
                        <a:rPr lang="en-IN" sz="1200">
                          <a:effectLst/>
                        </a:rPr>
                        <a:t>3.40282347 x 10</a:t>
                      </a:r>
                      <a:r>
                        <a:rPr lang="en-IN" sz="1200" baseline="30000">
                          <a:effectLst/>
                        </a:rPr>
                        <a:t>38 </a:t>
                      </a:r>
                      <a:r>
                        <a:rPr lang="en-IN" sz="1200">
                          <a:effectLst/>
                        </a:rPr>
                        <a:t>to 1.40239846 x 10</a:t>
                      </a:r>
                      <a:r>
                        <a:rPr lang="en-IN" sz="1200" baseline="30000">
                          <a:effectLst/>
                        </a:rPr>
                        <a:t>-45</a:t>
                      </a:r>
                      <a:endParaRPr lang="en-IN" sz="1200">
                        <a:effectLst/>
                      </a:endParaRPr>
                    </a:p>
                  </a:txBody>
                  <a:tcPr marL="46139" marR="46139" marT="23070" marB="23070" anchor="ctr"/>
                </a:tc>
                <a:extLst>
                  <a:ext uri="{0D108BD9-81ED-4DB2-BD59-A6C34878D82A}">
                    <a16:rowId xmlns:a16="http://schemas.microsoft.com/office/drawing/2014/main" val="3837628815"/>
                  </a:ext>
                </a:extLst>
              </a:tr>
              <a:tr h="835532">
                <a:tc>
                  <a:txBody>
                    <a:bodyPr/>
                    <a:lstStyle/>
                    <a:p>
                      <a:pPr algn="ctr"/>
                      <a:r>
                        <a:rPr lang="en-IN" sz="1200">
                          <a:effectLst/>
                        </a:rPr>
                        <a:t>5. long</a:t>
                      </a:r>
                    </a:p>
                  </a:txBody>
                  <a:tcPr marL="46139" marR="46139" marT="23070" marB="23070" anchor="ctr"/>
                </a:tc>
                <a:tc>
                  <a:txBody>
                    <a:bodyPr/>
                    <a:lstStyle/>
                    <a:p>
                      <a:r>
                        <a:rPr lang="en-IN" sz="1200" dirty="0">
                          <a:effectLst/>
                        </a:rPr>
                        <a:t>8 byte</a:t>
                      </a:r>
                    </a:p>
                  </a:txBody>
                  <a:tcPr marL="46139" marR="46139" marT="23070" marB="23070" anchor="ctr"/>
                </a:tc>
                <a:tc>
                  <a:txBody>
                    <a:bodyPr/>
                    <a:lstStyle/>
                    <a:p>
                      <a:r>
                        <a:rPr lang="en-IN" sz="1200">
                          <a:effectLst/>
                        </a:rPr>
                        <a:t>-9,223,372,036,854,775,808 to 9,223,372,036,854,775,807</a:t>
                      </a:r>
                    </a:p>
                  </a:txBody>
                  <a:tcPr marL="46139" marR="46139" marT="23070" marB="23070" anchor="ctr"/>
                </a:tc>
                <a:extLst>
                  <a:ext uri="{0D108BD9-81ED-4DB2-BD59-A6C34878D82A}">
                    <a16:rowId xmlns:a16="http://schemas.microsoft.com/office/drawing/2014/main" val="3033690010"/>
                  </a:ext>
                </a:extLst>
              </a:tr>
              <a:tr h="586199">
                <a:tc>
                  <a:txBody>
                    <a:bodyPr/>
                    <a:lstStyle/>
                    <a:p>
                      <a:pPr algn="ctr"/>
                      <a:r>
                        <a:rPr lang="en-IN" sz="1200">
                          <a:effectLst/>
                        </a:rPr>
                        <a:t>6. double</a:t>
                      </a:r>
                    </a:p>
                  </a:txBody>
                  <a:tcPr marL="46139" marR="46139" marT="23070" marB="23070" anchor="ctr"/>
                </a:tc>
                <a:tc>
                  <a:txBody>
                    <a:bodyPr/>
                    <a:lstStyle/>
                    <a:p>
                      <a:r>
                        <a:rPr lang="en-IN" sz="1200" dirty="0">
                          <a:effectLst/>
                        </a:rPr>
                        <a:t>8 byte</a:t>
                      </a:r>
                    </a:p>
                  </a:txBody>
                  <a:tcPr marL="46139" marR="46139" marT="23070" marB="23070" anchor="ctr"/>
                </a:tc>
                <a:tc>
                  <a:txBody>
                    <a:bodyPr/>
                    <a:lstStyle/>
                    <a:p>
                      <a:r>
                        <a:rPr lang="en-IN" sz="1200" dirty="0">
                          <a:effectLst/>
                        </a:rPr>
                        <a:t>1.7976931348623157 x 10</a:t>
                      </a:r>
                      <a:r>
                        <a:rPr lang="en-IN" sz="1200" baseline="30000" dirty="0">
                          <a:effectLst/>
                        </a:rPr>
                        <a:t>308</a:t>
                      </a:r>
                      <a:r>
                        <a:rPr lang="en-IN" sz="1200" dirty="0">
                          <a:effectLst/>
                        </a:rPr>
                        <a:t>, 4.9406564584124654 x 10</a:t>
                      </a:r>
                      <a:r>
                        <a:rPr lang="en-IN" sz="1200" baseline="30000" dirty="0">
                          <a:effectLst/>
                        </a:rPr>
                        <a:t>-324</a:t>
                      </a:r>
                      <a:endParaRPr lang="en-IN" sz="1200" dirty="0">
                        <a:effectLst/>
                      </a:endParaRPr>
                    </a:p>
                  </a:txBody>
                  <a:tcPr marL="46139" marR="46139" marT="23070" marB="23070" anchor="ctr"/>
                </a:tc>
                <a:extLst>
                  <a:ext uri="{0D108BD9-81ED-4DB2-BD59-A6C34878D82A}">
                    <a16:rowId xmlns:a16="http://schemas.microsoft.com/office/drawing/2014/main" val="3508211707"/>
                  </a:ext>
                </a:extLst>
              </a:tr>
              <a:tr h="208883">
                <a:tc>
                  <a:txBody>
                    <a:bodyPr/>
                    <a:lstStyle/>
                    <a:p>
                      <a:pPr algn="ctr"/>
                      <a:r>
                        <a:rPr lang="en-IN" sz="1200">
                          <a:effectLst/>
                        </a:rPr>
                        <a:t>7. char</a:t>
                      </a:r>
                    </a:p>
                  </a:txBody>
                  <a:tcPr marL="46139" marR="46139" marT="23070" marB="23070" anchor="ctr"/>
                </a:tc>
                <a:tc>
                  <a:txBody>
                    <a:bodyPr/>
                    <a:lstStyle/>
                    <a:p>
                      <a:r>
                        <a:rPr lang="en-IN" sz="1200">
                          <a:effectLst/>
                        </a:rPr>
                        <a:t>2 byte</a:t>
                      </a:r>
                    </a:p>
                  </a:txBody>
                  <a:tcPr marL="46139" marR="46139" marT="23070" marB="23070" anchor="ctr"/>
                </a:tc>
                <a:tc>
                  <a:txBody>
                    <a:bodyPr/>
                    <a:lstStyle/>
                    <a:p>
                      <a:r>
                        <a:rPr lang="en-IN" sz="1200" dirty="0">
                          <a:effectLst/>
                        </a:rPr>
                        <a:t>0 to 65,535</a:t>
                      </a:r>
                    </a:p>
                  </a:txBody>
                  <a:tcPr marL="46139" marR="46139" marT="23070" marB="23070" anchor="ctr"/>
                </a:tc>
                <a:extLst>
                  <a:ext uri="{0D108BD9-81ED-4DB2-BD59-A6C34878D82A}">
                    <a16:rowId xmlns:a16="http://schemas.microsoft.com/office/drawing/2014/main" val="637593610"/>
                  </a:ext>
                </a:extLst>
              </a:tr>
              <a:tr h="207460">
                <a:tc>
                  <a:txBody>
                    <a:bodyPr/>
                    <a:lstStyle/>
                    <a:p>
                      <a:pPr algn="ctr"/>
                      <a:r>
                        <a:rPr lang="en-IN" sz="1200">
                          <a:effectLst/>
                        </a:rPr>
                        <a:t>8. boolean</a:t>
                      </a:r>
                    </a:p>
                  </a:txBody>
                  <a:tcPr marL="46139" marR="46139" marT="23070" marB="23070" anchor="ctr"/>
                </a:tc>
                <a:tc>
                  <a:txBody>
                    <a:bodyPr/>
                    <a:lstStyle/>
                    <a:p>
                      <a:r>
                        <a:rPr lang="en-IN" sz="1200">
                          <a:effectLst/>
                        </a:rPr>
                        <a:t>Depends on JVM</a:t>
                      </a:r>
                    </a:p>
                  </a:txBody>
                  <a:tcPr marL="46139" marR="46139" marT="23070" marB="23070" anchor="ctr"/>
                </a:tc>
                <a:tc>
                  <a:txBody>
                    <a:bodyPr/>
                    <a:lstStyle/>
                    <a:p>
                      <a:r>
                        <a:rPr lang="en-IN" sz="1200" dirty="0">
                          <a:effectLst/>
                        </a:rPr>
                        <a:t>True or False</a:t>
                      </a:r>
                    </a:p>
                  </a:txBody>
                  <a:tcPr marL="46139" marR="46139" marT="23070" marB="23070" anchor="ctr"/>
                </a:tc>
                <a:extLst>
                  <a:ext uri="{0D108BD9-81ED-4DB2-BD59-A6C34878D82A}">
                    <a16:rowId xmlns:a16="http://schemas.microsoft.com/office/drawing/2014/main" val="3243909946"/>
                  </a:ext>
                </a:extLst>
              </a:tr>
            </a:tbl>
          </a:graphicData>
        </a:graphic>
      </p:graphicFrame>
    </p:spTree>
    <p:extLst>
      <p:ext uri="{BB962C8B-B14F-4D97-AF65-F5344CB8AC3E}">
        <p14:creationId xmlns:p14="http://schemas.microsoft.com/office/powerpoint/2010/main" val="55141521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F2F204-7806-629F-F5C1-752905B8916B}"/>
              </a:ext>
            </a:extLst>
          </p:cNvPr>
          <p:cNvSpPr txBox="1"/>
          <p:nvPr/>
        </p:nvSpPr>
        <p:spPr>
          <a:xfrm>
            <a:off x="-13447" y="0"/>
            <a:ext cx="12218894" cy="1631216"/>
          </a:xfrm>
          <a:prstGeom prst="rect">
            <a:avLst/>
          </a:prstGeom>
          <a:noFill/>
        </p:spPr>
        <p:txBody>
          <a:bodyPr wrap="square">
            <a:spAutoFit/>
          </a:bodyPr>
          <a:lstStyle/>
          <a:p>
            <a:pPr algn="l"/>
            <a:r>
              <a:rPr lang="en-US" sz="2800" b="1" i="0" dirty="0">
                <a:solidFill>
                  <a:schemeClr val="bg1"/>
                </a:solidFill>
                <a:effectLst/>
                <a:latin typeface="Poppins" panose="00000500000000000000" pitchFamily="2" charset="0"/>
              </a:rPr>
              <a:t>How to choose data types for our variables</a:t>
            </a:r>
          </a:p>
          <a:p>
            <a:pPr algn="l"/>
            <a:r>
              <a:rPr lang="en-US" b="0" i="0" dirty="0">
                <a:solidFill>
                  <a:srgbClr val="000000"/>
                </a:solidFill>
                <a:effectLst/>
                <a:latin typeface="Poppins" panose="00000500000000000000" pitchFamily="2" charset="0"/>
              </a:rPr>
              <a:t>In order to choose the data type, we first need to find the type of data we want to store. After</a:t>
            </a:r>
          </a:p>
          <a:p>
            <a:pPr algn="l"/>
            <a:r>
              <a:rPr lang="en-US" b="0" i="0" dirty="0">
                <a:solidFill>
                  <a:srgbClr val="000000"/>
                </a:solidFill>
                <a:effectLst/>
                <a:latin typeface="Poppins" panose="00000500000000000000" pitchFamily="2" charset="0"/>
              </a:rPr>
              <a:t> that, we need to analyze the min &amp; max value we might use.</a:t>
            </a:r>
          </a:p>
          <a:p>
            <a:br>
              <a:rPr lang="en-US" dirty="0"/>
            </a:br>
            <a:endParaRPr lang="en-IN" dirty="0"/>
          </a:p>
        </p:txBody>
      </p:sp>
      <p:pic>
        <p:nvPicPr>
          <p:cNvPr id="1026" name="Picture 2" descr="Image preview">
            <a:extLst>
              <a:ext uri="{FF2B5EF4-FFF2-40B4-BE49-F238E27FC236}">
                <a16:creationId xmlns:a16="http://schemas.microsoft.com/office/drawing/2014/main" id="{63F9F8C9-7A69-F3BD-4449-E343852E4F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29" y="1344200"/>
            <a:ext cx="11582400" cy="533450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621081"/>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4D1273-59F4-E9E8-32B4-804D650256D7}"/>
              </a:ext>
            </a:extLst>
          </p:cNvPr>
          <p:cNvSpPr txBox="1"/>
          <p:nvPr/>
        </p:nvSpPr>
        <p:spPr>
          <a:xfrm>
            <a:off x="1443318" y="2167116"/>
            <a:ext cx="12192000" cy="2523768"/>
          </a:xfrm>
          <a:prstGeom prst="rect">
            <a:avLst/>
          </a:prstGeom>
          <a:noFill/>
        </p:spPr>
        <p:txBody>
          <a:bodyPr wrap="square">
            <a:spAutoFit/>
          </a:bodyPr>
          <a:lstStyle/>
          <a:p>
            <a:pPr algn="l"/>
            <a:endParaRPr lang="en-IN" sz="3200" b="1" i="0" dirty="0">
              <a:solidFill>
                <a:srgbClr val="000000"/>
              </a:solidFill>
              <a:effectLst/>
              <a:latin typeface="Poppins" panose="00000500000000000000" pitchFamily="2" charset="0"/>
            </a:endParaRPr>
          </a:p>
          <a:p>
            <a:pPr algn="l"/>
            <a:r>
              <a:rPr lang="en-IN" b="0" i="0" dirty="0">
                <a:solidFill>
                  <a:srgbClr val="000000"/>
                </a:solidFill>
                <a:effectLst/>
                <a:latin typeface="Poppins" panose="00000500000000000000" pitchFamily="2" charset="0"/>
              </a:rPr>
              <a:t>A constant value that can be assigned to the variable is called a literal.</a:t>
            </a:r>
          </a:p>
          <a:p>
            <a:pPr algn="l">
              <a:buFont typeface="Arial" panose="020B0604020202020204" pitchFamily="34" charset="0"/>
              <a:buChar char="•"/>
            </a:pPr>
            <a:r>
              <a:rPr lang="en-IN" b="0" i="0" dirty="0">
                <a:solidFill>
                  <a:srgbClr val="000000"/>
                </a:solidFill>
                <a:effectLst/>
                <a:latin typeface="Poppins" panose="00000500000000000000" pitchFamily="2" charset="0"/>
              </a:rPr>
              <a:t>101 – Integer literal</a:t>
            </a:r>
          </a:p>
          <a:p>
            <a:pPr algn="l">
              <a:buFont typeface="Arial" panose="020B0604020202020204" pitchFamily="34" charset="0"/>
              <a:buChar char="•"/>
            </a:pPr>
            <a:r>
              <a:rPr lang="en-IN" b="0" i="0" dirty="0">
                <a:solidFill>
                  <a:srgbClr val="000000"/>
                </a:solidFill>
                <a:effectLst/>
                <a:latin typeface="Poppins" panose="00000500000000000000" pitchFamily="2" charset="0"/>
              </a:rPr>
              <a:t>10.1f – float literal</a:t>
            </a:r>
          </a:p>
          <a:p>
            <a:pPr algn="l">
              <a:buFont typeface="Arial" panose="020B0604020202020204" pitchFamily="34" charset="0"/>
              <a:buChar char="•"/>
            </a:pPr>
            <a:r>
              <a:rPr lang="en-IN" b="0" i="0" dirty="0">
                <a:solidFill>
                  <a:srgbClr val="000000"/>
                </a:solidFill>
                <a:effectLst/>
                <a:latin typeface="Poppins" panose="00000500000000000000" pitchFamily="2" charset="0"/>
              </a:rPr>
              <a:t>10.1 – double literal (default type for decimals)</a:t>
            </a:r>
          </a:p>
          <a:p>
            <a:pPr algn="l">
              <a:buFont typeface="Arial" panose="020B0604020202020204" pitchFamily="34" charset="0"/>
              <a:buChar char="•"/>
            </a:pPr>
            <a:r>
              <a:rPr lang="en-IN" b="0" i="0" dirty="0">
                <a:solidFill>
                  <a:srgbClr val="000000"/>
                </a:solidFill>
                <a:effectLst/>
                <a:latin typeface="Poppins" panose="00000500000000000000" pitchFamily="2" charset="0"/>
              </a:rPr>
              <a:t>‘A’ – character literal</a:t>
            </a:r>
          </a:p>
          <a:p>
            <a:pPr algn="l">
              <a:buFont typeface="Arial" panose="020B0604020202020204" pitchFamily="34" charset="0"/>
              <a:buChar char="•"/>
            </a:pPr>
            <a:r>
              <a:rPr lang="en-IN" b="0" i="0" dirty="0">
                <a:solidFill>
                  <a:srgbClr val="000000"/>
                </a:solidFill>
                <a:effectLst/>
                <a:latin typeface="Poppins" panose="00000500000000000000" pitchFamily="2" charset="0"/>
              </a:rPr>
              <a:t>true – Boolean literal</a:t>
            </a:r>
          </a:p>
          <a:p>
            <a:pPr algn="l">
              <a:buFont typeface="Arial" panose="020B0604020202020204" pitchFamily="34" charset="0"/>
              <a:buChar char="•"/>
            </a:pPr>
            <a:r>
              <a:rPr lang="en-IN" b="0" i="0" dirty="0">
                <a:solidFill>
                  <a:srgbClr val="000000"/>
                </a:solidFill>
                <a:effectLst/>
                <a:latin typeface="Poppins" panose="00000500000000000000" pitchFamily="2" charset="0"/>
              </a:rPr>
              <a:t>“Harry” – String literal</a:t>
            </a:r>
          </a:p>
        </p:txBody>
      </p:sp>
      <p:sp>
        <p:nvSpPr>
          <p:cNvPr id="7" name="TextBox 6">
            <a:extLst>
              <a:ext uri="{FF2B5EF4-FFF2-40B4-BE49-F238E27FC236}">
                <a16:creationId xmlns:a16="http://schemas.microsoft.com/office/drawing/2014/main" id="{62D8E096-76FA-EA2C-2D16-922D3DFA8AF5}"/>
              </a:ext>
            </a:extLst>
          </p:cNvPr>
          <p:cNvSpPr txBox="1"/>
          <p:nvPr/>
        </p:nvSpPr>
        <p:spPr>
          <a:xfrm>
            <a:off x="721660" y="1321859"/>
            <a:ext cx="6817658" cy="1077218"/>
          </a:xfrm>
          <a:prstGeom prst="rect">
            <a:avLst/>
          </a:prstGeom>
          <a:noFill/>
        </p:spPr>
        <p:txBody>
          <a:bodyPr wrap="square">
            <a:spAutoFit/>
          </a:bodyPr>
          <a:lstStyle/>
          <a:p>
            <a:pPr algn="l"/>
            <a:r>
              <a:rPr lang="en-IN" sz="3200" b="1" i="0" dirty="0">
                <a:solidFill>
                  <a:srgbClr val="000000"/>
                </a:solidFill>
                <a:effectLst/>
                <a:latin typeface="Poppins" panose="00000500000000000000" pitchFamily="2" charset="0"/>
              </a:rPr>
              <a:t>Java Tutorial: Literals in Java</a:t>
            </a:r>
          </a:p>
          <a:p>
            <a:pPr algn="l"/>
            <a:r>
              <a:rPr lang="en-IN" sz="3200" b="1" i="0" dirty="0">
                <a:solidFill>
                  <a:srgbClr val="000000"/>
                </a:solidFill>
                <a:effectLst/>
                <a:latin typeface="Poppins" panose="00000500000000000000" pitchFamily="2" charset="0"/>
              </a:rPr>
              <a:t>Literals</a:t>
            </a:r>
          </a:p>
        </p:txBody>
      </p:sp>
    </p:spTree>
    <p:extLst>
      <p:ext uri="{BB962C8B-B14F-4D97-AF65-F5344CB8AC3E}">
        <p14:creationId xmlns:p14="http://schemas.microsoft.com/office/powerpoint/2010/main" val="30724787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A629DE-DD3B-C238-A4B3-EF7DEEC4EE39}"/>
              </a:ext>
            </a:extLst>
          </p:cNvPr>
          <p:cNvSpPr txBox="1"/>
          <p:nvPr/>
        </p:nvSpPr>
        <p:spPr>
          <a:xfrm>
            <a:off x="0" y="4482"/>
            <a:ext cx="12192000" cy="563231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a:t>
            </a:r>
            <a:r>
              <a:rPr lang="en-IN" dirty="0">
                <a:solidFill>
                  <a:schemeClr val="tx1"/>
                </a:solidFill>
              </a:rPr>
              <a:t> </a:t>
            </a:r>
            <a:r>
              <a:rPr lang="en-IN" sz="1800" b="1" i="0" dirty="0">
                <a:solidFill>
                  <a:srgbClr val="FF0000"/>
                </a:solidFill>
                <a:effectLst/>
                <a:latin typeface="Poppins" panose="00000500000000000000" pitchFamily="2" charset="0"/>
              </a:rPr>
              <a:t>Literals</a:t>
            </a:r>
          </a:p>
          <a:p>
            <a:r>
              <a:rPr lang="en-IN" dirty="0"/>
              <a:t>package </a:t>
            </a:r>
            <a:r>
              <a:rPr lang="en-IN" dirty="0" err="1"/>
              <a:t>com.company</a:t>
            </a:r>
            <a:r>
              <a:rPr lang="en-IN" dirty="0"/>
              <a:t>;</a:t>
            </a:r>
          </a:p>
          <a:p>
            <a:endParaRPr lang="en-IN" dirty="0"/>
          </a:p>
          <a:p>
            <a:r>
              <a:rPr lang="en-IN" dirty="0"/>
              <a:t>public class CWH_04_literals {</a:t>
            </a:r>
          </a:p>
          <a:p>
            <a:r>
              <a:rPr lang="en-IN" dirty="0"/>
              <a:t>    public static void main(String[] </a:t>
            </a:r>
            <a:r>
              <a:rPr lang="en-IN" dirty="0" err="1"/>
              <a:t>args</a:t>
            </a:r>
            <a:r>
              <a:rPr lang="en-IN" dirty="0"/>
              <a:t>) {</a:t>
            </a:r>
          </a:p>
          <a:p>
            <a:r>
              <a:rPr lang="en-IN" dirty="0"/>
              <a:t>        byte age = 34;</a:t>
            </a:r>
          </a:p>
          <a:p>
            <a:r>
              <a:rPr lang="en-IN" dirty="0"/>
              <a:t>        int age2 = 56;</a:t>
            </a:r>
          </a:p>
          <a:p>
            <a:r>
              <a:rPr lang="en-IN" dirty="0"/>
              <a:t>        short age3 = 87;</a:t>
            </a:r>
          </a:p>
          <a:p>
            <a:r>
              <a:rPr lang="en-IN" dirty="0"/>
              <a:t>        long </a:t>
            </a:r>
            <a:r>
              <a:rPr lang="en-IN" dirty="0" err="1"/>
              <a:t>ageDino</a:t>
            </a:r>
            <a:r>
              <a:rPr lang="en-IN" dirty="0"/>
              <a:t> = 5666666666666L;</a:t>
            </a:r>
          </a:p>
          <a:p>
            <a:r>
              <a:rPr lang="en-IN" dirty="0"/>
              <a:t>        char </a:t>
            </a:r>
            <a:r>
              <a:rPr lang="en-IN" dirty="0" err="1"/>
              <a:t>ch</a:t>
            </a:r>
            <a:r>
              <a:rPr lang="en-IN" dirty="0"/>
              <a:t> = 'A';</a:t>
            </a:r>
          </a:p>
          <a:p>
            <a:r>
              <a:rPr lang="en-IN" dirty="0"/>
              <a:t>        float f1 = 5.6f;</a:t>
            </a:r>
          </a:p>
          <a:p>
            <a:r>
              <a:rPr lang="en-IN" dirty="0"/>
              <a:t>        double d1 = 4.66;</a:t>
            </a:r>
          </a:p>
          <a:p>
            <a:endParaRPr lang="en-IN" dirty="0"/>
          </a:p>
          <a:p>
            <a:r>
              <a:rPr lang="en-IN" dirty="0"/>
              <a:t>        </a:t>
            </a:r>
            <a:r>
              <a:rPr lang="en-IN" dirty="0" err="1"/>
              <a:t>boolean</a:t>
            </a:r>
            <a:r>
              <a:rPr lang="en-IN" dirty="0"/>
              <a:t> a = true;</a:t>
            </a:r>
          </a:p>
          <a:p>
            <a:r>
              <a:rPr lang="en-IN" dirty="0"/>
              <a:t>        </a:t>
            </a:r>
            <a:r>
              <a:rPr lang="en-IN" dirty="0" err="1"/>
              <a:t>System.out.print</a:t>
            </a:r>
            <a:r>
              <a:rPr lang="en-IN" dirty="0"/>
              <a:t>(age);</a:t>
            </a:r>
          </a:p>
          <a:p>
            <a:r>
              <a:rPr lang="en-IN" dirty="0"/>
              <a:t>        String str = "Harry";</a:t>
            </a:r>
          </a:p>
          <a:p>
            <a:r>
              <a:rPr lang="en-IN" dirty="0"/>
              <a:t>        </a:t>
            </a:r>
            <a:r>
              <a:rPr lang="en-IN" dirty="0" err="1"/>
              <a:t>System.out.println</a:t>
            </a:r>
            <a:r>
              <a:rPr lang="en-IN" dirty="0"/>
              <a:t>(str);</a:t>
            </a:r>
          </a:p>
          <a:p>
            <a:endParaRPr lang="en-IN" dirty="0"/>
          </a:p>
          <a:p>
            <a:r>
              <a:rPr lang="en-IN" dirty="0"/>
              <a:t>    }</a:t>
            </a:r>
          </a:p>
          <a:p>
            <a:r>
              <a:rPr lang="en-IN" dirty="0"/>
              <a:t>}</a:t>
            </a:r>
          </a:p>
        </p:txBody>
      </p:sp>
      <p:sp>
        <p:nvSpPr>
          <p:cNvPr id="5" name="TextBox 4">
            <a:extLst>
              <a:ext uri="{FF2B5EF4-FFF2-40B4-BE49-F238E27FC236}">
                <a16:creationId xmlns:a16="http://schemas.microsoft.com/office/drawing/2014/main" id="{D42C4AA8-34AC-B966-9FE2-FF6AA05EF3B6}"/>
              </a:ext>
            </a:extLst>
          </p:cNvPr>
          <p:cNvSpPr txBox="1"/>
          <p:nvPr/>
        </p:nvSpPr>
        <p:spPr>
          <a:xfrm>
            <a:off x="-62754" y="5657671"/>
            <a:ext cx="13707036" cy="1138773"/>
          </a:xfrm>
          <a:prstGeom prst="rect">
            <a:avLst/>
          </a:prstGeom>
          <a:noFill/>
        </p:spPr>
        <p:txBody>
          <a:bodyPr wrap="square">
            <a:spAutoFit/>
          </a:bodyPr>
          <a:lstStyle/>
          <a:p>
            <a:pPr algn="l"/>
            <a:r>
              <a:rPr lang="en-US" sz="3200" b="1" i="0" dirty="0">
                <a:solidFill>
                  <a:schemeClr val="bg1"/>
                </a:solidFill>
                <a:effectLst/>
                <a:latin typeface="Poppins" panose="00000500000000000000" pitchFamily="2" charset="0"/>
              </a:rPr>
              <a:t>Keywords</a:t>
            </a:r>
          </a:p>
          <a:p>
            <a:pPr algn="l"/>
            <a:r>
              <a:rPr lang="en-US" b="0" i="0" dirty="0">
                <a:solidFill>
                  <a:srgbClr val="000000"/>
                </a:solidFill>
                <a:effectLst/>
                <a:latin typeface="Poppins" panose="00000500000000000000" pitchFamily="2" charset="0"/>
              </a:rPr>
              <a:t>Words that are reserved and used by the Java compiler. They cannot be used as an Identifier.</a:t>
            </a:r>
          </a:p>
          <a:p>
            <a:pPr algn="l"/>
            <a:r>
              <a:rPr lang="en-US" b="0" i="0" dirty="0">
                <a:solidFill>
                  <a:srgbClr val="000000"/>
                </a:solidFill>
                <a:effectLst/>
                <a:latin typeface="Poppins" panose="00000500000000000000" pitchFamily="2" charset="0"/>
              </a:rPr>
              <a:t>{You can visit docs.oracle.com for a comprehensive list}</a:t>
            </a:r>
          </a:p>
        </p:txBody>
      </p:sp>
    </p:spTree>
    <p:extLst>
      <p:ext uri="{BB962C8B-B14F-4D97-AF65-F5344CB8AC3E}">
        <p14:creationId xmlns:p14="http://schemas.microsoft.com/office/powerpoint/2010/main" val="9709466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877068-1B5C-D928-AE25-DBF77037D742}"/>
              </a:ext>
            </a:extLst>
          </p:cNvPr>
          <p:cNvSpPr txBox="1"/>
          <p:nvPr/>
        </p:nvSpPr>
        <p:spPr>
          <a:xfrm>
            <a:off x="0" y="151510"/>
            <a:ext cx="11967882" cy="523220"/>
          </a:xfrm>
          <a:prstGeom prst="rect">
            <a:avLst/>
          </a:prstGeom>
          <a:noFill/>
        </p:spPr>
        <p:txBody>
          <a:bodyPr wrap="square">
            <a:spAutoFit/>
          </a:bodyPr>
          <a:lstStyle/>
          <a:p>
            <a:pPr algn="l"/>
            <a:r>
              <a:rPr lang="en-US" sz="2800" b="1" i="0" dirty="0">
                <a:solidFill>
                  <a:srgbClr val="000000"/>
                </a:solidFill>
                <a:effectLst/>
                <a:latin typeface="Poppins" panose="00000500000000000000" pitchFamily="2" charset="0"/>
              </a:rPr>
              <a:t>Getting User Input in Java</a:t>
            </a:r>
          </a:p>
        </p:txBody>
      </p:sp>
      <p:sp>
        <p:nvSpPr>
          <p:cNvPr id="5" name="TextBox 4">
            <a:extLst>
              <a:ext uri="{FF2B5EF4-FFF2-40B4-BE49-F238E27FC236}">
                <a16:creationId xmlns:a16="http://schemas.microsoft.com/office/drawing/2014/main" id="{EDCE5C0F-5676-770E-0ED7-5C15DF124869}"/>
              </a:ext>
            </a:extLst>
          </p:cNvPr>
          <p:cNvSpPr txBox="1"/>
          <p:nvPr/>
        </p:nvSpPr>
        <p:spPr>
          <a:xfrm>
            <a:off x="62753" y="674730"/>
            <a:ext cx="10569388" cy="1754326"/>
          </a:xfrm>
          <a:prstGeom prst="rect">
            <a:avLst/>
          </a:prstGeom>
          <a:noFill/>
        </p:spPr>
        <p:txBody>
          <a:bodyPr wrap="square">
            <a:spAutoFit/>
          </a:bodyPr>
          <a:lstStyle/>
          <a:p>
            <a:pPr algn="l"/>
            <a:r>
              <a:rPr lang="en-US" b="1" i="0" dirty="0">
                <a:solidFill>
                  <a:schemeClr val="bg1"/>
                </a:solidFill>
                <a:effectLst/>
                <a:latin typeface="Poppins" panose="00000500000000000000" pitchFamily="2" charset="0"/>
              </a:rPr>
              <a:t>Reading data from the Keyboard :</a:t>
            </a:r>
          </a:p>
          <a:p>
            <a:pPr algn="l"/>
            <a:endParaRPr lang="en-US" b="1" i="0" dirty="0">
              <a:solidFill>
                <a:schemeClr val="bg1"/>
              </a:solidFill>
              <a:effectLst/>
              <a:latin typeface="Poppins" panose="00000500000000000000" pitchFamily="2" charset="0"/>
            </a:endParaRPr>
          </a:p>
          <a:p>
            <a:pPr algn="l"/>
            <a:r>
              <a:rPr lang="en-US" b="0" i="0" dirty="0">
                <a:solidFill>
                  <a:srgbClr val="000000"/>
                </a:solidFill>
                <a:effectLst/>
                <a:highlight>
                  <a:srgbClr val="FFFF00"/>
                </a:highlight>
                <a:latin typeface="Poppins" panose="00000500000000000000" pitchFamily="2" charset="0"/>
              </a:rPr>
              <a:t>Scanner class of </a:t>
            </a:r>
            <a:r>
              <a:rPr lang="en-US" b="0" i="0" dirty="0" err="1">
                <a:solidFill>
                  <a:srgbClr val="000000"/>
                </a:solidFill>
                <a:effectLst/>
                <a:highlight>
                  <a:srgbClr val="FFFF00"/>
                </a:highlight>
                <a:latin typeface="Poppins" panose="00000500000000000000" pitchFamily="2" charset="0"/>
              </a:rPr>
              <a:t>java.util</a:t>
            </a:r>
            <a:r>
              <a:rPr lang="en-US" b="0" i="0" dirty="0">
                <a:solidFill>
                  <a:srgbClr val="000000"/>
                </a:solidFill>
                <a:effectLst/>
                <a:highlight>
                  <a:srgbClr val="FFFF00"/>
                </a:highlight>
                <a:latin typeface="Poppins" panose="00000500000000000000" pitchFamily="2" charset="0"/>
              </a:rPr>
              <a:t> package </a:t>
            </a:r>
            <a:r>
              <a:rPr lang="en-US" b="0" i="0" dirty="0">
                <a:solidFill>
                  <a:srgbClr val="000000"/>
                </a:solidFill>
                <a:effectLst/>
                <a:latin typeface="Poppins" panose="00000500000000000000" pitchFamily="2" charset="0"/>
              </a:rPr>
              <a:t>is used to take input from the user's </a:t>
            </a:r>
            <a:r>
              <a:rPr lang="en-US" b="0" i="0" dirty="0" err="1">
                <a:solidFill>
                  <a:srgbClr val="000000"/>
                </a:solidFill>
                <a:effectLst/>
                <a:latin typeface="Poppins" panose="00000500000000000000" pitchFamily="2" charset="0"/>
              </a:rPr>
              <a:t>keyboard.The</a:t>
            </a:r>
            <a:r>
              <a:rPr lang="en-US" b="0" i="0" dirty="0">
                <a:solidFill>
                  <a:srgbClr val="000000"/>
                </a:solidFill>
                <a:effectLst/>
                <a:latin typeface="Poppins" panose="00000500000000000000" pitchFamily="2" charset="0"/>
              </a:rPr>
              <a:t> Scanner class has many methods for taking input from the user depending upon the type of input. To use any of the methods of the Scanner class, first, we need to create an object of the Scanner class as shown in the below example :</a:t>
            </a:r>
          </a:p>
        </p:txBody>
      </p:sp>
      <p:sp>
        <p:nvSpPr>
          <p:cNvPr id="7" name="TextBox 6">
            <a:extLst>
              <a:ext uri="{FF2B5EF4-FFF2-40B4-BE49-F238E27FC236}">
                <a16:creationId xmlns:a16="http://schemas.microsoft.com/office/drawing/2014/main" id="{D451426C-7B55-CB84-6528-E0789EFB0534}"/>
              </a:ext>
            </a:extLst>
          </p:cNvPr>
          <p:cNvSpPr txBox="1"/>
          <p:nvPr/>
        </p:nvSpPr>
        <p:spPr>
          <a:xfrm>
            <a:off x="0" y="2626659"/>
            <a:ext cx="12192001"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import </a:t>
            </a:r>
            <a:r>
              <a:rPr lang="en-IN" dirty="0" err="1"/>
              <a:t>java.util.Scanner</a:t>
            </a:r>
            <a:r>
              <a:rPr lang="en-IN" dirty="0"/>
              <a:t>;  // </a:t>
            </a:r>
            <a:r>
              <a:rPr lang="en-IN" dirty="0">
                <a:solidFill>
                  <a:srgbClr val="FF0000"/>
                </a:solidFill>
              </a:rPr>
              <a:t>Importing  the Scanner class</a:t>
            </a:r>
          </a:p>
          <a:p>
            <a:r>
              <a:rPr lang="en-IN" dirty="0"/>
              <a:t>Scanner </a:t>
            </a:r>
            <a:r>
              <a:rPr lang="en-IN" dirty="0" err="1"/>
              <a:t>sc</a:t>
            </a:r>
            <a:r>
              <a:rPr lang="en-IN" dirty="0"/>
              <a:t> = new Scanner(System.in);  //</a:t>
            </a:r>
            <a:r>
              <a:rPr lang="en-IN" dirty="0">
                <a:solidFill>
                  <a:srgbClr val="FF0000"/>
                </a:solidFill>
              </a:rPr>
              <a:t>Creating an object named "</a:t>
            </a:r>
            <a:r>
              <a:rPr lang="en-IN" dirty="0" err="1">
                <a:solidFill>
                  <a:srgbClr val="FF0000"/>
                </a:solidFill>
              </a:rPr>
              <a:t>sc</a:t>
            </a:r>
            <a:r>
              <a:rPr lang="en-IN" dirty="0">
                <a:solidFill>
                  <a:srgbClr val="FF0000"/>
                </a:solidFill>
              </a:rPr>
              <a:t>" of the Scanner class.</a:t>
            </a:r>
          </a:p>
        </p:txBody>
      </p:sp>
      <p:sp>
        <p:nvSpPr>
          <p:cNvPr id="9" name="TextBox 8">
            <a:extLst>
              <a:ext uri="{FF2B5EF4-FFF2-40B4-BE49-F238E27FC236}">
                <a16:creationId xmlns:a16="http://schemas.microsoft.com/office/drawing/2014/main" id="{0B2905FE-8F5E-96CD-2B26-5F26585D9A88}"/>
              </a:ext>
            </a:extLst>
          </p:cNvPr>
          <p:cNvSpPr txBox="1"/>
          <p:nvPr/>
        </p:nvSpPr>
        <p:spPr>
          <a:xfrm>
            <a:off x="62753" y="3800145"/>
            <a:ext cx="6163234" cy="369332"/>
          </a:xfrm>
          <a:prstGeom prst="rect">
            <a:avLst/>
          </a:prstGeom>
          <a:noFill/>
        </p:spPr>
        <p:txBody>
          <a:bodyPr wrap="square">
            <a:spAutoFit/>
          </a:bodyPr>
          <a:lstStyle/>
          <a:p>
            <a:pPr algn="l"/>
            <a:r>
              <a:rPr lang="en-US" b="1" i="0" dirty="0">
                <a:solidFill>
                  <a:schemeClr val="bg1"/>
                </a:solidFill>
                <a:effectLst/>
                <a:latin typeface="Poppins" panose="00000500000000000000" pitchFamily="2" charset="0"/>
              </a:rPr>
              <a:t>Taking an integer input from the keyboard :</a:t>
            </a:r>
          </a:p>
        </p:txBody>
      </p:sp>
      <p:sp>
        <p:nvSpPr>
          <p:cNvPr id="11" name="TextBox 10">
            <a:extLst>
              <a:ext uri="{FF2B5EF4-FFF2-40B4-BE49-F238E27FC236}">
                <a16:creationId xmlns:a16="http://schemas.microsoft.com/office/drawing/2014/main" id="{A1D5D062-3242-EC9C-A4AC-357A767807DA}"/>
              </a:ext>
            </a:extLst>
          </p:cNvPr>
          <p:cNvSpPr txBox="1"/>
          <p:nvPr/>
        </p:nvSpPr>
        <p:spPr>
          <a:xfrm>
            <a:off x="0" y="4901753"/>
            <a:ext cx="12191999"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Scanner S = new Scanner(System.in);  //</a:t>
            </a:r>
            <a:r>
              <a:rPr lang="en-IN" dirty="0">
                <a:solidFill>
                  <a:srgbClr val="FF0000"/>
                </a:solidFill>
              </a:rPr>
              <a:t>(Read from the keyboard)</a:t>
            </a:r>
          </a:p>
          <a:p>
            <a:r>
              <a:rPr lang="en-IN" dirty="0"/>
              <a:t>int a = </a:t>
            </a:r>
            <a:r>
              <a:rPr lang="en-IN" dirty="0" err="1"/>
              <a:t>S.nextInt</a:t>
            </a:r>
            <a:r>
              <a:rPr lang="en-IN" dirty="0"/>
              <a:t>();  //</a:t>
            </a:r>
            <a:r>
              <a:rPr lang="en-IN" dirty="0">
                <a:solidFill>
                  <a:srgbClr val="FF0000"/>
                </a:solidFill>
              </a:rPr>
              <a:t>(Method to read from the keyboard)</a:t>
            </a:r>
          </a:p>
        </p:txBody>
      </p:sp>
    </p:spTree>
    <p:extLst>
      <p:ext uri="{BB962C8B-B14F-4D97-AF65-F5344CB8AC3E}">
        <p14:creationId xmlns:p14="http://schemas.microsoft.com/office/powerpoint/2010/main" val="829154775"/>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33A77A-C04E-7338-17C5-31EA6C930752}"/>
              </a:ext>
            </a:extLst>
          </p:cNvPr>
          <p:cNvSpPr txBox="1"/>
          <p:nvPr/>
        </p:nvSpPr>
        <p:spPr>
          <a:xfrm>
            <a:off x="71719" y="-81573"/>
            <a:ext cx="8130988" cy="523220"/>
          </a:xfrm>
          <a:prstGeom prst="rect">
            <a:avLst/>
          </a:prstGeom>
          <a:noFill/>
        </p:spPr>
        <p:txBody>
          <a:bodyPr wrap="square">
            <a:spAutoFit/>
          </a:bodyPr>
          <a:lstStyle/>
          <a:p>
            <a:pPr algn="l"/>
            <a:r>
              <a:rPr lang="en-US" sz="2800" b="1" i="0" dirty="0">
                <a:solidFill>
                  <a:srgbClr val="000000"/>
                </a:solidFill>
                <a:effectLst/>
                <a:latin typeface="Poppins" panose="00000500000000000000" pitchFamily="2" charset="0"/>
              </a:rPr>
              <a:t>Getting User Input in Java</a:t>
            </a:r>
          </a:p>
        </p:txBody>
      </p:sp>
      <p:sp>
        <p:nvSpPr>
          <p:cNvPr id="5" name="TextBox 4">
            <a:extLst>
              <a:ext uri="{FF2B5EF4-FFF2-40B4-BE49-F238E27FC236}">
                <a16:creationId xmlns:a16="http://schemas.microsoft.com/office/drawing/2014/main" id="{15464C27-6459-769A-F0FD-556E95289C52}"/>
              </a:ext>
            </a:extLst>
          </p:cNvPr>
          <p:cNvSpPr txBox="1"/>
          <p:nvPr/>
        </p:nvSpPr>
        <p:spPr>
          <a:xfrm>
            <a:off x="0" y="363915"/>
            <a:ext cx="12192000" cy="649408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600" dirty="0"/>
              <a:t>package </a:t>
            </a:r>
            <a:r>
              <a:rPr lang="en-IN" sz="1600" dirty="0" err="1"/>
              <a:t>com.company</a:t>
            </a:r>
            <a:r>
              <a:rPr lang="en-IN" sz="1600" dirty="0"/>
              <a:t>;</a:t>
            </a:r>
          </a:p>
          <a:p>
            <a:r>
              <a:rPr lang="en-IN" sz="1600" dirty="0"/>
              <a:t>import </a:t>
            </a:r>
            <a:r>
              <a:rPr lang="en-IN" sz="1600" dirty="0" err="1"/>
              <a:t>java.util.Scanner</a:t>
            </a:r>
            <a:r>
              <a:rPr lang="en-IN" sz="1600" dirty="0"/>
              <a:t>;</a:t>
            </a:r>
          </a:p>
          <a:p>
            <a:endParaRPr lang="en-IN" sz="1600" dirty="0"/>
          </a:p>
          <a:p>
            <a:r>
              <a:rPr lang="en-IN" sz="1600" dirty="0"/>
              <a:t>public class CWH_05_TakingInpu {</a:t>
            </a:r>
          </a:p>
          <a:p>
            <a:r>
              <a:rPr lang="en-IN" sz="1600" dirty="0"/>
              <a:t>    public static void main(String[] </a:t>
            </a:r>
            <a:r>
              <a:rPr lang="en-IN" sz="1600" dirty="0" err="1"/>
              <a:t>args</a:t>
            </a:r>
            <a:r>
              <a:rPr lang="en-IN" sz="1600" dirty="0"/>
              <a:t>) {</a:t>
            </a:r>
          </a:p>
          <a:p>
            <a:r>
              <a:rPr lang="en-IN" sz="1600" dirty="0"/>
              <a:t>        </a:t>
            </a:r>
            <a:r>
              <a:rPr lang="en-IN" sz="1600" dirty="0" err="1"/>
              <a:t>System.out.println</a:t>
            </a:r>
            <a:r>
              <a:rPr lang="en-IN" sz="1600" dirty="0"/>
              <a:t>("Taking Input From the User");</a:t>
            </a:r>
          </a:p>
          <a:p>
            <a:r>
              <a:rPr lang="en-IN" sz="1600" dirty="0"/>
              <a:t>        Scanner </a:t>
            </a:r>
            <a:r>
              <a:rPr lang="en-IN" sz="1600" dirty="0" err="1"/>
              <a:t>sc</a:t>
            </a:r>
            <a:r>
              <a:rPr lang="en-IN" sz="1600" dirty="0"/>
              <a:t> = new Scanner(System.in);</a:t>
            </a:r>
          </a:p>
          <a:p>
            <a:r>
              <a:rPr lang="en-IN" sz="1600" dirty="0"/>
              <a:t>//        </a:t>
            </a:r>
            <a:r>
              <a:rPr lang="en-IN" sz="1600" dirty="0" err="1"/>
              <a:t>System.out.println</a:t>
            </a:r>
            <a:r>
              <a:rPr lang="en-IN" sz="1600" dirty="0"/>
              <a:t>("Enter number 1");</a:t>
            </a:r>
          </a:p>
          <a:p>
            <a:r>
              <a:rPr lang="en-IN" sz="1600" dirty="0"/>
              <a:t>//        int a = </a:t>
            </a:r>
            <a:r>
              <a:rPr lang="en-IN" sz="1600" dirty="0" err="1"/>
              <a:t>sc.nextInt</a:t>
            </a:r>
            <a:r>
              <a:rPr lang="en-IN" sz="1600" dirty="0"/>
              <a:t>();</a:t>
            </a:r>
          </a:p>
          <a:p>
            <a:r>
              <a:rPr lang="en-IN" sz="1600" dirty="0"/>
              <a:t>//        float a = </a:t>
            </a:r>
            <a:r>
              <a:rPr lang="en-IN" sz="1600" dirty="0" err="1"/>
              <a:t>sc.nextFloat</a:t>
            </a:r>
            <a:r>
              <a:rPr lang="en-IN" sz="1600" dirty="0"/>
              <a:t>();</a:t>
            </a:r>
          </a:p>
          <a:p>
            <a:r>
              <a:rPr lang="en-IN" sz="1600" dirty="0"/>
              <a:t>//        </a:t>
            </a:r>
            <a:r>
              <a:rPr lang="en-IN" sz="1600" dirty="0" err="1"/>
              <a:t>System.out.println</a:t>
            </a:r>
            <a:r>
              <a:rPr lang="en-IN" sz="1600" dirty="0"/>
              <a:t>("Enter number 2");</a:t>
            </a:r>
          </a:p>
          <a:p>
            <a:r>
              <a:rPr lang="en-IN" sz="1600" dirty="0"/>
              <a:t>//        int b = </a:t>
            </a:r>
            <a:r>
              <a:rPr lang="en-IN" sz="1600" dirty="0" err="1"/>
              <a:t>sc.nextInt</a:t>
            </a:r>
            <a:r>
              <a:rPr lang="en-IN" sz="1600" dirty="0"/>
              <a:t>();</a:t>
            </a:r>
          </a:p>
          <a:p>
            <a:r>
              <a:rPr lang="en-IN" sz="1600" dirty="0"/>
              <a:t>//        float b = </a:t>
            </a:r>
            <a:r>
              <a:rPr lang="en-IN" sz="1600" dirty="0" err="1"/>
              <a:t>sc.nextFloat</a:t>
            </a:r>
            <a:r>
              <a:rPr lang="en-IN" sz="1600" dirty="0"/>
              <a:t>();</a:t>
            </a:r>
          </a:p>
          <a:p>
            <a:endParaRPr lang="en-IN" sz="1600" dirty="0"/>
          </a:p>
          <a:p>
            <a:r>
              <a:rPr lang="en-IN" sz="1600" dirty="0"/>
              <a:t>//        int sum = a +b;</a:t>
            </a:r>
          </a:p>
          <a:p>
            <a:r>
              <a:rPr lang="en-IN" sz="1600" dirty="0"/>
              <a:t>//        float sum = a +b;</a:t>
            </a:r>
          </a:p>
          <a:p>
            <a:r>
              <a:rPr lang="en-IN" sz="1600" dirty="0"/>
              <a:t>//        </a:t>
            </a:r>
            <a:r>
              <a:rPr lang="en-IN" sz="1600" dirty="0" err="1"/>
              <a:t>System.out.println</a:t>
            </a:r>
            <a:r>
              <a:rPr lang="en-IN" sz="1600" dirty="0"/>
              <a:t>("The sum of these numbers is");</a:t>
            </a:r>
          </a:p>
          <a:p>
            <a:r>
              <a:rPr lang="en-IN" sz="1600" dirty="0"/>
              <a:t>//        </a:t>
            </a:r>
            <a:r>
              <a:rPr lang="en-IN" sz="1600" dirty="0" err="1"/>
              <a:t>System.out.println</a:t>
            </a:r>
            <a:r>
              <a:rPr lang="en-IN" sz="1600" dirty="0"/>
              <a:t>(sum);</a:t>
            </a:r>
          </a:p>
          <a:p>
            <a:r>
              <a:rPr lang="en-IN" sz="1600" dirty="0"/>
              <a:t>//        </a:t>
            </a:r>
            <a:r>
              <a:rPr lang="en-IN" sz="1600" dirty="0" err="1"/>
              <a:t>boolean</a:t>
            </a:r>
            <a:r>
              <a:rPr lang="en-IN" sz="1600" dirty="0"/>
              <a:t> b1 = </a:t>
            </a:r>
            <a:r>
              <a:rPr lang="en-IN" sz="1600" dirty="0" err="1"/>
              <a:t>sc.hasNextInt</a:t>
            </a:r>
            <a:r>
              <a:rPr lang="en-IN" sz="1600" dirty="0"/>
              <a:t>();</a:t>
            </a:r>
          </a:p>
          <a:p>
            <a:r>
              <a:rPr lang="en-IN" sz="1600" dirty="0"/>
              <a:t>//        </a:t>
            </a:r>
            <a:r>
              <a:rPr lang="en-IN" sz="1600" dirty="0" err="1"/>
              <a:t>System.out.println</a:t>
            </a:r>
            <a:r>
              <a:rPr lang="en-IN" sz="1600" dirty="0"/>
              <a:t>(b1);</a:t>
            </a:r>
          </a:p>
          <a:p>
            <a:r>
              <a:rPr lang="en-IN" sz="1600" dirty="0"/>
              <a:t>//        String str = </a:t>
            </a:r>
            <a:r>
              <a:rPr lang="en-IN" sz="1600" dirty="0" err="1"/>
              <a:t>sc.next</a:t>
            </a:r>
            <a:r>
              <a:rPr lang="en-IN" sz="1600" dirty="0"/>
              <a:t>();</a:t>
            </a:r>
          </a:p>
          <a:p>
            <a:r>
              <a:rPr lang="en-IN" sz="1600" dirty="0"/>
              <a:t>        String str = </a:t>
            </a:r>
            <a:r>
              <a:rPr lang="en-IN" sz="1600" dirty="0" err="1"/>
              <a:t>sc.nextLine</a:t>
            </a:r>
            <a:r>
              <a:rPr lang="en-IN" sz="1600" dirty="0"/>
              <a:t>();</a:t>
            </a:r>
          </a:p>
          <a:p>
            <a:r>
              <a:rPr lang="en-IN" sz="1600" dirty="0"/>
              <a:t>        </a:t>
            </a:r>
            <a:r>
              <a:rPr lang="en-IN" sz="1600" dirty="0" err="1"/>
              <a:t>System.out.println</a:t>
            </a:r>
            <a:r>
              <a:rPr lang="en-IN" sz="1600" dirty="0"/>
              <a:t>(str);</a:t>
            </a:r>
          </a:p>
          <a:p>
            <a:endParaRPr lang="en-IN" sz="1600" dirty="0"/>
          </a:p>
          <a:p>
            <a:r>
              <a:rPr lang="en-IN" sz="1600" dirty="0"/>
              <a:t>    }</a:t>
            </a:r>
          </a:p>
          <a:p>
            <a:r>
              <a:rPr lang="en-IN" sz="1600" dirty="0"/>
              <a:t>}</a:t>
            </a:r>
          </a:p>
        </p:txBody>
      </p:sp>
    </p:spTree>
    <p:extLst>
      <p:ext uri="{BB962C8B-B14F-4D97-AF65-F5344CB8AC3E}">
        <p14:creationId xmlns:p14="http://schemas.microsoft.com/office/powerpoint/2010/main" val="30355222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3CEB67-1B29-44EE-1D8B-9FA743A0E4B4}"/>
              </a:ext>
            </a:extLst>
          </p:cNvPr>
          <p:cNvSpPr txBox="1"/>
          <p:nvPr/>
        </p:nvSpPr>
        <p:spPr>
          <a:xfrm>
            <a:off x="0" y="1909482"/>
            <a:ext cx="12192000" cy="2862322"/>
          </a:xfrm>
          <a:prstGeom prst="rect">
            <a:avLst/>
          </a:prstGeom>
          <a:noFill/>
        </p:spPr>
        <p:txBody>
          <a:bodyPr wrap="square">
            <a:spAutoFit/>
          </a:bodyPr>
          <a:lstStyle/>
          <a:p>
            <a:pPr algn="l">
              <a:buFont typeface="+mj-lt"/>
              <a:buAutoNum type="arabicPeriod"/>
            </a:pPr>
            <a:r>
              <a:rPr lang="en-US" b="0" i="0" dirty="0">
                <a:solidFill>
                  <a:srgbClr val="000000"/>
                </a:solidFill>
                <a:effectLst/>
                <a:latin typeface="Poppins" panose="00000500000000000000" pitchFamily="2" charset="0"/>
              </a:rPr>
              <a:t>Write a program to sum three numbers in Java.</a:t>
            </a:r>
          </a:p>
          <a:p>
            <a:pPr algn="l"/>
            <a:endParaRPr lang="en-US" b="0" i="0" dirty="0">
              <a:solidFill>
                <a:srgbClr val="000000"/>
              </a:solidFill>
              <a:effectLst/>
              <a:latin typeface="Poppins" panose="00000500000000000000" pitchFamily="2" charset="0"/>
            </a:endParaRPr>
          </a:p>
          <a:p>
            <a:pPr algn="l">
              <a:buFont typeface="+mj-lt"/>
              <a:buAutoNum type="arabicPeriod"/>
            </a:pPr>
            <a:r>
              <a:rPr lang="en-US" b="0" i="0" dirty="0">
                <a:solidFill>
                  <a:srgbClr val="000000"/>
                </a:solidFill>
                <a:effectLst/>
                <a:latin typeface="Poppins" panose="00000500000000000000" pitchFamily="2" charset="0"/>
              </a:rPr>
              <a:t>Write a program to calculate CGPA using marks of three subjects (out of 100)</a:t>
            </a:r>
          </a:p>
          <a:p>
            <a:pPr algn="l">
              <a:buFont typeface="+mj-lt"/>
              <a:buAutoNum type="arabicPeriod"/>
            </a:pPr>
            <a:endParaRPr lang="en-US" b="0" i="0" dirty="0">
              <a:solidFill>
                <a:srgbClr val="000000"/>
              </a:solidFill>
              <a:effectLst/>
              <a:latin typeface="Poppins" panose="00000500000000000000" pitchFamily="2" charset="0"/>
            </a:endParaRPr>
          </a:p>
          <a:p>
            <a:pPr algn="l">
              <a:buFont typeface="+mj-lt"/>
              <a:buAutoNum type="arabicPeriod"/>
            </a:pPr>
            <a:r>
              <a:rPr lang="en-US" b="0" i="0" dirty="0">
                <a:solidFill>
                  <a:srgbClr val="000000"/>
                </a:solidFill>
                <a:effectLst/>
                <a:latin typeface="Poppins" panose="00000500000000000000" pitchFamily="2" charset="0"/>
              </a:rPr>
              <a:t>Write a Java program that asks the user to enter his/her name and greets them with “Hello &lt;name&gt;, have a good day” text.</a:t>
            </a:r>
          </a:p>
          <a:p>
            <a:pPr algn="l">
              <a:buFont typeface="+mj-lt"/>
              <a:buAutoNum type="arabicPeriod"/>
            </a:pPr>
            <a:endParaRPr lang="en-US" b="0" i="0" dirty="0">
              <a:solidFill>
                <a:srgbClr val="000000"/>
              </a:solidFill>
              <a:effectLst/>
              <a:latin typeface="Poppins" panose="00000500000000000000" pitchFamily="2" charset="0"/>
            </a:endParaRPr>
          </a:p>
          <a:p>
            <a:pPr algn="l">
              <a:buFont typeface="+mj-lt"/>
              <a:buAutoNum type="arabicPeriod"/>
            </a:pPr>
            <a:r>
              <a:rPr lang="en-US" b="0" i="0" dirty="0">
                <a:solidFill>
                  <a:srgbClr val="000000"/>
                </a:solidFill>
                <a:effectLst/>
                <a:latin typeface="Poppins" panose="00000500000000000000" pitchFamily="2" charset="0"/>
              </a:rPr>
              <a:t>Write a Java program to convert Kilometers to miles.</a:t>
            </a:r>
          </a:p>
          <a:p>
            <a:pPr algn="l">
              <a:buFont typeface="+mj-lt"/>
              <a:buAutoNum type="arabicPeriod"/>
            </a:pPr>
            <a:endParaRPr lang="en-US" b="0" i="0" dirty="0">
              <a:solidFill>
                <a:srgbClr val="000000"/>
              </a:solidFill>
              <a:effectLst/>
              <a:latin typeface="Poppins" panose="00000500000000000000" pitchFamily="2" charset="0"/>
            </a:endParaRPr>
          </a:p>
          <a:p>
            <a:pPr algn="l">
              <a:buFont typeface="+mj-lt"/>
              <a:buAutoNum type="arabicPeriod"/>
            </a:pPr>
            <a:r>
              <a:rPr lang="en-US" b="0" i="0" dirty="0">
                <a:solidFill>
                  <a:srgbClr val="000000"/>
                </a:solidFill>
                <a:effectLst/>
                <a:latin typeface="Poppins" panose="00000500000000000000" pitchFamily="2" charset="0"/>
              </a:rPr>
              <a:t>Write a Java program to detect whether a number entered by the user is an integer or not.</a:t>
            </a:r>
          </a:p>
        </p:txBody>
      </p:sp>
      <p:sp>
        <p:nvSpPr>
          <p:cNvPr id="5" name="TextBox 4">
            <a:extLst>
              <a:ext uri="{FF2B5EF4-FFF2-40B4-BE49-F238E27FC236}">
                <a16:creationId xmlns:a16="http://schemas.microsoft.com/office/drawing/2014/main" id="{446680A7-210E-90F5-501E-908E4A29A831}"/>
              </a:ext>
            </a:extLst>
          </p:cNvPr>
          <p:cNvSpPr txBox="1"/>
          <p:nvPr/>
        </p:nvSpPr>
        <p:spPr>
          <a:xfrm>
            <a:off x="73959" y="362635"/>
            <a:ext cx="6136340" cy="369332"/>
          </a:xfrm>
          <a:prstGeom prst="rect">
            <a:avLst/>
          </a:prstGeom>
          <a:noFill/>
        </p:spPr>
        <p:txBody>
          <a:bodyPr wrap="square">
            <a:spAutoFit/>
          </a:bodyPr>
          <a:lstStyle/>
          <a:p>
            <a:pPr algn="l"/>
            <a:r>
              <a:rPr lang="en-US" b="1" i="0" dirty="0">
                <a:solidFill>
                  <a:srgbClr val="000000"/>
                </a:solidFill>
                <a:effectLst/>
                <a:latin typeface="Poppins" panose="00000500000000000000" pitchFamily="2" charset="0"/>
              </a:rPr>
              <a:t>Chapter 1- Practice Set </a:t>
            </a:r>
          </a:p>
        </p:txBody>
      </p:sp>
    </p:spTree>
    <p:extLst>
      <p:ext uri="{BB962C8B-B14F-4D97-AF65-F5344CB8AC3E}">
        <p14:creationId xmlns:p14="http://schemas.microsoft.com/office/powerpoint/2010/main" val="26748457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A5BD83-4506-F9E3-F21B-A8B3853C4C03}"/>
              </a:ext>
            </a:extLst>
          </p:cNvPr>
          <p:cNvSpPr txBox="1"/>
          <p:nvPr/>
        </p:nvSpPr>
        <p:spPr>
          <a:xfrm>
            <a:off x="0" y="0"/>
            <a:ext cx="6096000" cy="646331"/>
          </a:xfrm>
          <a:prstGeom prst="rect">
            <a:avLst/>
          </a:prstGeom>
          <a:noFill/>
        </p:spPr>
        <p:txBody>
          <a:bodyPr wrap="square">
            <a:spAutoFit/>
          </a:bodyPr>
          <a:lstStyle/>
          <a:p>
            <a:pPr algn="l"/>
            <a:r>
              <a:rPr lang="en-US" b="1" i="0" dirty="0">
                <a:solidFill>
                  <a:srgbClr val="000000"/>
                </a:solidFill>
                <a:effectLst/>
                <a:latin typeface="Poppins" panose="00000500000000000000" pitchFamily="2" charset="0"/>
              </a:rPr>
              <a:t>Chapter 1- Practice Set | Java Practice Problems With Solution</a:t>
            </a:r>
          </a:p>
        </p:txBody>
      </p:sp>
      <p:sp>
        <p:nvSpPr>
          <p:cNvPr id="5" name="TextBox 4">
            <a:extLst>
              <a:ext uri="{FF2B5EF4-FFF2-40B4-BE49-F238E27FC236}">
                <a16:creationId xmlns:a16="http://schemas.microsoft.com/office/drawing/2014/main" id="{4A8E34A0-8434-96A7-C6BE-460CA028047D}"/>
              </a:ext>
            </a:extLst>
          </p:cNvPr>
          <p:cNvSpPr txBox="1"/>
          <p:nvPr/>
        </p:nvSpPr>
        <p:spPr>
          <a:xfrm>
            <a:off x="0" y="661855"/>
            <a:ext cx="12192000" cy="619614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200" dirty="0"/>
              <a:t>package </a:t>
            </a:r>
            <a:r>
              <a:rPr lang="en-IN" sz="1200" dirty="0" err="1"/>
              <a:t>com.company</a:t>
            </a:r>
            <a:r>
              <a:rPr lang="en-IN" sz="1200" dirty="0"/>
              <a:t>;</a:t>
            </a:r>
          </a:p>
          <a:p>
            <a:endParaRPr lang="en-IN" sz="1200" dirty="0"/>
          </a:p>
          <a:p>
            <a:r>
              <a:rPr lang="en-IN" sz="1200" dirty="0"/>
              <a:t>import </a:t>
            </a:r>
            <a:r>
              <a:rPr lang="en-IN" sz="1200" dirty="0" err="1"/>
              <a:t>java.util.Scanner</a:t>
            </a:r>
            <a:r>
              <a:rPr lang="en-IN" sz="1200" dirty="0"/>
              <a:t>;</a:t>
            </a:r>
          </a:p>
          <a:p>
            <a:endParaRPr lang="en-IN" sz="1200" dirty="0"/>
          </a:p>
          <a:p>
            <a:r>
              <a:rPr lang="en-IN" sz="1200" dirty="0"/>
              <a:t>public class CWH_Ch1_PS {</a:t>
            </a:r>
          </a:p>
          <a:p>
            <a:r>
              <a:rPr lang="en-IN" sz="1200" dirty="0"/>
              <a:t>    public static void main(String[] </a:t>
            </a:r>
            <a:r>
              <a:rPr lang="en-IN" sz="1200" dirty="0" err="1"/>
              <a:t>args</a:t>
            </a:r>
            <a:r>
              <a:rPr lang="en-IN" sz="1200" dirty="0"/>
              <a:t>) {</a:t>
            </a:r>
          </a:p>
          <a:p>
            <a:r>
              <a:rPr lang="en-IN" sz="1200" dirty="0"/>
              <a:t>//        Question1</a:t>
            </a:r>
          </a:p>
          <a:p>
            <a:r>
              <a:rPr lang="en-IN" sz="1200" dirty="0"/>
              <a:t>//        int a = 4;</a:t>
            </a:r>
          </a:p>
          <a:p>
            <a:r>
              <a:rPr lang="en-IN" sz="1200" dirty="0"/>
              <a:t>//        int b = 17;</a:t>
            </a:r>
          </a:p>
          <a:p>
            <a:r>
              <a:rPr lang="en-IN" sz="1200" dirty="0"/>
              <a:t>//        int c =6;</a:t>
            </a:r>
          </a:p>
          <a:p>
            <a:r>
              <a:rPr lang="en-IN" sz="1200" dirty="0"/>
              <a:t>//        int sum = a + </a:t>
            </a:r>
            <a:r>
              <a:rPr lang="en-IN" sz="1200" dirty="0" err="1"/>
              <a:t>b+c</a:t>
            </a:r>
            <a:r>
              <a:rPr lang="en-IN" sz="1200" dirty="0"/>
              <a:t>;</a:t>
            </a:r>
          </a:p>
          <a:p>
            <a:r>
              <a:rPr lang="en-IN" sz="1200" dirty="0"/>
              <a:t>//        </a:t>
            </a:r>
            <a:r>
              <a:rPr lang="en-IN" sz="1200" dirty="0" err="1"/>
              <a:t>System.out.println</a:t>
            </a:r>
            <a:r>
              <a:rPr lang="en-IN" sz="1200" dirty="0"/>
              <a:t>(sum);</a:t>
            </a:r>
          </a:p>
          <a:p>
            <a:endParaRPr lang="en-IN" sz="1200" dirty="0"/>
          </a:p>
          <a:p>
            <a:r>
              <a:rPr lang="en-IN" sz="1200" dirty="0"/>
              <a:t>//        Question2</a:t>
            </a:r>
          </a:p>
          <a:p>
            <a:r>
              <a:rPr lang="en-IN" sz="1200" dirty="0"/>
              <a:t>//    float subject1 = 45;</a:t>
            </a:r>
          </a:p>
          <a:p>
            <a:r>
              <a:rPr lang="en-IN" sz="1200" dirty="0"/>
              <a:t>//    float subject2 = 95;</a:t>
            </a:r>
          </a:p>
          <a:p>
            <a:r>
              <a:rPr lang="en-IN" sz="1200" dirty="0"/>
              <a:t>//    float subject3 = 48;</a:t>
            </a:r>
          </a:p>
          <a:p>
            <a:r>
              <a:rPr lang="en-IN" sz="1200" dirty="0"/>
              <a:t>//    float </a:t>
            </a:r>
            <a:r>
              <a:rPr lang="en-IN" sz="1200" dirty="0" err="1"/>
              <a:t>cgpa</a:t>
            </a:r>
            <a:r>
              <a:rPr lang="en-IN" sz="1200" dirty="0"/>
              <a:t> = (subject1 + subject2 +subject3)/30;</a:t>
            </a:r>
          </a:p>
          <a:p>
            <a:r>
              <a:rPr lang="en-IN" sz="1200" dirty="0"/>
              <a:t>//    </a:t>
            </a:r>
            <a:r>
              <a:rPr lang="en-IN" sz="1200" dirty="0" err="1"/>
              <a:t>System.out.println</a:t>
            </a:r>
            <a:r>
              <a:rPr lang="en-IN" sz="1200" dirty="0"/>
              <a:t>(</a:t>
            </a:r>
            <a:r>
              <a:rPr lang="en-IN" sz="1200" dirty="0" err="1"/>
              <a:t>cgpa</a:t>
            </a:r>
            <a:r>
              <a:rPr lang="en-IN" sz="1200" dirty="0"/>
              <a:t>);</a:t>
            </a:r>
          </a:p>
          <a:p>
            <a:endParaRPr lang="en-IN" sz="1200" dirty="0"/>
          </a:p>
          <a:p>
            <a:r>
              <a:rPr lang="en-IN" sz="1200" dirty="0"/>
              <a:t>//        Question 3</a:t>
            </a:r>
          </a:p>
          <a:p>
            <a:r>
              <a:rPr lang="en-IN" sz="1200" dirty="0"/>
              <a:t>//        </a:t>
            </a:r>
            <a:r>
              <a:rPr lang="en-IN" sz="1200" dirty="0" err="1"/>
              <a:t>System.out.println</a:t>
            </a:r>
            <a:r>
              <a:rPr lang="en-IN" sz="1200" dirty="0"/>
              <a:t>("What is your name");</a:t>
            </a:r>
          </a:p>
          <a:p>
            <a:r>
              <a:rPr lang="en-IN" sz="1200" dirty="0"/>
              <a:t>//        Scanner </a:t>
            </a:r>
            <a:r>
              <a:rPr lang="en-IN" sz="1200" dirty="0" err="1"/>
              <a:t>sc</a:t>
            </a:r>
            <a:r>
              <a:rPr lang="en-IN" sz="1200" dirty="0"/>
              <a:t> = new Scanner(System.in);</a:t>
            </a:r>
          </a:p>
          <a:p>
            <a:r>
              <a:rPr lang="en-IN" sz="1200" dirty="0"/>
              <a:t>//        String name = </a:t>
            </a:r>
            <a:r>
              <a:rPr lang="en-IN" sz="1200" dirty="0" err="1"/>
              <a:t>sc.next</a:t>
            </a:r>
            <a:r>
              <a:rPr lang="en-IN" sz="1200" dirty="0"/>
              <a:t>();</a:t>
            </a:r>
          </a:p>
          <a:p>
            <a:r>
              <a:rPr lang="en-IN" sz="1200" dirty="0"/>
              <a:t>//        </a:t>
            </a:r>
            <a:r>
              <a:rPr lang="en-IN" sz="1200" dirty="0" err="1"/>
              <a:t>System.out.println</a:t>
            </a:r>
            <a:r>
              <a:rPr lang="en-IN" sz="1200" dirty="0"/>
              <a:t>("Hello " + name + " have a good day!");</a:t>
            </a:r>
          </a:p>
          <a:p>
            <a:endParaRPr lang="en-IN" sz="1200" dirty="0"/>
          </a:p>
          <a:p>
            <a:r>
              <a:rPr lang="en-IN" sz="1200" dirty="0"/>
              <a:t>//        Question 5</a:t>
            </a:r>
          </a:p>
          <a:p>
            <a:r>
              <a:rPr lang="en-IN" sz="1200" dirty="0"/>
              <a:t>        </a:t>
            </a:r>
            <a:r>
              <a:rPr lang="en-IN" sz="1200" dirty="0" err="1"/>
              <a:t>System.out.println</a:t>
            </a:r>
            <a:r>
              <a:rPr lang="en-IN" sz="1200" dirty="0"/>
              <a:t>("Enter your number");</a:t>
            </a:r>
          </a:p>
          <a:p>
            <a:r>
              <a:rPr lang="en-IN" sz="1200" dirty="0"/>
              <a:t>        Scanner </a:t>
            </a:r>
            <a:r>
              <a:rPr lang="en-IN" sz="1200" dirty="0" err="1"/>
              <a:t>sc</a:t>
            </a:r>
            <a:r>
              <a:rPr lang="en-IN" sz="1200" dirty="0"/>
              <a:t> = new Scanner(System.in);</a:t>
            </a:r>
          </a:p>
          <a:p>
            <a:r>
              <a:rPr lang="en-IN" sz="1200" dirty="0"/>
              <a:t>        </a:t>
            </a:r>
            <a:r>
              <a:rPr lang="en-IN" sz="1200" dirty="0" err="1"/>
              <a:t>System.out.println</a:t>
            </a:r>
            <a:r>
              <a:rPr lang="en-IN" sz="1200" dirty="0"/>
              <a:t>(</a:t>
            </a:r>
            <a:r>
              <a:rPr lang="en-IN" sz="1200" dirty="0" err="1"/>
              <a:t>sc.hasNextInt</a:t>
            </a:r>
            <a:r>
              <a:rPr lang="en-IN" sz="1200" dirty="0"/>
              <a:t>());</a:t>
            </a:r>
          </a:p>
          <a:p>
            <a:r>
              <a:rPr lang="en-IN" sz="1200" dirty="0"/>
              <a:t>    }</a:t>
            </a:r>
          </a:p>
          <a:p>
            <a:endParaRPr lang="en-IN" sz="1200" dirty="0"/>
          </a:p>
          <a:p>
            <a:r>
              <a:rPr lang="en-IN" sz="1200" dirty="0"/>
              <a:t>}</a:t>
            </a:r>
          </a:p>
        </p:txBody>
      </p:sp>
    </p:spTree>
    <p:extLst>
      <p:ext uri="{BB962C8B-B14F-4D97-AF65-F5344CB8AC3E}">
        <p14:creationId xmlns:p14="http://schemas.microsoft.com/office/powerpoint/2010/main" val="26681062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FA095B-6E95-0E1A-68EE-75D9ACBF7E9C}"/>
              </a:ext>
            </a:extLst>
          </p:cNvPr>
          <p:cNvSpPr txBox="1"/>
          <p:nvPr/>
        </p:nvSpPr>
        <p:spPr>
          <a:xfrm>
            <a:off x="0" y="79792"/>
            <a:ext cx="6096000" cy="461665"/>
          </a:xfrm>
          <a:prstGeom prst="rect">
            <a:avLst/>
          </a:prstGeom>
          <a:noFill/>
        </p:spPr>
        <p:txBody>
          <a:bodyPr wrap="square">
            <a:spAutoFit/>
          </a:bodyPr>
          <a:lstStyle/>
          <a:p>
            <a:pPr algn="l"/>
            <a:r>
              <a:rPr lang="en-IN" sz="2400" b="1" i="0" dirty="0">
                <a:solidFill>
                  <a:srgbClr val="000000"/>
                </a:solidFill>
                <a:effectLst/>
                <a:latin typeface="Poppins" panose="00000500000000000000" pitchFamily="2" charset="0"/>
              </a:rPr>
              <a:t>Types of Operators </a:t>
            </a:r>
          </a:p>
        </p:txBody>
      </p:sp>
      <p:sp>
        <p:nvSpPr>
          <p:cNvPr id="5" name="TextBox 4">
            <a:extLst>
              <a:ext uri="{FF2B5EF4-FFF2-40B4-BE49-F238E27FC236}">
                <a16:creationId xmlns:a16="http://schemas.microsoft.com/office/drawing/2014/main" id="{68AB5067-2C5E-CCAF-697E-2EF4A7EA7EE3}"/>
              </a:ext>
            </a:extLst>
          </p:cNvPr>
          <p:cNvSpPr txBox="1"/>
          <p:nvPr/>
        </p:nvSpPr>
        <p:spPr>
          <a:xfrm>
            <a:off x="0" y="541457"/>
            <a:ext cx="10452847" cy="1200329"/>
          </a:xfrm>
          <a:prstGeom prst="rect">
            <a:avLst/>
          </a:prstGeom>
          <a:noFill/>
        </p:spPr>
        <p:txBody>
          <a:bodyPr wrap="square">
            <a:spAutoFit/>
          </a:bodyPr>
          <a:lstStyle/>
          <a:p>
            <a:pPr algn="l">
              <a:buFont typeface="Arial" panose="020B0604020202020204" pitchFamily="34" charset="0"/>
              <a:buChar char="•"/>
            </a:pPr>
            <a:r>
              <a:rPr lang="en-US" b="0" i="0" dirty="0">
                <a:solidFill>
                  <a:srgbClr val="000000"/>
                </a:solidFill>
                <a:effectLst/>
                <a:latin typeface="Poppins" panose="00000500000000000000" pitchFamily="2" charset="0"/>
              </a:rPr>
              <a:t>An operator is a symbol that the compiler to perform a specific operation on operands.</a:t>
            </a:r>
          </a:p>
          <a:p>
            <a:pPr algn="l">
              <a:buFont typeface="Arial" panose="020B0604020202020204" pitchFamily="34" charset="0"/>
              <a:buChar char="•"/>
            </a:pPr>
            <a:r>
              <a:rPr lang="en-US" b="0" i="0" dirty="0">
                <a:solidFill>
                  <a:srgbClr val="000000"/>
                </a:solidFill>
                <a:effectLst/>
                <a:latin typeface="Poppins" panose="00000500000000000000" pitchFamily="2" charset="0"/>
              </a:rPr>
              <a:t>Example :  a + b = c</a:t>
            </a:r>
          </a:p>
          <a:p>
            <a:pPr algn="l">
              <a:buFont typeface="Arial" panose="020B0604020202020204" pitchFamily="34" charset="0"/>
              <a:buChar char="•"/>
            </a:pPr>
            <a:r>
              <a:rPr lang="en-US" b="0" i="0" dirty="0">
                <a:solidFill>
                  <a:srgbClr val="000000"/>
                </a:solidFill>
                <a:effectLst/>
                <a:latin typeface="Poppins" panose="00000500000000000000" pitchFamily="2" charset="0"/>
              </a:rPr>
              <a:t>In the above example, 'a' and 'b' are operands on which the '+' operator is applied.</a:t>
            </a:r>
          </a:p>
          <a:p>
            <a:pPr algn="l">
              <a:buFont typeface="Arial" panose="020B0604020202020204" pitchFamily="34" charset="0"/>
              <a:buChar char="•"/>
            </a:pPr>
            <a:endParaRPr lang="en-US" b="0" i="0" dirty="0">
              <a:solidFill>
                <a:srgbClr val="000000"/>
              </a:solidFill>
              <a:effectLst/>
              <a:latin typeface="Poppins" panose="00000500000000000000" pitchFamily="2" charset="0"/>
            </a:endParaRPr>
          </a:p>
        </p:txBody>
      </p:sp>
      <p:graphicFrame>
        <p:nvGraphicFramePr>
          <p:cNvPr id="6" name="Table 5">
            <a:extLst>
              <a:ext uri="{FF2B5EF4-FFF2-40B4-BE49-F238E27FC236}">
                <a16:creationId xmlns:a16="http://schemas.microsoft.com/office/drawing/2014/main" id="{FBB6ECA4-4A05-D186-D22B-B1DC502BC491}"/>
              </a:ext>
            </a:extLst>
          </p:cNvPr>
          <p:cNvGraphicFramePr>
            <a:graphicFrameLocks noGrp="1"/>
          </p:cNvGraphicFramePr>
          <p:nvPr>
            <p:extLst>
              <p:ext uri="{D42A27DB-BD31-4B8C-83A1-F6EECF244321}">
                <p14:modId xmlns:p14="http://schemas.microsoft.com/office/powerpoint/2010/main" val="354806860"/>
              </p:ext>
            </p:extLst>
          </p:nvPr>
        </p:nvGraphicFramePr>
        <p:xfrm>
          <a:off x="563417" y="2841728"/>
          <a:ext cx="11296074" cy="3861354"/>
        </p:xfrm>
        <a:graphic>
          <a:graphicData uri="http://schemas.openxmlformats.org/drawingml/2006/table">
            <a:tbl>
              <a:tblPr>
                <a:tableStyleId>{08FB837D-C827-4EFA-A057-4D05807E0F7C}</a:tableStyleId>
              </a:tblPr>
              <a:tblGrid>
                <a:gridCol w="3765358">
                  <a:extLst>
                    <a:ext uri="{9D8B030D-6E8A-4147-A177-3AD203B41FA5}">
                      <a16:colId xmlns:a16="http://schemas.microsoft.com/office/drawing/2014/main" val="1330728626"/>
                    </a:ext>
                  </a:extLst>
                </a:gridCol>
                <a:gridCol w="3765358">
                  <a:extLst>
                    <a:ext uri="{9D8B030D-6E8A-4147-A177-3AD203B41FA5}">
                      <a16:colId xmlns:a16="http://schemas.microsoft.com/office/drawing/2014/main" val="178959696"/>
                    </a:ext>
                  </a:extLst>
                </a:gridCol>
                <a:gridCol w="3765358">
                  <a:extLst>
                    <a:ext uri="{9D8B030D-6E8A-4147-A177-3AD203B41FA5}">
                      <a16:colId xmlns:a16="http://schemas.microsoft.com/office/drawing/2014/main" val="493027767"/>
                    </a:ext>
                  </a:extLst>
                </a:gridCol>
              </a:tblGrid>
              <a:tr h="275478">
                <a:tc>
                  <a:txBody>
                    <a:bodyPr/>
                    <a:lstStyle/>
                    <a:p>
                      <a:r>
                        <a:rPr lang="en-IN" sz="1300" b="1">
                          <a:effectLst/>
                        </a:rPr>
                        <a:t>Operator</a:t>
                      </a:r>
                      <a:endParaRPr lang="en-IN" sz="1300">
                        <a:effectLst/>
                      </a:endParaRP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b="1">
                          <a:effectLst/>
                        </a:rPr>
                        <a:t>Description</a:t>
                      </a:r>
                      <a:endParaRPr lang="en-IN" sz="1300">
                        <a:effectLst/>
                      </a:endParaRP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b="1">
                          <a:effectLst/>
                        </a:rPr>
                        <a:t>Example</a:t>
                      </a:r>
                      <a:r>
                        <a:rPr lang="en-IN" sz="1300">
                          <a:effectLst/>
                        </a:rPr>
                        <a:t> </a:t>
                      </a:r>
                    </a:p>
                  </a:txBody>
                  <a:tcPr marL="64265" marR="64265" marT="32133" marB="32133" anchor="ctr">
                    <a:cell3D prstMaterial="dkEdge">
                      <a:bevel/>
                      <a:lightRig rig="flood" dir="t"/>
                    </a:cell3D>
                    <a:blipFill>
                      <a:blip r:embed="rId2"/>
                      <a:tile tx="0" ty="0" sx="100000" sy="100000" flip="none" algn="tl"/>
                    </a:blipFill>
                  </a:tcPr>
                </a:tc>
                <a:extLst>
                  <a:ext uri="{0D108BD9-81ED-4DB2-BD59-A6C34878D82A}">
                    <a16:rowId xmlns:a16="http://schemas.microsoft.com/office/drawing/2014/main" val="4140613477"/>
                  </a:ext>
                </a:extLst>
              </a:tr>
              <a:tr h="275478">
                <a:tc>
                  <a:txBody>
                    <a:bodyPr/>
                    <a:lstStyle/>
                    <a:p>
                      <a:r>
                        <a:rPr lang="en-IN" sz="1300">
                          <a:effectLst/>
                        </a:rPr>
                        <a:t>+ (Addition)</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US" sz="1300">
                          <a:effectLst/>
                        </a:rPr>
                        <a:t>Used to add two numbers</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a:effectLst/>
                        </a:rPr>
                        <a:t>x + y = 9</a:t>
                      </a:r>
                    </a:p>
                  </a:txBody>
                  <a:tcPr marL="64265" marR="64265" marT="32133" marB="32133" anchor="ctr">
                    <a:cell3D prstMaterial="dkEdge">
                      <a:bevel/>
                      <a:lightRig rig="flood" dir="t"/>
                    </a:cell3D>
                    <a:blipFill>
                      <a:blip r:embed="rId2"/>
                      <a:tile tx="0" ty="0" sx="100000" sy="100000" flip="none" algn="tl"/>
                    </a:blipFill>
                  </a:tcPr>
                </a:tc>
                <a:extLst>
                  <a:ext uri="{0D108BD9-81ED-4DB2-BD59-A6C34878D82A}">
                    <a16:rowId xmlns:a16="http://schemas.microsoft.com/office/drawing/2014/main" val="602906631"/>
                  </a:ext>
                </a:extLst>
              </a:tr>
              <a:tr h="674720">
                <a:tc>
                  <a:txBody>
                    <a:bodyPr/>
                    <a:lstStyle/>
                    <a:p>
                      <a:r>
                        <a:rPr lang="en-IN" sz="1300" dirty="0">
                          <a:effectLst/>
                        </a:rPr>
                        <a:t>- (Subtraction)</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US" sz="1300" dirty="0">
                          <a:effectLst/>
                        </a:rPr>
                        <a:t>Used to subtract the right-hand side value from the left-hand side value</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a:effectLst/>
                        </a:rPr>
                        <a:t>x - y = 5</a:t>
                      </a:r>
                    </a:p>
                  </a:txBody>
                  <a:tcPr marL="64265" marR="64265" marT="32133" marB="32133" anchor="ctr">
                    <a:cell3D prstMaterial="dkEdge">
                      <a:bevel/>
                      <a:lightRig rig="flood" dir="t"/>
                    </a:cell3D>
                    <a:blipFill>
                      <a:blip r:embed="rId2"/>
                      <a:tile tx="0" ty="0" sx="100000" sy="100000" flip="none" algn="tl"/>
                    </a:blipFill>
                  </a:tcPr>
                </a:tc>
                <a:extLst>
                  <a:ext uri="{0D108BD9-81ED-4DB2-BD59-A6C34878D82A}">
                    <a16:rowId xmlns:a16="http://schemas.microsoft.com/office/drawing/2014/main" val="4074452896"/>
                  </a:ext>
                </a:extLst>
              </a:tr>
              <a:tr h="308090">
                <a:tc>
                  <a:txBody>
                    <a:bodyPr/>
                    <a:lstStyle/>
                    <a:p>
                      <a:r>
                        <a:rPr lang="en-IN" sz="1300" dirty="0">
                          <a:effectLst/>
                        </a:rPr>
                        <a:t>* (Multiplication)</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US" sz="1300" dirty="0">
                          <a:effectLst/>
                        </a:rPr>
                        <a:t>Used to multiply two values.</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a:effectLst/>
                        </a:rPr>
                        <a:t>x * y = 14</a:t>
                      </a:r>
                    </a:p>
                  </a:txBody>
                  <a:tcPr marL="64265" marR="64265" marT="32133" marB="32133" anchor="ctr">
                    <a:cell3D prstMaterial="dkEdge">
                      <a:bevel/>
                      <a:lightRig rig="flood" dir="t"/>
                    </a:cell3D>
                    <a:blipFill>
                      <a:blip r:embed="rId2"/>
                      <a:tile tx="0" ty="0" sx="100000" sy="100000" flip="none" algn="tl"/>
                    </a:blipFill>
                  </a:tcPr>
                </a:tc>
                <a:extLst>
                  <a:ext uri="{0D108BD9-81ED-4DB2-BD59-A6C34878D82A}">
                    <a16:rowId xmlns:a16="http://schemas.microsoft.com/office/drawing/2014/main" val="2582878924"/>
                  </a:ext>
                </a:extLst>
              </a:tr>
              <a:tr h="483484">
                <a:tc>
                  <a:txBody>
                    <a:bodyPr/>
                    <a:lstStyle/>
                    <a:p>
                      <a:r>
                        <a:rPr lang="en-IN" sz="1300" dirty="0">
                          <a:effectLst/>
                        </a:rPr>
                        <a:t>/ (Division)</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US" sz="1300" dirty="0">
                          <a:effectLst/>
                        </a:rPr>
                        <a:t>Used to divide left-hand Value by right-hand value.</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dirty="0">
                          <a:effectLst/>
                        </a:rPr>
                        <a:t>x / y = 3</a:t>
                      </a:r>
                    </a:p>
                  </a:txBody>
                  <a:tcPr marL="64265" marR="64265" marT="32133" marB="32133" anchor="ctr">
                    <a:cell3D prstMaterial="dkEdge">
                      <a:bevel/>
                      <a:lightRig rig="flood" dir="t"/>
                    </a:cell3D>
                    <a:blipFill>
                      <a:blip r:embed="rId2"/>
                      <a:tile tx="0" ty="0" sx="100000" sy="100000" flip="none" algn="tl"/>
                    </a:blipFill>
                  </a:tcPr>
                </a:tc>
                <a:extLst>
                  <a:ext uri="{0D108BD9-81ED-4DB2-BD59-A6C34878D82A}">
                    <a16:rowId xmlns:a16="http://schemas.microsoft.com/office/drawing/2014/main" val="2722937240"/>
                  </a:ext>
                </a:extLst>
              </a:tr>
              <a:tr h="899494">
                <a:tc>
                  <a:txBody>
                    <a:bodyPr/>
                    <a:lstStyle/>
                    <a:p>
                      <a:r>
                        <a:rPr lang="en-IN" sz="1300" dirty="0">
                          <a:effectLst/>
                        </a:rPr>
                        <a:t>% (Modulus)</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US" sz="1300" dirty="0">
                          <a:effectLst/>
                        </a:rPr>
                        <a:t>Used to print the remainder after dividing the left-hand side value from</a:t>
                      </a:r>
                      <a:br>
                        <a:rPr lang="en-US" sz="1300" dirty="0">
                          <a:effectLst/>
                        </a:rPr>
                      </a:br>
                      <a:r>
                        <a:rPr lang="en-US" sz="1300" dirty="0">
                          <a:effectLst/>
                        </a:rPr>
                        <a:t>the right-hand side value.</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a:effectLst/>
                        </a:rPr>
                        <a:t>x % y = 1</a:t>
                      </a:r>
                    </a:p>
                  </a:txBody>
                  <a:tcPr marL="64265" marR="64265" marT="32133" marB="32133" anchor="ctr">
                    <a:cell3D prstMaterial="dkEdge">
                      <a:bevel/>
                      <a:lightRig rig="flood" dir="t"/>
                    </a:cell3D>
                    <a:blipFill>
                      <a:blip r:embed="rId2"/>
                      <a:tile tx="0" ty="0" sx="100000" sy="100000" flip="none" algn="tl"/>
                    </a:blipFill>
                  </a:tcPr>
                </a:tc>
                <a:extLst>
                  <a:ext uri="{0D108BD9-81ED-4DB2-BD59-A6C34878D82A}">
                    <a16:rowId xmlns:a16="http://schemas.microsoft.com/office/drawing/2014/main" val="3238958638"/>
                  </a:ext>
                </a:extLst>
              </a:tr>
              <a:tr h="472305">
                <a:tc>
                  <a:txBody>
                    <a:bodyPr/>
                    <a:lstStyle/>
                    <a:p>
                      <a:r>
                        <a:rPr lang="en-IN" sz="1300">
                          <a:effectLst/>
                        </a:rPr>
                        <a:t>++ (Increment)</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US" sz="1300">
                          <a:effectLst/>
                        </a:rPr>
                        <a:t>Increases the value of operand by 1.</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a:effectLst/>
                        </a:rPr>
                        <a:t>x++ = 8</a:t>
                      </a:r>
                    </a:p>
                  </a:txBody>
                  <a:tcPr marL="64265" marR="64265" marT="32133" marB="32133" anchor="ctr">
                    <a:cell3D prstMaterial="dkEdge">
                      <a:bevel/>
                      <a:lightRig rig="flood" dir="t"/>
                    </a:cell3D>
                    <a:blipFill>
                      <a:blip r:embed="rId2"/>
                      <a:tile tx="0" ty="0" sx="100000" sy="100000" flip="none" algn="tl"/>
                    </a:blipFill>
                  </a:tcPr>
                </a:tc>
                <a:extLst>
                  <a:ext uri="{0D108BD9-81ED-4DB2-BD59-A6C34878D82A}">
                    <a16:rowId xmlns:a16="http://schemas.microsoft.com/office/drawing/2014/main" val="2753703828"/>
                  </a:ext>
                </a:extLst>
              </a:tr>
              <a:tr h="472305">
                <a:tc>
                  <a:txBody>
                    <a:bodyPr/>
                    <a:lstStyle/>
                    <a:p>
                      <a:r>
                        <a:rPr lang="en-IN" sz="1300">
                          <a:effectLst/>
                        </a:rPr>
                        <a:t>-- (Decrement)</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US" sz="1300" dirty="0">
                          <a:effectLst/>
                        </a:rPr>
                        <a:t>Decreases the value of operand by 1.</a:t>
                      </a:r>
                    </a:p>
                  </a:txBody>
                  <a:tcPr marL="64265" marR="64265" marT="32133" marB="32133" anchor="ctr">
                    <a:cell3D prstMaterial="dkEdge">
                      <a:bevel/>
                      <a:lightRig rig="flood" dir="t"/>
                    </a:cell3D>
                    <a:blipFill>
                      <a:blip r:embed="rId2"/>
                      <a:tile tx="0" ty="0" sx="100000" sy="100000" flip="none" algn="tl"/>
                    </a:blipFill>
                  </a:tcPr>
                </a:tc>
                <a:tc>
                  <a:txBody>
                    <a:bodyPr/>
                    <a:lstStyle/>
                    <a:p>
                      <a:r>
                        <a:rPr lang="en-IN" sz="1300" dirty="0">
                          <a:effectLst/>
                        </a:rPr>
                        <a:t>y-- =  1</a:t>
                      </a:r>
                    </a:p>
                  </a:txBody>
                  <a:tcPr marL="64265" marR="64265" marT="32133" marB="32133" anchor="ctr">
                    <a:cell3D prstMaterial="dkEdge">
                      <a:bevel/>
                      <a:lightRig rig="flood" dir="t"/>
                    </a:cell3D>
                    <a:blipFill>
                      <a:blip r:embed="rId2"/>
                      <a:tile tx="0" ty="0" sx="100000" sy="100000" flip="none" algn="tl"/>
                    </a:blipFill>
                  </a:tcPr>
                </a:tc>
                <a:extLst>
                  <a:ext uri="{0D108BD9-81ED-4DB2-BD59-A6C34878D82A}">
                    <a16:rowId xmlns:a16="http://schemas.microsoft.com/office/drawing/2014/main" val="1340764237"/>
                  </a:ext>
                </a:extLst>
              </a:tr>
            </a:tbl>
          </a:graphicData>
        </a:graphic>
      </p:graphicFrame>
      <p:sp>
        <p:nvSpPr>
          <p:cNvPr id="7" name="Rectangle 1">
            <a:extLst>
              <a:ext uri="{FF2B5EF4-FFF2-40B4-BE49-F238E27FC236}">
                <a16:creationId xmlns:a16="http://schemas.microsoft.com/office/drawing/2014/main" id="{03F319EB-59FA-506F-AB7B-6B58701AC8A0}"/>
              </a:ext>
            </a:extLst>
          </p:cNvPr>
          <p:cNvSpPr>
            <a:spLocks noChangeArrowheads="1"/>
          </p:cNvSpPr>
          <p:nvPr/>
        </p:nvSpPr>
        <p:spPr bwMode="auto">
          <a:xfrm>
            <a:off x="-195926" y="1298768"/>
            <a:ext cx="12387926"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rgbClr val="000000"/>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rgbClr val="000000"/>
                </a:solidFill>
                <a:effectLst/>
                <a:latin typeface="Poppins" panose="00000500000000000000" pitchFamily="2" charset="0"/>
                <a:cs typeface="Poppins" panose="00000500000000000000" pitchFamily="2" charset="0"/>
              </a:rPr>
              <a:t>Arithmetic Operators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Arithmetic operators are used to perform mathematical operations such as addition, division, </a:t>
            </a:r>
            <a:r>
              <a:rPr kumimoji="0" lang="en-US" altLang="en-US" sz="1600" b="0" i="0" u="none" strike="noStrike" cap="none" normalizeH="0" baseline="0" dirty="0" err="1">
                <a:ln>
                  <a:noFill/>
                </a:ln>
                <a:solidFill>
                  <a:srgbClr val="000000"/>
                </a:solidFill>
                <a:effectLst/>
                <a:latin typeface="Poppins" panose="00000500000000000000" pitchFamily="2" charset="0"/>
                <a:cs typeface="Poppins" panose="00000500000000000000" pitchFamily="2" charset="0"/>
              </a:rPr>
              <a:t>etc</a:t>
            </a:r>
            <a:r>
              <a:rPr kumimoji="0" lang="en-US" altLang="en-US" sz="16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on expressions.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Arithmetic operators cannot work with Booleans.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operator can work on floats and doubles.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Let x=7 and y=2</a:t>
            </a:r>
            <a:br>
              <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br>
            <a:endPar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4927420"/>
      </p:ext>
    </p:extLst>
  </p:cSld>
  <p:clrMapOvr>
    <a:masterClrMapping/>
  </p:clrMapOvr>
  <p:transition spd="slow">
    <p:comb/>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50192B6-3D10-2157-8F14-C0AFD8D4FE33}"/>
              </a:ext>
            </a:extLst>
          </p:cNvPr>
          <p:cNvGraphicFramePr>
            <a:graphicFrameLocks noGrp="1"/>
          </p:cNvGraphicFramePr>
          <p:nvPr>
            <p:extLst>
              <p:ext uri="{D42A27DB-BD31-4B8C-83A1-F6EECF244321}">
                <p14:modId xmlns:p14="http://schemas.microsoft.com/office/powerpoint/2010/main" val="2634790491"/>
              </p:ext>
            </p:extLst>
          </p:nvPr>
        </p:nvGraphicFramePr>
        <p:xfrm>
          <a:off x="959222" y="1519053"/>
          <a:ext cx="9547413" cy="4836923"/>
        </p:xfrm>
        <a:graphic>
          <a:graphicData uri="http://schemas.openxmlformats.org/drawingml/2006/table">
            <a:tbl>
              <a:tblPr/>
              <a:tblGrid>
                <a:gridCol w="1617990">
                  <a:extLst>
                    <a:ext uri="{9D8B030D-6E8A-4147-A177-3AD203B41FA5}">
                      <a16:colId xmlns:a16="http://schemas.microsoft.com/office/drawing/2014/main" val="267973844"/>
                    </a:ext>
                  </a:extLst>
                </a:gridCol>
                <a:gridCol w="4054858">
                  <a:extLst>
                    <a:ext uri="{9D8B030D-6E8A-4147-A177-3AD203B41FA5}">
                      <a16:colId xmlns:a16="http://schemas.microsoft.com/office/drawing/2014/main" val="1487632651"/>
                    </a:ext>
                  </a:extLst>
                </a:gridCol>
                <a:gridCol w="3874565">
                  <a:extLst>
                    <a:ext uri="{9D8B030D-6E8A-4147-A177-3AD203B41FA5}">
                      <a16:colId xmlns:a16="http://schemas.microsoft.com/office/drawing/2014/main" val="2825364558"/>
                    </a:ext>
                  </a:extLst>
                </a:gridCol>
              </a:tblGrid>
              <a:tr h="306313">
                <a:tc>
                  <a:txBody>
                    <a:bodyPr/>
                    <a:lstStyle/>
                    <a:p>
                      <a:r>
                        <a:rPr lang="en-IN" sz="1400" b="1">
                          <a:solidFill>
                            <a:schemeClr val="bg1"/>
                          </a:solidFill>
                          <a:effectLst/>
                        </a:rPr>
                        <a:t>Operator</a:t>
                      </a:r>
                      <a:endParaRPr lang="en-IN" sz="1400">
                        <a:solidFill>
                          <a:schemeClr val="bg1"/>
                        </a:solidFill>
                        <a:effectLst/>
                      </a:endParaRP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IN" sz="1400" b="1">
                          <a:solidFill>
                            <a:schemeClr val="bg1"/>
                          </a:solidFill>
                          <a:effectLst/>
                        </a:rPr>
                        <a:t>Description</a:t>
                      </a:r>
                      <a:endParaRPr lang="en-IN" sz="1400">
                        <a:solidFill>
                          <a:schemeClr val="bg1"/>
                        </a:solidFill>
                        <a:effectLst/>
                      </a:endParaRP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IN" sz="1400" b="1">
                          <a:solidFill>
                            <a:schemeClr val="bg1"/>
                          </a:solidFill>
                          <a:effectLst/>
                        </a:rPr>
                        <a:t>Example</a:t>
                      </a:r>
                      <a:r>
                        <a:rPr lang="en-IN" sz="1400">
                          <a:solidFill>
                            <a:schemeClr val="bg1"/>
                          </a:solidFill>
                          <a:effectLst/>
                        </a:rPr>
                        <a:t> </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716845103"/>
                  </a:ext>
                </a:extLst>
              </a:tr>
              <a:tr h="573445">
                <a:tc>
                  <a:txBody>
                    <a:bodyPr/>
                    <a:lstStyle/>
                    <a:p>
                      <a:r>
                        <a:rPr lang="en-IN" sz="1400">
                          <a:solidFill>
                            <a:schemeClr val="bg1"/>
                          </a:solidFill>
                          <a:effectLst/>
                        </a:rPr>
                        <a:t>== (Equal to)</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US" sz="1400">
                          <a:solidFill>
                            <a:schemeClr val="bg1"/>
                          </a:solidFill>
                          <a:effectLst/>
                        </a:rPr>
                        <a:t>Checks if two operands are equal. Returns a boolean value.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IN" sz="1400">
                          <a:solidFill>
                            <a:schemeClr val="bg1"/>
                          </a:solidFill>
                          <a:effectLst/>
                        </a:rPr>
                        <a:t>x == y --&gt; False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250440226"/>
                  </a:ext>
                </a:extLst>
              </a:tr>
              <a:tr h="573445">
                <a:tc>
                  <a:txBody>
                    <a:bodyPr/>
                    <a:lstStyle/>
                    <a:p>
                      <a:r>
                        <a:rPr lang="en-IN" sz="1400">
                          <a:solidFill>
                            <a:schemeClr val="bg1"/>
                          </a:solidFill>
                          <a:effectLst/>
                        </a:rPr>
                        <a:t>!= (Not equal</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US" sz="1400">
                          <a:solidFill>
                            <a:schemeClr val="bg1"/>
                          </a:solidFill>
                          <a:effectLst/>
                        </a:rPr>
                        <a:t>Checks if two operands are not equal. Returns a boolean value.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IN" sz="1400">
                          <a:solidFill>
                            <a:schemeClr val="bg1"/>
                          </a:solidFill>
                          <a:effectLst/>
                        </a:rPr>
                        <a:t>x != y --&gt; True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1950688281"/>
                  </a:ext>
                </a:extLst>
              </a:tr>
              <a:tr h="840576">
                <a:tc>
                  <a:txBody>
                    <a:bodyPr/>
                    <a:lstStyle/>
                    <a:p>
                      <a:r>
                        <a:rPr lang="en-IN" sz="1400">
                          <a:solidFill>
                            <a:schemeClr val="bg1"/>
                          </a:solidFill>
                          <a:effectLst/>
                        </a:rPr>
                        <a:t>&gt; (Greater than)</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US" sz="1400" dirty="0">
                          <a:solidFill>
                            <a:schemeClr val="bg1"/>
                          </a:solidFill>
                          <a:effectLst/>
                        </a:rPr>
                        <a:t>Checks if the left-hand side value is greater than the right-hand side value. Returns a </a:t>
                      </a:r>
                      <a:r>
                        <a:rPr lang="en-US" sz="1400" dirty="0" err="1">
                          <a:solidFill>
                            <a:schemeClr val="bg1"/>
                          </a:solidFill>
                          <a:effectLst/>
                        </a:rPr>
                        <a:t>boolean</a:t>
                      </a:r>
                      <a:r>
                        <a:rPr lang="en-US" sz="1400" dirty="0">
                          <a:solidFill>
                            <a:schemeClr val="bg1"/>
                          </a:solidFill>
                          <a:effectLst/>
                        </a:rPr>
                        <a:t> value.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IN" sz="1400" dirty="0">
                          <a:solidFill>
                            <a:schemeClr val="bg1"/>
                          </a:solidFill>
                          <a:effectLst/>
                        </a:rPr>
                        <a:t>x &gt; y --&gt; True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696360229"/>
                  </a:ext>
                </a:extLst>
              </a:tr>
              <a:tr h="840576">
                <a:tc>
                  <a:txBody>
                    <a:bodyPr/>
                    <a:lstStyle/>
                    <a:p>
                      <a:r>
                        <a:rPr lang="en-IN" sz="1400">
                          <a:solidFill>
                            <a:schemeClr val="bg1"/>
                          </a:solidFill>
                          <a:effectLst/>
                        </a:rPr>
                        <a:t>&lt; (Less than)</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US" sz="1400">
                          <a:solidFill>
                            <a:schemeClr val="bg1"/>
                          </a:solidFill>
                          <a:effectLst/>
                        </a:rPr>
                        <a:t>Checks if the left-hand side value is smaller than the right-hand side value. Returns a boolean value.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IN" sz="1400" dirty="0">
                          <a:solidFill>
                            <a:schemeClr val="bg1"/>
                          </a:solidFill>
                          <a:effectLst/>
                        </a:rPr>
                        <a:t>x &lt; y --&gt; False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433267276"/>
                  </a:ext>
                </a:extLst>
              </a:tr>
              <a:tr h="861992">
                <a:tc>
                  <a:txBody>
                    <a:bodyPr/>
                    <a:lstStyle/>
                    <a:p>
                      <a:r>
                        <a:rPr lang="en-US" sz="1400">
                          <a:solidFill>
                            <a:schemeClr val="bg1"/>
                          </a:solidFill>
                          <a:effectLst/>
                        </a:rPr>
                        <a:t>&gt;=(Greater than or equal to)</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US" sz="1400">
                          <a:solidFill>
                            <a:schemeClr val="bg1"/>
                          </a:solidFill>
                          <a:effectLst/>
                        </a:rPr>
                        <a:t>Checks if the left-hand side value is greater than or equal to the right-hand side value. Returns a boolean value.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IN" sz="1400">
                          <a:solidFill>
                            <a:schemeClr val="bg1"/>
                          </a:solidFill>
                          <a:effectLst/>
                        </a:rPr>
                        <a:t>x &gt;= y --&gt; True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88287036"/>
                  </a:ext>
                </a:extLst>
              </a:tr>
              <a:tr h="840576">
                <a:tc>
                  <a:txBody>
                    <a:bodyPr/>
                    <a:lstStyle/>
                    <a:p>
                      <a:r>
                        <a:rPr lang="en-US" sz="1400">
                          <a:solidFill>
                            <a:schemeClr val="bg1"/>
                          </a:solidFill>
                          <a:effectLst/>
                        </a:rPr>
                        <a:t>&lt;= (Less than or equal to)</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US" sz="1400">
                          <a:solidFill>
                            <a:schemeClr val="bg1"/>
                          </a:solidFill>
                          <a:effectLst/>
                        </a:rPr>
                        <a:t>Checks if the left-hand side value is less than or equal to the right-hand side value. Returns a boolean value.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tc>
                  <a:txBody>
                    <a:bodyPr/>
                    <a:lstStyle/>
                    <a:p>
                      <a:r>
                        <a:rPr lang="en-IN" sz="1400" dirty="0">
                          <a:solidFill>
                            <a:schemeClr val="bg1"/>
                          </a:solidFill>
                          <a:effectLst/>
                        </a:rPr>
                        <a:t>x &lt;= y --&gt;False</a:t>
                      </a:r>
                    </a:p>
                  </a:txBody>
                  <a:tcPr marL="31294" marR="31294" marT="15647" marB="15647"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294729828"/>
                  </a:ext>
                </a:extLst>
              </a:tr>
            </a:tbl>
          </a:graphicData>
        </a:graphic>
      </p:graphicFrame>
      <p:sp>
        <p:nvSpPr>
          <p:cNvPr id="3" name="Rectangle 1">
            <a:extLst>
              <a:ext uri="{FF2B5EF4-FFF2-40B4-BE49-F238E27FC236}">
                <a16:creationId xmlns:a16="http://schemas.microsoft.com/office/drawing/2014/main" id="{FED1A0E4-881B-B3B9-A46C-1FB31945E4B2}"/>
              </a:ext>
            </a:extLst>
          </p:cNvPr>
          <p:cNvSpPr>
            <a:spLocks noChangeArrowheads="1"/>
          </p:cNvSpPr>
          <p:nvPr/>
        </p:nvSpPr>
        <p:spPr bwMode="auto">
          <a:xfrm>
            <a:off x="-125505" y="29785"/>
            <a:ext cx="10632140"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5392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Poppins" panose="00000500000000000000" pitchFamily="2" charset="0"/>
                <a:cs typeface="Poppins" panose="00000500000000000000" pitchFamily="2" charset="0"/>
              </a:rPr>
              <a:t>Comparison Operators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As the name suggests, these operators are used to compare two operands.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Let x=7 and y=2</a:t>
            </a:r>
            <a:br>
              <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br>
            <a:br>
              <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br>
            <a:endPar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013640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C9A2B44-A12F-2AE7-78DD-FE68556B54C2}"/>
              </a:ext>
            </a:extLst>
          </p:cNvPr>
          <p:cNvGraphicFramePr>
            <a:graphicFrameLocks noGrp="1"/>
          </p:cNvGraphicFramePr>
          <p:nvPr>
            <p:extLst>
              <p:ext uri="{D42A27DB-BD31-4B8C-83A1-F6EECF244321}">
                <p14:modId xmlns:p14="http://schemas.microsoft.com/office/powerpoint/2010/main" val="3319705802"/>
              </p:ext>
            </p:extLst>
          </p:nvPr>
        </p:nvGraphicFramePr>
        <p:xfrm>
          <a:off x="1613647" y="2490310"/>
          <a:ext cx="7620001" cy="3192913"/>
        </p:xfrm>
        <a:graphic>
          <a:graphicData uri="http://schemas.openxmlformats.org/drawingml/2006/table">
            <a:tbl>
              <a:tblPr/>
              <a:tblGrid>
                <a:gridCol w="1314439">
                  <a:extLst>
                    <a:ext uri="{9D8B030D-6E8A-4147-A177-3AD203B41FA5}">
                      <a16:colId xmlns:a16="http://schemas.microsoft.com/office/drawing/2014/main" val="1250936600"/>
                    </a:ext>
                  </a:extLst>
                </a:gridCol>
                <a:gridCol w="4523975">
                  <a:extLst>
                    <a:ext uri="{9D8B030D-6E8A-4147-A177-3AD203B41FA5}">
                      <a16:colId xmlns:a16="http://schemas.microsoft.com/office/drawing/2014/main" val="1859802740"/>
                    </a:ext>
                  </a:extLst>
                </a:gridCol>
                <a:gridCol w="1781587">
                  <a:extLst>
                    <a:ext uri="{9D8B030D-6E8A-4147-A177-3AD203B41FA5}">
                      <a16:colId xmlns:a16="http://schemas.microsoft.com/office/drawing/2014/main" val="4188696371"/>
                    </a:ext>
                  </a:extLst>
                </a:gridCol>
              </a:tblGrid>
              <a:tr h="1242825">
                <a:tc>
                  <a:txBody>
                    <a:bodyPr/>
                    <a:lstStyle/>
                    <a:p>
                      <a:r>
                        <a:rPr lang="en-IN">
                          <a:solidFill>
                            <a:schemeClr val="bg1"/>
                          </a:solidFill>
                          <a:effectLst/>
                        </a:rPr>
                        <a:t>&amp;&amp; (logical and)</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tc>
                  <a:txBody>
                    <a:bodyPr/>
                    <a:lstStyle/>
                    <a:p>
                      <a:r>
                        <a:rPr lang="en-US" dirty="0">
                          <a:solidFill>
                            <a:schemeClr val="bg1"/>
                          </a:solidFill>
                          <a:effectLst/>
                        </a:rPr>
                        <a:t>Returns true if both operands are true.</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tc>
                  <a:txBody>
                    <a:bodyPr/>
                    <a:lstStyle/>
                    <a:p>
                      <a:r>
                        <a:rPr lang="es-ES">
                          <a:solidFill>
                            <a:schemeClr val="bg1"/>
                          </a:solidFill>
                          <a:effectLst/>
                        </a:rPr>
                        <a:t>x&lt;y &amp;&amp; x!=y --&gt; True</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extLst>
                  <a:ext uri="{0D108BD9-81ED-4DB2-BD59-A6C34878D82A}">
                    <a16:rowId xmlns:a16="http://schemas.microsoft.com/office/drawing/2014/main" val="1296036585"/>
                  </a:ext>
                </a:extLst>
              </a:tr>
              <a:tr h="869977">
                <a:tc>
                  <a:txBody>
                    <a:bodyPr/>
                    <a:lstStyle/>
                    <a:p>
                      <a:r>
                        <a:rPr lang="en-IN">
                          <a:solidFill>
                            <a:schemeClr val="bg1"/>
                          </a:solidFill>
                          <a:effectLst/>
                        </a:rPr>
                        <a:t>|| (logical or)</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tc>
                  <a:txBody>
                    <a:bodyPr/>
                    <a:lstStyle/>
                    <a:p>
                      <a:r>
                        <a:rPr lang="en-US">
                          <a:solidFill>
                            <a:schemeClr val="bg1"/>
                          </a:solidFill>
                          <a:effectLst/>
                        </a:rPr>
                        <a:t>Returns true if any of the operand is true.</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tc>
                  <a:txBody>
                    <a:bodyPr/>
                    <a:lstStyle/>
                    <a:p>
                      <a:r>
                        <a:rPr lang="es-ES">
                          <a:solidFill>
                            <a:schemeClr val="bg1"/>
                          </a:solidFill>
                          <a:effectLst/>
                        </a:rPr>
                        <a:t>x&lt;y &amp;&amp; x==y --&gt; True</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extLst>
                  <a:ext uri="{0D108BD9-81ED-4DB2-BD59-A6C34878D82A}">
                    <a16:rowId xmlns:a16="http://schemas.microsoft.com/office/drawing/2014/main" val="2005624644"/>
                  </a:ext>
                </a:extLst>
              </a:tr>
              <a:tr h="1035688">
                <a:tc>
                  <a:txBody>
                    <a:bodyPr/>
                    <a:lstStyle/>
                    <a:p>
                      <a:r>
                        <a:rPr lang="en-IN">
                          <a:solidFill>
                            <a:schemeClr val="bg1"/>
                          </a:solidFill>
                          <a:effectLst/>
                        </a:rPr>
                        <a:t>! (logical not)</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tc>
                  <a:txBody>
                    <a:bodyPr/>
                    <a:lstStyle/>
                    <a:p>
                      <a:r>
                        <a:rPr lang="en-US" dirty="0">
                          <a:solidFill>
                            <a:schemeClr val="bg1"/>
                          </a:solidFill>
                          <a:effectLst/>
                        </a:rPr>
                        <a:t>Returns true if the result of the expression is false and vice-versa</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tc>
                  <a:txBody>
                    <a:bodyPr/>
                    <a:lstStyle/>
                    <a:p>
                      <a:r>
                        <a:rPr lang="es-ES" dirty="0">
                          <a:solidFill>
                            <a:schemeClr val="bg1"/>
                          </a:solidFill>
                          <a:effectLst/>
                        </a:rPr>
                        <a:t>!(x&lt;y &amp;&amp; x==y) --&gt; False</a:t>
                      </a: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cell3D prstMaterial="dkEdge">
                      <a:bevel prst="relaxedInset"/>
                      <a:lightRig rig="flood" dir="t"/>
                    </a:cell3D>
                    <a:blipFill>
                      <a:blip r:embed="rId2"/>
                      <a:tile tx="0" ty="0" sx="100000" sy="100000" flip="none" algn="tl"/>
                    </a:blipFill>
                  </a:tcPr>
                </a:tc>
                <a:extLst>
                  <a:ext uri="{0D108BD9-81ED-4DB2-BD59-A6C34878D82A}">
                    <a16:rowId xmlns:a16="http://schemas.microsoft.com/office/drawing/2014/main" val="289069015"/>
                  </a:ext>
                </a:extLst>
              </a:tr>
            </a:tbl>
          </a:graphicData>
        </a:graphic>
      </p:graphicFrame>
      <p:sp>
        <p:nvSpPr>
          <p:cNvPr id="6" name="Rectangle 2">
            <a:extLst>
              <a:ext uri="{FF2B5EF4-FFF2-40B4-BE49-F238E27FC236}">
                <a16:creationId xmlns:a16="http://schemas.microsoft.com/office/drawing/2014/main" id="{BB9296A9-E104-4C77-6E92-F907762650F7}"/>
              </a:ext>
            </a:extLst>
          </p:cNvPr>
          <p:cNvSpPr>
            <a:spLocks noChangeArrowheads="1"/>
          </p:cNvSpPr>
          <p:nvPr/>
        </p:nvSpPr>
        <p:spPr bwMode="auto">
          <a:xfrm>
            <a:off x="-153784" y="-60643"/>
            <a:ext cx="10750066" cy="195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5392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bg1"/>
                </a:solidFill>
                <a:effectLst/>
                <a:latin typeface="Poppins" panose="00000500000000000000" pitchFamily="2" charset="0"/>
                <a:cs typeface="Poppins" panose="00000500000000000000" pitchFamily="2" charset="0"/>
              </a:rPr>
              <a:t>Logical Operators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These operators determine the logic in an expression containing two or more values or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Let x = 8 and y =2</a:t>
            </a:r>
            <a:br>
              <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br>
            <a:endPar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09884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7BF0314-0FB4-A959-E593-588205785DF0}"/>
              </a:ext>
            </a:extLst>
          </p:cNvPr>
          <p:cNvGraphicFramePr>
            <a:graphicFrameLocks noGrp="1"/>
          </p:cNvGraphicFramePr>
          <p:nvPr>
            <p:extLst>
              <p:ext uri="{D42A27DB-BD31-4B8C-83A1-F6EECF244321}">
                <p14:modId xmlns:p14="http://schemas.microsoft.com/office/powerpoint/2010/main" val="2669065074"/>
              </p:ext>
            </p:extLst>
          </p:nvPr>
        </p:nvGraphicFramePr>
        <p:xfrm>
          <a:off x="591670" y="1517477"/>
          <a:ext cx="9556377" cy="4227421"/>
        </p:xfrm>
        <a:graphic>
          <a:graphicData uri="http://schemas.openxmlformats.org/drawingml/2006/table">
            <a:tbl>
              <a:tblPr/>
              <a:tblGrid>
                <a:gridCol w="971065">
                  <a:extLst>
                    <a:ext uri="{9D8B030D-6E8A-4147-A177-3AD203B41FA5}">
                      <a16:colId xmlns:a16="http://schemas.microsoft.com/office/drawing/2014/main" val="389412307"/>
                    </a:ext>
                  </a:extLst>
                </a:gridCol>
                <a:gridCol w="4815123">
                  <a:extLst>
                    <a:ext uri="{9D8B030D-6E8A-4147-A177-3AD203B41FA5}">
                      <a16:colId xmlns:a16="http://schemas.microsoft.com/office/drawing/2014/main" val="641582984"/>
                    </a:ext>
                  </a:extLst>
                </a:gridCol>
                <a:gridCol w="3770189">
                  <a:extLst>
                    <a:ext uri="{9D8B030D-6E8A-4147-A177-3AD203B41FA5}">
                      <a16:colId xmlns:a16="http://schemas.microsoft.com/office/drawing/2014/main" val="3930599469"/>
                    </a:ext>
                  </a:extLst>
                </a:gridCol>
              </a:tblGrid>
              <a:tr h="471594">
                <a:tc>
                  <a:txBody>
                    <a:bodyPr/>
                    <a:lstStyle/>
                    <a:p>
                      <a:r>
                        <a:rPr lang="en-IN" sz="1600" b="1">
                          <a:solidFill>
                            <a:schemeClr val="bg1"/>
                          </a:solidFill>
                          <a:effectLst/>
                        </a:rPr>
                        <a:t>Operator </a:t>
                      </a:r>
                      <a:endParaRPr lang="en-IN" sz="1600">
                        <a:solidFill>
                          <a:schemeClr val="bg1"/>
                        </a:solidFill>
                        <a:effectLst/>
                      </a:endParaRP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IN" sz="1600" b="1">
                          <a:solidFill>
                            <a:schemeClr val="bg1"/>
                          </a:solidFill>
                          <a:effectLst/>
                        </a:rPr>
                        <a:t>Description</a:t>
                      </a:r>
                      <a:endParaRPr lang="en-IN" sz="1600">
                        <a:solidFill>
                          <a:schemeClr val="bg1"/>
                        </a:solidFill>
                        <a:effectLst/>
                      </a:endParaRP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IN" sz="1600" b="1">
                          <a:solidFill>
                            <a:schemeClr val="bg1"/>
                          </a:solidFill>
                          <a:effectLst/>
                        </a:rPr>
                        <a:t>Example</a:t>
                      </a:r>
                      <a:endParaRPr lang="en-IN" sz="1600">
                        <a:solidFill>
                          <a:schemeClr val="bg1"/>
                        </a:solidFill>
                        <a:effectLst/>
                      </a:endParaRP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3185846983"/>
                  </a:ext>
                </a:extLst>
              </a:tr>
              <a:tr h="687703">
                <a:tc>
                  <a:txBody>
                    <a:bodyPr/>
                    <a:lstStyle/>
                    <a:p>
                      <a:r>
                        <a:rPr lang="en-IN" sz="1600">
                          <a:solidFill>
                            <a:schemeClr val="bg1"/>
                          </a:solidFill>
                          <a:effectLst/>
                        </a:rPr>
                        <a:t>&amp; (bitwise and)</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IN" sz="1600" dirty="0">
                          <a:solidFill>
                            <a:schemeClr val="bg1"/>
                          </a:solidFill>
                          <a:effectLst/>
                        </a:rPr>
                        <a:t>1&amp;1 =1, 0&amp;1=0,1&amp;0=0,1&amp;1=1, 0&amp;0 =0</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pt-BR" sz="1600">
                          <a:solidFill>
                            <a:schemeClr val="bg1"/>
                          </a:solidFill>
                          <a:effectLst/>
                        </a:rPr>
                        <a:t>(A &amp; B) = (100 &amp; 011) = 000</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887838904"/>
                  </a:ext>
                </a:extLst>
              </a:tr>
              <a:tr h="687703">
                <a:tc>
                  <a:txBody>
                    <a:bodyPr/>
                    <a:lstStyle/>
                    <a:p>
                      <a:r>
                        <a:rPr lang="en-IN" sz="1600">
                          <a:solidFill>
                            <a:schemeClr val="bg1"/>
                          </a:solidFill>
                          <a:effectLst/>
                        </a:rPr>
                        <a:t>| (bitwise or)</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IN" sz="1600">
                          <a:solidFill>
                            <a:schemeClr val="bg1"/>
                          </a:solidFill>
                          <a:effectLst/>
                        </a:rPr>
                        <a:t>1&amp;0 =1, 0&amp;1=1,1&amp;1=1, 0&amp;0=0</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pt-BR" sz="1600">
                          <a:solidFill>
                            <a:schemeClr val="bg1"/>
                          </a:solidFill>
                          <a:effectLst/>
                        </a:rPr>
                        <a:t>(A | B)  = (100 | 011 ) = 111</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2244105842"/>
                  </a:ext>
                </a:extLst>
              </a:tr>
              <a:tr h="754461">
                <a:tc>
                  <a:txBody>
                    <a:bodyPr/>
                    <a:lstStyle/>
                    <a:p>
                      <a:r>
                        <a:rPr lang="en-IN" sz="1600">
                          <a:solidFill>
                            <a:schemeClr val="bg1"/>
                          </a:solidFill>
                          <a:effectLst/>
                        </a:rPr>
                        <a:t>^ (bitwise XOR)</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IN" sz="1600" dirty="0">
                          <a:solidFill>
                            <a:schemeClr val="bg1"/>
                          </a:solidFill>
                          <a:effectLst/>
                        </a:rPr>
                        <a:t>1&amp;0 =1, 0&amp;1=1,1&amp;1=0, 0&amp;0=0</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pt-BR" sz="1600">
                          <a:solidFill>
                            <a:schemeClr val="bg1"/>
                          </a:solidFill>
                          <a:effectLst/>
                        </a:rPr>
                        <a:t>(A ^ B) = (100 ^ 011 ) = 111</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1247637289"/>
                  </a:ext>
                </a:extLst>
              </a:tr>
              <a:tr h="613000">
                <a:tc>
                  <a:txBody>
                    <a:bodyPr/>
                    <a:lstStyle/>
                    <a:p>
                      <a:r>
                        <a:rPr lang="en-IN" sz="1600">
                          <a:solidFill>
                            <a:schemeClr val="bg1"/>
                          </a:solidFill>
                          <a:effectLst/>
                        </a:rPr>
                        <a:t>&lt;&lt; (left shift)</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US" sz="1600" dirty="0">
                          <a:solidFill>
                            <a:schemeClr val="bg1"/>
                          </a:solidFill>
                          <a:effectLst/>
                        </a:rPr>
                        <a:t>This operator moves the value left by the number of bits specified. </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IN" sz="1600">
                          <a:solidFill>
                            <a:schemeClr val="bg1"/>
                          </a:solidFill>
                          <a:effectLst/>
                        </a:rPr>
                        <a:t>13&lt;&lt;2 = 52(decimal)</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1664408777"/>
                  </a:ext>
                </a:extLst>
              </a:tr>
              <a:tr h="754461">
                <a:tc>
                  <a:txBody>
                    <a:bodyPr/>
                    <a:lstStyle/>
                    <a:p>
                      <a:r>
                        <a:rPr lang="en-IN" sz="1600">
                          <a:solidFill>
                            <a:schemeClr val="bg1"/>
                          </a:solidFill>
                          <a:effectLst/>
                        </a:rPr>
                        <a:t>&gt;&gt; (right shift)</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US" sz="1600" dirty="0">
                          <a:solidFill>
                            <a:schemeClr val="bg1"/>
                          </a:solidFill>
                          <a:effectLst/>
                        </a:rPr>
                        <a:t>This operator moves the value left by the number of bits specified. </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tc>
                  <a:txBody>
                    <a:bodyPr/>
                    <a:lstStyle/>
                    <a:p>
                      <a:r>
                        <a:rPr lang="en-IN" sz="1600" dirty="0">
                          <a:solidFill>
                            <a:schemeClr val="bg1"/>
                          </a:solidFill>
                          <a:effectLst/>
                        </a:rPr>
                        <a:t>13&gt;&gt;2 = 3(decimal)</a:t>
                      </a:r>
                    </a:p>
                  </a:txBody>
                  <a:tcPr marL="44430" marR="44430" marT="22215" marB="22215"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blipFill>
                      <a:blip r:embed="rId2"/>
                      <a:tile tx="0" ty="0" sx="100000" sy="100000" flip="none" algn="tl"/>
                    </a:blipFill>
                  </a:tcPr>
                </a:tc>
                <a:extLst>
                  <a:ext uri="{0D108BD9-81ED-4DB2-BD59-A6C34878D82A}">
                    <a16:rowId xmlns:a16="http://schemas.microsoft.com/office/drawing/2014/main" val="3915127085"/>
                  </a:ext>
                </a:extLst>
              </a:tr>
            </a:tbl>
          </a:graphicData>
        </a:graphic>
      </p:graphicFrame>
      <p:sp>
        <p:nvSpPr>
          <p:cNvPr id="7" name="Rectangle 2">
            <a:extLst>
              <a:ext uri="{FF2B5EF4-FFF2-40B4-BE49-F238E27FC236}">
                <a16:creationId xmlns:a16="http://schemas.microsoft.com/office/drawing/2014/main" id="{82452B26-605F-209C-94AA-B35F941022D2}"/>
              </a:ext>
            </a:extLst>
          </p:cNvPr>
          <p:cNvSpPr>
            <a:spLocks noChangeArrowheads="1"/>
          </p:cNvSpPr>
          <p:nvPr/>
        </p:nvSpPr>
        <p:spPr bwMode="auto">
          <a:xfrm>
            <a:off x="93688" y="-212100"/>
            <a:ext cx="9207568"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rgbClr val="000000"/>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4000" b="1" i="0" u="none" strike="noStrike" cap="none" normalizeH="0" baseline="0" dirty="0">
                <a:ln>
                  <a:noFill/>
                </a:ln>
                <a:solidFill>
                  <a:srgbClr val="000000"/>
                </a:solidFill>
                <a:effectLst/>
                <a:latin typeface="Poppins" panose="00000500000000000000" pitchFamily="2" charset="0"/>
                <a:cs typeface="Poppins" panose="00000500000000000000" pitchFamily="2" charset="0"/>
              </a:rPr>
              <a:t>Bitwise Operators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These operators perform the operations on every bit of a number.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Let x =2 and y=3. So 2 in binary is 100, and 3 is 011. </a:t>
            </a:r>
            <a:br>
              <a:rPr kumimoji="0" lang="en-US" altLang="en-US" sz="20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br>
            <a:br>
              <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br>
            <a:endPar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3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114BAA8B-67A6-6E6F-9023-E335A8D69577}"/>
              </a:ext>
            </a:extLst>
          </p:cNvPr>
          <p:cNvSpPr txBox="1"/>
          <p:nvPr/>
        </p:nvSpPr>
        <p:spPr>
          <a:xfrm>
            <a:off x="93688" y="5744898"/>
            <a:ext cx="12277605" cy="1015663"/>
          </a:xfrm>
          <a:prstGeom prst="rect">
            <a:avLst/>
          </a:prstGeom>
          <a:noFill/>
        </p:spPr>
        <p:txBody>
          <a:bodyPr wrap="square">
            <a:spAutoFit/>
          </a:bodyPr>
          <a:lstStyle/>
          <a:p>
            <a:pPr algn="l"/>
            <a:r>
              <a:rPr lang="en-US" b="1" i="0" dirty="0">
                <a:solidFill>
                  <a:schemeClr val="bg1"/>
                </a:solidFill>
                <a:effectLst/>
                <a:latin typeface="Poppins" panose="00000500000000000000" pitchFamily="2" charset="0"/>
              </a:rPr>
              <a:t>Precedence of operators</a:t>
            </a:r>
          </a:p>
          <a:p>
            <a:pPr algn="l"/>
            <a:r>
              <a:rPr lang="en-US" sz="1400" b="0" i="0" dirty="0">
                <a:solidFill>
                  <a:srgbClr val="000000"/>
                </a:solidFill>
                <a:effectLst/>
                <a:latin typeface="Poppins" panose="00000500000000000000" pitchFamily="2" charset="0"/>
              </a:rPr>
              <a:t>The operators are applied and evaluated based on precedence. For example, (+, -) has less precedence compared to (*, /). Hence * and / are evaluated first.</a:t>
            </a:r>
          </a:p>
          <a:p>
            <a:pPr algn="l"/>
            <a:r>
              <a:rPr lang="en-US" sz="1400" b="0" i="0" dirty="0">
                <a:solidFill>
                  <a:srgbClr val="000000"/>
                </a:solidFill>
                <a:effectLst/>
                <a:latin typeface="Poppins" panose="00000500000000000000" pitchFamily="2" charset="0"/>
              </a:rPr>
              <a:t>In case we like to change this order, we use parenthesis ().</a:t>
            </a:r>
          </a:p>
        </p:txBody>
      </p:sp>
    </p:spTree>
    <p:extLst>
      <p:ext uri="{BB962C8B-B14F-4D97-AF65-F5344CB8AC3E}">
        <p14:creationId xmlns:p14="http://schemas.microsoft.com/office/powerpoint/2010/main" val="368281438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A11F5E-713F-8A42-BDC1-F26E1E05EF9E}"/>
              </a:ext>
            </a:extLst>
          </p:cNvPr>
          <p:cNvSpPr txBox="1"/>
          <p:nvPr/>
        </p:nvSpPr>
        <p:spPr>
          <a:xfrm>
            <a:off x="0" y="302359"/>
            <a:ext cx="12192000" cy="655564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400" dirty="0"/>
              <a:t>// </a:t>
            </a:r>
            <a:r>
              <a:rPr lang="en-IN" sz="1400" dirty="0">
                <a:solidFill>
                  <a:srgbClr val="FF0000"/>
                </a:solidFill>
              </a:rPr>
              <a:t>OPERATORS PROGRAM</a:t>
            </a:r>
          </a:p>
          <a:p>
            <a:r>
              <a:rPr lang="en-IN" sz="1400" dirty="0"/>
              <a:t>package </a:t>
            </a:r>
            <a:r>
              <a:rPr lang="en-IN" sz="1400" dirty="0" err="1"/>
              <a:t>com.company</a:t>
            </a:r>
            <a:r>
              <a:rPr lang="en-IN" sz="1400" dirty="0"/>
              <a:t>;</a:t>
            </a:r>
          </a:p>
          <a:p>
            <a:endParaRPr lang="en-IN" sz="1400" dirty="0"/>
          </a:p>
          <a:p>
            <a:r>
              <a:rPr lang="en-IN" sz="1400" dirty="0"/>
              <a:t>public class CWH_Ch2_Operators {</a:t>
            </a:r>
          </a:p>
          <a:p>
            <a:r>
              <a:rPr lang="en-IN" sz="1400" dirty="0"/>
              <a:t>    public static void main(String[] </a:t>
            </a:r>
            <a:r>
              <a:rPr lang="en-IN" sz="1400" dirty="0" err="1"/>
              <a:t>args</a:t>
            </a:r>
            <a:r>
              <a:rPr lang="en-IN" sz="1400" dirty="0"/>
              <a:t>) {</a:t>
            </a:r>
          </a:p>
          <a:p>
            <a:r>
              <a:rPr lang="en-IN" sz="1400" dirty="0"/>
              <a:t>        // 1. Arithmetic Operators</a:t>
            </a:r>
          </a:p>
          <a:p>
            <a:r>
              <a:rPr lang="en-IN" sz="1400" dirty="0"/>
              <a:t>        int a = 4;</a:t>
            </a:r>
          </a:p>
          <a:p>
            <a:r>
              <a:rPr lang="en-IN" sz="1400" dirty="0"/>
              <a:t>        // int b = 6 % a; // Modulo Operator</a:t>
            </a:r>
          </a:p>
          <a:p>
            <a:r>
              <a:rPr lang="en-IN" sz="1400" dirty="0"/>
              <a:t>        // 4.8%1.1 --&gt; Returns Decimal Remainder</a:t>
            </a:r>
          </a:p>
          <a:p>
            <a:endParaRPr lang="en-IN" sz="1400" dirty="0"/>
          </a:p>
          <a:p>
            <a:r>
              <a:rPr lang="en-IN" sz="1400" dirty="0"/>
              <a:t>        // 2. Assignment Operators</a:t>
            </a:r>
          </a:p>
          <a:p>
            <a:r>
              <a:rPr lang="en-IN" sz="1400" dirty="0"/>
              <a:t>        int b = 9;</a:t>
            </a:r>
          </a:p>
          <a:p>
            <a:r>
              <a:rPr lang="en-IN" sz="1400" dirty="0"/>
              <a:t>        b *= 3;</a:t>
            </a:r>
          </a:p>
          <a:p>
            <a:r>
              <a:rPr lang="en-IN" sz="1400" dirty="0"/>
              <a:t>        </a:t>
            </a:r>
            <a:r>
              <a:rPr lang="en-IN" sz="1400" dirty="0" err="1"/>
              <a:t>System.out.println</a:t>
            </a:r>
            <a:r>
              <a:rPr lang="en-IN" sz="1400" dirty="0"/>
              <a:t>(b);</a:t>
            </a:r>
          </a:p>
          <a:p>
            <a:endParaRPr lang="en-IN" sz="1400" dirty="0"/>
          </a:p>
          <a:p>
            <a:r>
              <a:rPr lang="en-IN" sz="1400" dirty="0"/>
              <a:t>        // 3. Comparison Operators</a:t>
            </a:r>
          </a:p>
          <a:p>
            <a:r>
              <a:rPr lang="en-IN" sz="1400" dirty="0"/>
              <a:t>        // </a:t>
            </a:r>
            <a:r>
              <a:rPr lang="en-IN" sz="1400" dirty="0" err="1"/>
              <a:t>System.out.println</a:t>
            </a:r>
            <a:r>
              <a:rPr lang="en-IN" sz="1400" dirty="0"/>
              <a:t>(64&lt;6);</a:t>
            </a:r>
          </a:p>
          <a:p>
            <a:endParaRPr lang="en-IN" sz="1400" dirty="0"/>
          </a:p>
          <a:p>
            <a:r>
              <a:rPr lang="en-IN" sz="1400" dirty="0"/>
              <a:t>        // 4. Logical Operators</a:t>
            </a:r>
          </a:p>
          <a:p>
            <a:r>
              <a:rPr lang="en-IN" sz="1400" dirty="0"/>
              <a:t>        // </a:t>
            </a:r>
            <a:r>
              <a:rPr lang="en-IN" sz="1400" dirty="0" err="1"/>
              <a:t>System.out.println</a:t>
            </a:r>
            <a:r>
              <a:rPr lang="en-IN" sz="1400" dirty="0"/>
              <a:t>(64&gt;5 &amp;&amp; 64&gt;98);</a:t>
            </a:r>
          </a:p>
          <a:p>
            <a:r>
              <a:rPr lang="en-IN" sz="1400" dirty="0"/>
              <a:t>        </a:t>
            </a:r>
            <a:r>
              <a:rPr lang="en-IN" sz="1400" dirty="0" err="1"/>
              <a:t>System.out.println</a:t>
            </a:r>
            <a:r>
              <a:rPr lang="en-IN" sz="1400" dirty="0"/>
              <a:t>(64&gt;5 || 64&gt;98);</a:t>
            </a:r>
          </a:p>
          <a:p>
            <a:endParaRPr lang="en-IN" sz="1400" dirty="0"/>
          </a:p>
          <a:p>
            <a:r>
              <a:rPr lang="en-IN" sz="1400" dirty="0"/>
              <a:t>        // 5. Bitwise Operators</a:t>
            </a:r>
          </a:p>
          <a:p>
            <a:r>
              <a:rPr lang="en-IN" sz="1400" dirty="0"/>
              <a:t>        </a:t>
            </a:r>
            <a:r>
              <a:rPr lang="en-IN" sz="1400" dirty="0" err="1"/>
              <a:t>System.out.println</a:t>
            </a:r>
            <a:r>
              <a:rPr lang="en-IN" sz="1400" dirty="0"/>
              <a:t>(2&amp;3);</a:t>
            </a:r>
          </a:p>
          <a:p>
            <a:r>
              <a:rPr lang="en-IN" sz="1400" dirty="0"/>
              <a:t>        //        10</a:t>
            </a:r>
          </a:p>
          <a:p>
            <a:r>
              <a:rPr lang="en-IN" sz="1400" dirty="0"/>
              <a:t>        //        11</a:t>
            </a:r>
          </a:p>
          <a:p>
            <a:r>
              <a:rPr lang="en-IN" sz="1400" dirty="0"/>
              <a:t>        //        ----</a:t>
            </a:r>
          </a:p>
          <a:p>
            <a:r>
              <a:rPr lang="en-IN" sz="1400" dirty="0"/>
              <a:t>        //        10</a:t>
            </a:r>
          </a:p>
          <a:p>
            <a:r>
              <a:rPr lang="en-IN" sz="1400" dirty="0"/>
              <a:t>    }</a:t>
            </a:r>
          </a:p>
          <a:p>
            <a:r>
              <a:rPr lang="en-IN" sz="1400" dirty="0"/>
              <a:t>}</a:t>
            </a:r>
          </a:p>
        </p:txBody>
      </p:sp>
      <p:sp>
        <p:nvSpPr>
          <p:cNvPr id="7" name="TextBox 6">
            <a:extLst>
              <a:ext uri="{FF2B5EF4-FFF2-40B4-BE49-F238E27FC236}">
                <a16:creationId xmlns:a16="http://schemas.microsoft.com/office/drawing/2014/main" id="{0FBEB83B-92BD-222A-D666-4572DC3B82E3}"/>
              </a:ext>
            </a:extLst>
          </p:cNvPr>
          <p:cNvSpPr txBox="1"/>
          <p:nvPr/>
        </p:nvSpPr>
        <p:spPr>
          <a:xfrm>
            <a:off x="0" y="-6132"/>
            <a:ext cx="6110286" cy="369332"/>
          </a:xfrm>
          <a:prstGeom prst="rect">
            <a:avLst/>
          </a:prstGeom>
          <a:noFill/>
        </p:spPr>
        <p:txBody>
          <a:bodyPr wrap="square">
            <a:spAutoFit/>
          </a:bodyPr>
          <a:lstStyle/>
          <a:p>
            <a:r>
              <a:rPr kumimoji="0" lang="en-US" altLang="en-US" sz="1800" b="1" i="0" u="none" strike="noStrike" cap="none" normalizeH="0" baseline="0" dirty="0">
                <a:ln>
                  <a:noFill/>
                </a:ln>
                <a:solidFill>
                  <a:schemeClr val="bg1"/>
                </a:solidFill>
                <a:effectLst/>
                <a:latin typeface="Poppins" panose="00000500000000000000" pitchFamily="2" charset="0"/>
                <a:cs typeface="Poppins" panose="00000500000000000000" pitchFamily="2" charset="0"/>
              </a:rPr>
              <a:t> Operators </a:t>
            </a:r>
            <a:endParaRPr lang="en-IN" dirty="0"/>
          </a:p>
        </p:txBody>
      </p:sp>
    </p:spTree>
    <p:extLst>
      <p:ext uri="{BB962C8B-B14F-4D97-AF65-F5344CB8AC3E}">
        <p14:creationId xmlns:p14="http://schemas.microsoft.com/office/powerpoint/2010/main" val="32003984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68AA76-E881-96FB-19F8-4147487D496C}"/>
              </a:ext>
            </a:extLst>
          </p:cNvPr>
          <p:cNvSpPr txBox="1"/>
          <p:nvPr/>
        </p:nvSpPr>
        <p:spPr>
          <a:xfrm>
            <a:off x="134224" y="184558"/>
            <a:ext cx="11031523" cy="5078313"/>
          </a:xfrm>
          <a:prstGeom prst="rect">
            <a:avLst/>
          </a:prstGeom>
          <a:noFill/>
        </p:spPr>
        <p:txBody>
          <a:bodyPr wrap="square">
            <a:spAutoFit/>
          </a:bodyPr>
          <a:lstStyle/>
          <a:p>
            <a:pPr algn="l"/>
            <a:endParaRPr lang="en-US" sz="2400" b="1" i="0" dirty="0">
              <a:solidFill>
                <a:srgbClr val="000000"/>
              </a:solidFill>
              <a:effectLst/>
              <a:latin typeface="Poppins" panose="00000500000000000000" pitchFamily="2" charset="0"/>
            </a:endParaRPr>
          </a:p>
          <a:p>
            <a:pPr algn="l"/>
            <a:endParaRPr lang="en-US" sz="2400" b="1" dirty="0">
              <a:solidFill>
                <a:srgbClr val="000000"/>
              </a:solidFill>
              <a:latin typeface="Poppins" panose="00000500000000000000" pitchFamily="2" charset="0"/>
            </a:endParaRPr>
          </a:p>
          <a:p>
            <a:pPr algn="l"/>
            <a:endParaRPr lang="en-US" sz="2400" b="1" i="0" dirty="0">
              <a:solidFill>
                <a:srgbClr val="000000"/>
              </a:solidFill>
              <a:effectLst/>
              <a:latin typeface="Poppins" panose="00000500000000000000" pitchFamily="2" charset="0"/>
            </a:endParaRPr>
          </a:p>
          <a:p>
            <a:pPr algn="l"/>
            <a:endParaRPr lang="en-US" sz="2400" b="1" dirty="0">
              <a:solidFill>
                <a:srgbClr val="000000"/>
              </a:solidFill>
              <a:latin typeface="Poppins" panose="00000500000000000000" pitchFamily="2" charset="0"/>
            </a:endParaRPr>
          </a:p>
          <a:p>
            <a:pPr algn="l"/>
            <a:r>
              <a:rPr lang="en-US" sz="2400" b="1" i="0" dirty="0">
                <a:solidFill>
                  <a:srgbClr val="000000"/>
                </a:solidFill>
                <a:effectLst/>
                <a:latin typeface="Poppins" panose="00000500000000000000" pitchFamily="2" charset="0"/>
              </a:rPr>
              <a:t>Java Tutorial: Associativity of Operators in Java</a:t>
            </a:r>
          </a:p>
          <a:p>
            <a:pPr algn="l"/>
            <a:r>
              <a:rPr lang="en-US" sz="2400" b="1" i="0" dirty="0">
                <a:solidFill>
                  <a:srgbClr val="000000"/>
                </a:solidFill>
                <a:effectLst/>
                <a:latin typeface="Poppins" panose="00000500000000000000" pitchFamily="2" charset="0"/>
              </a:rPr>
              <a:t>Associativity</a:t>
            </a:r>
          </a:p>
          <a:p>
            <a:pPr algn="l"/>
            <a:endParaRPr lang="en-US" b="0" i="0" dirty="0">
              <a:solidFill>
                <a:srgbClr val="000000"/>
              </a:solidFill>
              <a:effectLst/>
              <a:latin typeface="Poppins" panose="00000500000000000000" pitchFamily="2" charset="0"/>
            </a:endParaRPr>
          </a:p>
          <a:p>
            <a:pPr algn="l"/>
            <a:r>
              <a:rPr lang="en-US" b="0" i="0" dirty="0">
                <a:solidFill>
                  <a:srgbClr val="000000"/>
                </a:solidFill>
                <a:effectLst/>
                <a:latin typeface="Poppins" panose="00000500000000000000" pitchFamily="2" charset="0"/>
              </a:rPr>
              <a:t>Associativity tells the direction of the execution of operators. It can either be left to right or vice versa.</a:t>
            </a:r>
          </a:p>
          <a:p>
            <a:pPr algn="l"/>
            <a:endParaRPr lang="en-US" b="0" i="0" dirty="0">
              <a:solidFill>
                <a:srgbClr val="000000"/>
              </a:solidFill>
              <a:effectLst/>
              <a:latin typeface="Poppins" panose="00000500000000000000" pitchFamily="2" charset="0"/>
            </a:endParaRPr>
          </a:p>
          <a:p>
            <a:pPr algn="l"/>
            <a:r>
              <a:rPr lang="en-US" b="0" i="0" dirty="0">
                <a:solidFill>
                  <a:srgbClr val="000000"/>
                </a:solidFill>
                <a:effectLst/>
                <a:latin typeface="Poppins" panose="00000500000000000000" pitchFamily="2" charset="0"/>
              </a:rPr>
              <a:t>/ * -&gt; L to R</a:t>
            </a:r>
          </a:p>
          <a:p>
            <a:pPr algn="l"/>
            <a:r>
              <a:rPr lang="en-US" b="0" i="0" dirty="0">
                <a:solidFill>
                  <a:srgbClr val="000000"/>
                </a:solidFill>
                <a:effectLst/>
                <a:latin typeface="Poppins" panose="00000500000000000000" pitchFamily="2" charset="0"/>
              </a:rPr>
              <a:t>+ - -&gt; L to R</a:t>
            </a:r>
          </a:p>
          <a:p>
            <a:pPr algn="l"/>
            <a:r>
              <a:rPr lang="en-US" b="0" i="0" dirty="0">
                <a:solidFill>
                  <a:srgbClr val="000000"/>
                </a:solidFill>
                <a:effectLst/>
                <a:latin typeface="Poppins" panose="00000500000000000000" pitchFamily="2" charset="0"/>
              </a:rPr>
              <a:t>++, = -&gt; R to L</a:t>
            </a:r>
          </a:p>
          <a:p>
            <a:pPr algn="l"/>
            <a:endParaRPr lang="en-US" b="0" i="0" dirty="0">
              <a:solidFill>
                <a:srgbClr val="000000"/>
              </a:solidFill>
              <a:effectLst/>
              <a:latin typeface="Poppins" panose="00000500000000000000" pitchFamily="2" charset="0"/>
            </a:endParaRPr>
          </a:p>
          <a:p>
            <a:pPr algn="l"/>
            <a:r>
              <a:rPr lang="en-US" b="0" i="0" dirty="0">
                <a:solidFill>
                  <a:srgbClr val="000000"/>
                </a:solidFill>
                <a:effectLst/>
                <a:latin typeface="Poppins" panose="00000500000000000000" pitchFamily="2" charset="0"/>
              </a:rPr>
              <a:t>Here is the precedence and associativity table which makes it easy for you to understand these topics better:</a:t>
            </a:r>
          </a:p>
        </p:txBody>
      </p:sp>
    </p:spTree>
    <p:extLst>
      <p:ext uri="{BB962C8B-B14F-4D97-AF65-F5344CB8AC3E}">
        <p14:creationId xmlns:p14="http://schemas.microsoft.com/office/powerpoint/2010/main" val="2672146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D7A8EB-5A6E-467E-E541-2E183D500161}"/>
              </a:ext>
            </a:extLst>
          </p:cNvPr>
          <p:cNvPicPr>
            <a:picLocks noChangeAspect="1"/>
          </p:cNvPicPr>
          <p:nvPr/>
        </p:nvPicPr>
        <p:blipFill>
          <a:blip r:embed="rId2"/>
          <a:stretch>
            <a:fillRect/>
          </a:stretch>
        </p:blipFill>
        <p:spPr>
          <a:xfrm>
            <a:off x="587230" y="361628"/>
            <a:ext cx="4186106" cy="6134744"/>
          </a:xfrm>
          <a:prstGeom prst="rect">
            <a:avLst/>
          </a:prstGeom>
        </p:spPr>
      </p:pic>
      <p:pic>
        <p:nvPicPr>
          <p:cNvPr id="2050" name="Picture 2">
            <a:extLst>
              <a:ext uri="{FF2B5EF4-FFF2-40B4-BE49-F238E27FC236}">
                <a16:creationId xmlns:a16="http://schemas.microsoft.com/office/drawing/2014/main" id="{502F2205-80AD-752D-8B16-8DE86BBAD2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1626" y="2533738"/>
            <a:ext cx="5656976" cy="10858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D70CB9FC-6973-0D58-6B73-D0311AA9D5D9}"/>
              </a:ext>
            </a:extLst>
          </p:cNvPr>
          <p:cNvGraphicFramePr>
            <a:graphicFrameLocks noGrp="1"/>
          </p:cNvGraphicFramePr>
          <p:nvPr>
            <p:extLst>
              <p:ext uri="{D42A27DB-BD31-4B8C-83A1-F6EECF244321}">
                <p14:modId xmlns:p14="http://schemas.microsoft.com/office/powerpoint/2010/main" val="3586421704"/>
              </p:ext>
            </p:extLst>
          </p:nvPr>
        </p:nvGraphicFramePr>
        <p:xfrm>
          <a:off x="5873226" y="1768290"/>
          <a:ext cx="4186106" cy="370840"/>
        </p:xfrm>
        <a:graphic>
          <a:graphicData uri="http://schemas.openxmlformats.org/drawingml/2006/table">
            <a:tbl>
              <a:tblPr firstRow="1" bandRow="1">
                <a:tableStyleId>{5C22544A-7EE6-4342-B048-85BDC9FD1C3A}</a:tableStyleId>
              </a:tblPr>
              <a:tblGrid>
                <a:gridCol w="4186106">
                  <a:extLst>
                    <a:ext uri="{9D8B030D-6E8A-4147-A177-3AD203B41FA5}">
                      <a16:colId xmlns:a16="http://schemas.microsoft.com/office/drawing/2014/main" val="3008928413"/>
                    </a:ext>
                  </a:extLst>
                </a:gridCol>
              </a:tblGrid>
              <a:tr h="370840">
                <a:tc>
                  <a:txBody>
                    <a:bodyPr/>
                    <a:lstStyle/>
                    <a:p>
                      <a:r>
                        <a:rPr lang="en-IN" sz="1800" b="1" i="0" kern="1200" dirty="0">
                          <a:solidFill>
                            <a:schemeClr val="lt1"/>
                          </a:solidFill>
                          <a:effectLst/>
                          <a:highlight>
                            <a:srgbClr val="000000"/>
                          </a:highlight>
                          <a:latin typeface="+mn-lt"/>
                          <a:ea typeface="+mn-ea"/>
                          <a:cs typeface="+mn-cs"/>
                        </a:rPr>
                        <a:t>Quick Quiz:</a:t>
                      </a:r>
                      <a:endParaRPr lang="en-IN" dirty="0">
                        <a:highlight>
                          <a:srgbClr val="000000"/>
                        </a:highlight>
                      </a:endParaRPr>
                    </a:p>
                  </a:txBody>
                  <a:tcPr>
                    <a:solidFill>
                      <a:schemeClr val="bg1"/>
                    </a:solidFill>
                  </a:tcPr>
                </a:tc>
                <a:extLst>
                  <a:ext uri="{0D108BD9-81ED-4DB2-BD59-A6C34878D82A}">
                    <a16:rowId xmlns:a16="http://schemas.microsoft.com/office/drawing/2014/main" val="346235700"/>
                  </a:ext>
                </a:extLst>
              </a:tr>
            </a:tbl>
          </a:graphicData>
        </a:graphic>
      </p:graphicFrame>
    </p:spTree>
    <p:extLst>
      <p:ext uri="{BB962C8B-B14F-4D97-AF65-F5344CB8AC3E}">
        <p14:creationId xmlns:p14="http://schemas.microsoft.com/office/powerpoint/2010/main" val="110404190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029003-83A3-685A-ACFA-43D1D8DF6C17}"/>
              </a:ext>
            </a:extLst>
          </p:cNvPr>
          <p:cNvSpPr txBox="1"/>
          <p:nvPr/>
        </p:nvSpPr>
        <p:spPr>
          <a:xfrm>
            <a:off x="0" y="0"/>
            <a:ext cx="12192000" cy="6924973"/>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200" dirty="0"/>
              <a:t>package </a:t>
            </a:r>
            <a:r>
              <a:rPr lang="en-IN" sz="1200" dirty="0" err="1"/>
              <a:t>com.company</a:t>
            </a:r>
            <a:r>
              <a:rPr lang="en-IN" sz="1200" dirty="0"/>
              <a:t>;</a:t>
            </a:r>
          </a:p>
          <a:p>
            <a:endParaRPr lang="en-IN" sz="1200" dirty="0"/>
          </a:p>
          <a:p>
            <a:r>
              <a:rPr lang="en-IN" sz="1200" dirty="0"/>
              <a:t>public class cwh_09_ch2_op_pre {</a:t>
            </a:r>
          </a:p>
          <a:p>
            <a:r>
              <a:rPr lang="en-IN" sz="1200" dirty="0"/>
              <a:t>    public static void main(String[] </a:t>
            </a:r>
            <a:r>
              <a:rPr lang="en-IN" sz="1200" dirty="0" err="1"/>
              <a:t>args</a:t>
            </a:r>
            <a:r>
              <a:rPr lang="en-IN" sz="1200" dirty="0"/>
              <a:t>) {</a:t>
            </a:r>
          </a:p>
          <a:p>
            <a:r>
              <a:rPr lang="en-IN" sz="1200" dirty="0"/>
              <a:t>        // Precedence &amp; Associativity</a:t>
            </a:r>
          </a:p>
          <a:p>
            <a:endParaRPr lang="en-IN" sz="1200" dirty="0"/>
          </a:p>
          <a:p>
            <a:r>
              <a:rPr lang="en-IN" sz="1200" dirty="0"/>
              <a:t>        //int a = 6*5-34/2;</a:t>
            </a:r>
          </a:p>
          <a:p>
            <a:r>
              <a:rPr lang="en-IN" sz="1200" dirty="0"/>
              <a:t>        /*</a:t>
            </a:r>
          </a:p>
          <a:p>
            <a:r>
              <a:rPr lang="en-IN" sz="1200" dirty="0"/>
              <a:t>        Highest precedence goes to * and /. They are then evaluated on the basis</a:t>
            </a:r>
          </a:p>
          <a:p>
            <a:r>
              <a:rPr lang="en-IN" sz="1200" dirty="0"/>
              <a:t>        of left to right associativity</a:t>
            </a:r>
          </a:p>
          <a:p>
            <a:r>
              <a:rPr lang="en-IN" sz="1200" dirty="0"/>
              <a:t>            =30-34/2</a:t>
            </a:r>
          </a:p>
          <a:p>
            <a:r>
              <a:rPr lang="en-IN" sz="1200" dirty="0"/>
              <a:t>            =30-17</a:t>
            </a:r>
          </a:p>
          <a:p>
            <a:r>
              <a:rPr lang="en-IN" sz="1200" dirty="0"/>
              <a:t>            =13</a:t>
            </a:r>
          </a:p>
          <a:p>
            <a:r>
              <a:rPr lang="en-IN" sz="1200" dirty="0"/>
              <a:t>         */</a:t>
            </a:r>
          </a:p>
          <a:p>
            <a:r>
              <a:rPr lang="en-IN" sz="1200" dirty="0"/>
              <a:t>        //int b = 60/5-34*2;</a:t>
            </a:r>
          </a:p>
          <a:p>
            <a:r>
              <a:rPr lang="en-IN" sz="1200" dirty="0"/>
              <a:t>        /*</a:t>
            </a:r>
          </a:p>
          <a:p>
            <a:r>
              <a:rPr lang="en-IN" sz="1200" dirty="0"/>
              <a:t>            = 12-34*2</a:t>
            </a:r>
          </a:p>
          <a:p>
            <a:r>
              <a:rPr lang="en-IN" sz="1200" dirty="0"/>
              <a:t>            =12-68</a:t>
            </a:r>
          </a:p>
          <a:p>
            <a:r>
              <a:rPr lang="en-IN" sz="1200" dirty="0"/>
              <a:t>            =-56</a:t>
            </a:r>
          </a:p>
          <a:p>
            <a:r>
              <a:rPr lang="en-IN" sz="1200" dirty="0"/>
              <a:t>         */</a:t>
            </a:r>
          </a:p>
          <a:p>
            <a:endParaRPr lang="en-IN" sz="1200" dirty="0"/>
          </a:p>
          <a:p>
            <a:r>
              <a:rPr lang="en-IN" sz="1200" dirty="0"/>
              <a:t>        //</a:t>
            </a:r>
            <a:r>
              <a:rPr lang="en-IN" sz="1200" dirty="0" err="1"/>
              <a:t>System.out.println</a:t>
            </a:r>
            <a:r>
              <a:rPr lang="en-IN" sz="1200" dirty="0"/>
              <a:t>(a);</a:t>
            </a:r>
          </a:p>
          <a:p>
            <a:r>
              <a:rPr lang="en-IN" sz="1200" dirty="0"/>
              <a:t>        //</a:t>
            </a:r>
            <a:r>
              <a:rPr lang="en-IN" sz="1200" dirty="0" err="1"/>
              <a:t>System.out.println</a:t>
            </a:r>
            <a:r>
              <a:rPr lang="en-IN" sz="1200" dirty="0"/>
              <a:t>(b);</a:t>
            </a:r>
          </a:p>
          <a:p>
            <a:endParaRPr lang="en-IN" sz="1200" dirty="0"/>
          </a:p>
          <a:p>
            <a:r>
              <a:rPr lang="en-IN" sz="1200" dirty="0"/>
              <a:t>        // Quick Quiz</a:t>
            </a:r>
          </a:p>
          <a:p>
            <a:r>
              <a:rPr lang="en-IN" sz="1200" dirty="0"/>
              <a:t>        int x =6;</a:t>
            </a:r>
          </a:p>
          <a:p>
            <a:r>
              <a:rPr lang="en-IN" sz="1200" dirty="0"/>
              <a:t>        int y = 1;</a:t>
            </a:r>
          </a:p>
          <a:p>
            <a:r>
              <a:rPr lang="en-IN" sz="1200" dirty="0"/>
              <a:t>        //  int k = x * y/2;</a:t>
            </a:r>
          </a:p>
          <a:p>
            <a:endParaRPr lang="en-IN" sz="1200" dirty="0"/>
          </a:p>
          <a:p>
            <a:r>
              <a:rPr lang="en-IN" sz="1200" dirty="0"/>
              <a:t>        int b = 0;</a:t>
            </a:r>
          </a:p>
          <a:p>
            <a:r>
              <a:rPr lang="en-IN" sz="1200" dirty="0"/>
              <a:t>        int c = 0;</a:t>
            </a:r>
          </a:p>
          <a:p>
            <a:r>
              <a:rPr lang="en-IN" sz="1200" dirty="0"/>
              <a:t>        int a = 10;</a:t>
            </a:r>
          </a:p>
          <a:p>
            <a:r>
              <a:rPr lang="en-IN" sz="1200" dirty="0"/>
              <a:t>        int k = b*b - (4*a*c)/(2*a);</a:t>
            </a:r>
          </a:p>
          <a:p>
            <a:r>
              <a:rPr lang="en-IN" sz="1200" dirty="0"/>
              <a:t>        </a:t>
            </a:r>
            <a:r>
              <a:rPr lang="en-IN" sz="1200" dirty="0" err="1"/>
              <a:t>System.out.println</a:t>
            </a:r>
            <a:r>
              <a:rPr lang="en-IN" sz="1200" dirty="0"/>
              <a:t>(k);</a:t>
            </a:r>
          </a:p>
          <a:p>
            <a:endParaRPr lang="en-IN" sz="1200" dirty="0"/>
          </a:p>
          <a:p>
            <a:r>
              <a:rPr lang="en-IN" sz="1200" dirty="0"/>
              <a:t>    }</a:t>
            </a:r>
          </a:p>
          <a:p>
            <a:r>
              <a:rPr lang="en-IN" sz="1200" dirty="0"/>
              <a:t>}</a:t>
            </a:r>
          </a:p>
        </p:txBody>
      </p:sp>
    </p:spTree>
    <p:extLst>
      <p:ext uri="{BB962C8B-B14F-4D97-AF65-F5344CB8AC3E}">
        <p14:creationId xmlns:p14="http://schemas.microsoft.com/office/powerpoint/2010/main" val="237452109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ED119E-4C11-D994-3AAA-FF8D7BD7F8F2}"/>
              </a:ext>
            </a:extLst>
          </p:cNvPr>
          <p:cNvSpPr txBox="1"/>
          <p:nvPr/>
        </p:nvSpPr>
        <p:spPr>
          <a:xfrm>
            <a:off x="209724" y="369117"/>
            <a:ext cx="11526473" cy="3200876"/>
          </a:xfrm>
          <a:prstGeom prst="rect">
            <a:avLst/>
          </a:prstGeom>
          <a:noFill/>
        </p:spPr>
        <p:txBody>
          <a:bodyPr wrap="square">
            <a:spAutoFit/>
          </a:bodyPr>
          <a:lstStyle/>
          <a:p>
            <a:pPr algn="l"/>
            <a:r>
              <a:rPr lang="en-IN" b="1" i="0" dirty="0">
                <a:effectLst/>
                <a:highlight>
                  <a:srgbClr val="000000"/>
                </a:highlight>
                <a:latin typeface="Poppins" panose="00000500000000000000" pitchFamily="2" charset="0"/>
              </a:rPr>
              <a:t>J</a:t>
            </a:r>
            <a:r>
              <a:rPr lang="en-IN" sz="2000" b="1" i="0" dirty="0">
                <a:effectLst/>
                <a:highlight>
                  <a:srgbClr val="000000"/>
                </a:highlight>
                <a:latin typeface="Poppins" panose="00000500000000000000" pitchFamily="2" charset="0"/>
              </a:rPr>
              <a:t>ava Tutorial: Data Type of Expressions &amp; Increment/Decrement Operators</a:t>
            </a:r>
          </a:p>
          <a:p>
            <a:pPr algn="l"/>
            <a:r>
              <a:rPr lang="en-IN" sz="2000" b="1" i="0" dirty="0">
                <a:effectLst/>
                <a:highlight>
                  <a:srgbClr val="000000"/>
                </a:highlight>
                <a:latin typeface="Poppins" panose="00000500000000000000" pitchFamily="2" charset="0"/>
              </a:rPr>
              <a:t>Resulting data type after arithmetic operation</a:t>
            </a:r>
          </a:p>
          <a:p>
            <a:pPr algn="l"/>
            <a:endParaRPr lang="en-IN" b="1" i="0" dirty="0">
              <a:solidFill>
                <a:srgbClr val="000000"/>
              </a:solidFill>
              <a:effectLst/>
              <a:latin typeface="Poppins" panose="00000500000000000000" pitchFamily="2" charset="0"/>
            </a:endParaRPr>
          </a:p>
          <a:p>
            <a:pPr algn="l">
              <a:buFont typeface="Arial" panose="020B0604020202020204" pitchFamily="34" charset="0"/>
              <a:buChar char="•"/>
            </a:pPr>
            <a:r>
              <a:rPr lang="en-IN" b="0" i="0" dirty="0">
                <a:solidFill>
                  <a:srgbClr val="000000"/>
                </a:solidFill>
                <a:effectLst/>
                <a:latin typeface="Poppins" panose="00000500000000000000" pitchFamily="2" charset="0"/>
              </a:rPr>
              <a:t>Result = byte + short -&gt; integer</a:t>
            </a:r>
          </a:p>
          <a:p>
            <a:pPr algn="l">
              <a:buFont typeface="Arial" panose="020B0604020202020204" pitchFamily="34" charset="0"/>
              <a:buChar char="•"/>
            </a:pPr>
            <a:r>
              <a:rPr lang="en-IN" b="0" i="0" dirty="0">
                <a:solidFill>
                  <a:srgbClr val="000000"/>
                </a:solidFill>
                <a:effectLst/>
                <a:latin typeface="Poppins" panose="00000500000000000000" pitchFamily="2" charset="0"/>
              </a:rPr>
              <a:t>Result = short + integer -&gt; integer</a:t>
            </a:r>
          </a:p>
          <a:p>
            <a:pPr algn="l">
              <a:buFont typeface="Arial" panose="020B0604020202020204" pitchFamily="34" charset="0"/>
              <a:buChar char="•"/>
            </a:pPr>
            <a:r>
              <a:rPr lang="en-IN" b="0" i="0" dirty="0">
                <a:solidFill>
                  <a:srgbClr val="000000"/>
                </a:solidFill>
                <a:effectLst/>
                <a:latin typeface="Poppins" panose="00000500000000000000" pitchFamily="2" charset="0"/>
              </a:rPr>
              <a:t>Result = long + float -&gt; float</a:t>
            </a:r>
          </a:p>
          <a:p>
            <a:pPr algn="l">
              <a:buFont typeface="Arial" panose="020B0604020202020204" pitchFamily="34" charset="0"/>
              <a:buChar char="•"/>
            </a:pPr>
            <a:r>
              <a:rPr lang="en-IN" b="0" i="0" dirty="0">
                <a:solidFill>
                  <a:srgbClr val="000000"/>
                </a:solidFill>
                <a:effectLst/>
                <a:latin typeface="Poppins" panose="00000500000000000000" pitchFamily="2" charset="0"/>
              </a:rPr>
              <a:t>Result = integer + float -&gt; float</a:t>
            </a:r>
          </a:p>
          <a:p>
            <a:pPr algn="l">
              <a:buFont typeface="Arial" panose="020B0604020202020204" pitchFamily="34" charset="0"/>
              <a:buChar char="•"/>
            </a:pPr>
            <a:r>
              <a:rPr lang="en-IN" b="0" i="0" dirty="0">
                <a:solidFill>
                  <a:srgbClr val="000000"/>
                </a:solidFill>
                <a:effectLst/>
                <a:latin typeface="Poppins" panose="00000500000000000000" pitchFamily="2" charset="0"/>
              </a:rPr>
              <a:t>Result = character + integer -&gt; integer</a:t>
            </a:r>
          </a:p>
          <a:p>
            <a:pPr algn="l">
              <a:buFont typeface="Arial" panose="020B0604020202020204" pitchFamily="34" charset="0"/>
              <a:buChar char="•"/>
            </a:pPr>
            <a:r>
              <a:rPr lang="en-IN" b="0" i="0" dirty="0">
                <a:solidFill>
                  <a:srgbClr val="000000"/>
                </a:solidFill>
                <a:effectLst/>
                <a:latin typeface="Poppins" panose="00000500000000000000" pitchFamily="2" charset="0"/>
              </a:rPr>
              <a:t>Result = character + short -&gt; integer</a:t>
            </a:r>
          </a:p>
          <a:p>
            <a:pPr algn="l">
              <a:buFont typeface="Arial" panose="020B0604020202020204" pitchFamily="34" charset="0"/>
              <a:buChar char="•"/>
            </a:pPr>
            <a:r>
              <a:rPr lang="en-IN" b="0" i="0" dirty="0">
                <a:solidFill>
                  <a:srgbClr val="000000"/>
                </a:solidFill>
                <a:effectLst/>
                <a:latin typeface="Poppins" panose="00000500000000000000" pitchFamily="2" charset="0"/>
              </a:rPr>
              <a:t>Result = long + double -&gt; double</a:t>
            </a:r>
          </a:p>
          <a:p>
            <a:pPr algn="l">
              <a:buFont typeface="Arial" panose="020B0604020202020204" pitchFamily="34" charset="0"/>
              <a:buChar char="•"/>
            </a:pPr>
            <a:r>
              <a:rPr lang="en-IN" b="0" i="0" dirty="0">
                <a:solidFill>
                  <a:srgbClr val="000000"/>
                </a:solidFill>
                <a:effectLst/>
                <a:latin typeface="Poppins" panose="00000500000000000000" pitchFamily="2" charset="0"/>
              </a:rPr>
              <a:t>Result = float + double -&gt; double</a:t>
            </a:r>
          </a:p>
        </p:txBody>
      </p:sp>
      <p:sp>
        <p:nvSpPr>
          <p:cNvPr id="7" name="TextBox 6">
            <a:extLst>
              <a:ext uri="{FF2B5EF4-FFF2-40B4-BE49-F238E27FC236}">
                <a16:creationId xmlns:a16="http://schemas.microsoft.com/office/drawing/2014/main" id="{58846115-86F1-7BAB-2ACF-035679D8F6CD}"/>
              </a:ext>
            </a:extLst>
          </p:cNvPr>
          <p:cNvSpPr txBox="1"/>
          <p:nvPr/>
        </p:nvSpPr>
        <p:spPr>
          <a:xfrm>
            <a:off x="352338" y="3799456"/>
            <a:ext cx="6644080" cy="2585323"/>
          </a:xfrm>
          <a:prstGeom prst="rect">
            <a:avLst/>
          </a:prstGeom>
          <a:noFill/>
        </p:spPr>
        <p:txBody>
          <a:bodyPr wrap="square">
            <a:spAutoFit/>
          </a:bodyPr>
          <a:lstStyle/>
          <a:p>
            <a:pPr algn="l"/>
            <a:r>
              <a:rPr lang="en-US" b="1" i="0" dirty="0">
                <a:effectLst/>
                <a:highlight>
                  <a:srgbClr val="000000"/>
                </a:highlight>
                <a:latin typeface="Poppins" panose="00000500000000000000" pitchFamily="2" charset="0"/>
              </a:rPr>
              <a:t>Increment and Decrement operators</a:t>
            </a:r>
          </a:p>
          <a:p>
            <a:pPr algn="l">
              <a:buFont typeface="Arial" panose="020B0604020202020204" pitchFamily="34" charset="0"/>
              <a:buChar char="•"/>
            </a:pPr>
            <a:r>
              <a:rPr lang="en-US" b="0" i="0" dirty="0">
                <a:solidFill>
                  <a:srgbClr val="000000"/>
                </a:solidFill>
                <a:effectLst/>
                <a:latin typeface="Poppins" panose="00000500000000000000" pitchFamily="2" charset="0"/>
              </a:rPr>
              <a:t>a++, ++a (Increment Operators)</a:t>
            </a:r>
          </a:p>
          <a:p>
            <a:pPr algn="l">
              <a:buFont typeface="Arial" panose="020B0604020202020204" pitchFamily="34" charset="0"/>
              <a:buChar char="•"/>
            </a:pPr>
            <a:r>
              <a:rPr lang="en-US" b="0" i="0" dirty="0">
                <a:solidFill>
                  <a:srgbClr val="000000"/>
                </a:solidFill>
                <a:effectLst/>
                <a:latin typeface="Poppins" panose="00000500000000000000" pitchFamily="2" charset="0"/>
              </a:rPr>
              <a:t>a--, --a (Decrement Operators)</a:t>
            </a:r>
          </a:p>
          <a:p>
            <a:pPr algn="l"/>
            <a:r>
              <a:rPr lang="en-US" b="0" i="0" dirty="0">
                <a:solidFill>
                  <a:srgbClr val="000000"/>
                </a:solidFill>
                <a:effectLst/>
                <a:latin typeface="Poppins" panose="00000500000000000000" pitchFamily="2" charset="0"/>
              </a:rPr>
              <a:t>These will operate on all data types except Booleans.</a:t>
            </a:r>
          </a:p>
          <a:p>
            <a:pPr algn="l"/>
            <a:endParaRPr lang="en-US" b="0" i="0" dirty="0">
              <a:solidFill>
                <a:srgbClr val="000000"/>
              </a:solidFill>
              <a:effectLst/>
              <a:latin typeface="Poppins" panose="00000500000000000000" pitchFamily="2" charset="0"/>
            </a:endParaRPr>
          </a:p>
          <a:p>
            <a:pPr algn="l"/>
            <a:r>
              <a:rPr lang="en-US" b="1" i="0" dirty="0">
                <a:effectLst/>
                <a:highlight>
                  <a:srgbClr val="000000"/>
                </a:highlight>
                <a:latin typeface="Poppins" panose="00000500000000000000" pitchFamily="2" charset="0"/>
              </a:rPr>
              <a:t>Quick Quiz: </a:t>
            </a:r>
            <a:r>
              <a:rPr lang="en-US" b="0" i="0" dirty="0">
                <a:solidFill>
                  <a:srgbClr val="000000"/>
                </a:solidFill>
                <a:effectLst/>
                <a:latin typeface="Poppins" panose="00000500000000000000" pitchFamily="2" charset="0"/>
              </a:rPr>
              <a:t>Try increment and decrement operators on a Java variable</a:t>
            </a:r>
          </a:p>
          <a:p>
            <a:pPr algn="l">
              <a:buFont typeface="Arial" panose="020B0604020202020204" pitchFamily="34" charset="0"/>
              <a:buChar char="•"/>
            </a:pPr>
            <a:r>
              <a:rPr lang="en-US" b="0" i="0" dirty="0">
                <a:solidFill>
                  <a:srgbClr val="000000"/>
                </a:solidFill>
                <a:effectLst/>
                <a:latin typeface="Poppins" panose="00000500000000000000" pitchFamily="2" charset="0"/>
              </a:rPr>
              <a:t>a++ -&gt; first use the value and then increment</a:t>
            </a:r>
          </a:p>
          <a:p>
            <a:pPr algn="l">
              <a:buFont typeface="Arial" panose="020B0604020202020204" pitchFamily="34" charset="0"/>
              <a:buChar char="•"/>
            </a:pPr>
            <a:r>
              <a:rPr lang="en-US" b="0" i="0" dirty="0">
                <a:solidFill>
                  <a:srgbClr val="000000"/>
                </a:solidFill>
                <a:effectLst/>
                <a:latin typeface="Poppins" panose="00000500000000000000" pitchFamily="2" charset="0"/>
              </a:rPr>
              <a:t>++a -&gt; first increment the value then use it</a:t>
            </a:r>
          </a:p>
        </p:txBody>
      </p:sp>
      <p:sp>
        <p:nvSpPr>
          <p:cNvPr id="9" name="TextBox 8">
            <a:extLst>
              <a:ext uri="{FF2B5EF4-FFF2-40B4-BE49-F238E27FC236}">
                <a16:creationId xmlns:a16="http://schemas.microsoft.com/office/drawing/2014/main" id="{C6832716-C2AA-008F-FEB3-47D9F82D99B2}"/>
              </a:ext>
            </a:extLst>
          </p:cNvPr>
          <p:cNvSpPr txBox="1"/>
          <p:nvPr/>
        </p:nvSpPr>
        <p:spPr>
          <a:xfrm>
            <a:off x="5972960" y="1768131"/>
            <a:ext cx="6107184" cy="2031325"/>
          </a:xfrm>
          <a:prstGeom prst="rect">
            <a:avLst/>
          </a:prstGeom>
          <a:noFill/>
        </p:spPr>
        <p:txBody>
          <a:bodyPr wrap="square">
            <a:spAutoFit/>
          </a:bodyPr>
          <a:lstStyle/>
          <a:p>
            <a:pPr algn="l"/>
            <a:r>
              <a:rPr lang="en-US" b="1" i="0" dirty="0">
                <a:effectLst/>
                <a:highlight>
                  <a:srgbClr val="000000"/>
                </a:highlight>
                <a:latin typeface="Poppins" panose="00000500000000000000" pitchFamily="2" charset="0"/>
              </a:rPr>
              <a:t>Quick Quiz</a:t>
            </a:r>
            <a:r>
              <a:rPr lang="en-US" b="1" i="0" dirty="0">
                <a:solidFill>
                  <a:srgbClr val="000000"/>
                </a:solidFill>
                <a:effectLst/>
                <a:latin typeface="Poppins" panose="00000500000000000000" pitchFamily="2" charset="0"/>
              </a:rPr>
              <a:t>: </a:t>
            </a:r>
            <a:r>
              <a:rPr lang="en-US" b="0" i="0" dirty="0">
                <a:solidFill>
                  <a:srgbClr val="000000"/>
                </a:solidFill>
                <a:effectLst/>
                <a:latin typeface="Poppins" panose="00000500000000000000" pitchFamily="2" charset="0"/>
              </a:rPr>
              <a:t>What will be the value of the following expression(x).</a:t>
            </a:r>
          </a:p>
          <a:p>
            <a:pPr algn="l">
              <a:buFont typeface="+mj-lt"/>
              <a:buAutoNum type="arabicPeriod"/>
            </a:pPr>
            <a:r>
              <a:rPr lang="en-US" b="0" i="0" dirty="0">
                <a:solidFill>
                  <a:srgbClr val="000000"/>
                </a:solidFill>
                <a:effectLst/>
                <a:latin typeface="Poppins" panose="00000500000000000000" pitchFamily="2" charset="0"/>
              </a:rPr>
              <a:t>int y=7;</a:t>
            </a:r>
          </a:p>
          <a:p>
            <a:pPr algn="l">
              <a:buFont typeface="+mj-lt"/>
              <a:buAutoNum type="arabicPeriod"/>
            </a:pPr>
            <a:r>
              <a:rPr lang="en-US" b="0" i="0" dirty="0">
                <a:solidFill>
                  <a:srgbClr val="000000"/>
                </a:solidFill>
                <a:effectLst/>
                <a:latin typeface="Poppins" panose="00000500000000000000" pitchFamily="2" charset="0"/>
              </a:rPr>
              <a:t>int x = ++y*8;</a:t>
            </a:r>
          </a:p>
          <a:p>
            <a:pPr algn="l">
              <a:buFont typeface="+mj-lt"/>
              <a:buAutoNum type="arabicPeriod"/>
            </a:pPr>
            <a:r>
              <a:rPr lang="en-US" b="0" i="0" dirty="0">
                <a:solidFill>
                  <a:srgbClr val="000000"/>
                </a:solidFill>
                <a:effectLst/>
                <a:latin typeface="Poppins" panose="00000500000000000000" pitchFamily="2" charset="0"/>
              </a:rPr>
              <a:t>value of x?</a:t>
            </a:r>
          </a:p>
          <a:p>
            <a:pPr algn="l">
              <a:buFont typeface="+mj-lt"/>
              <a:buAutoNum type="arabicPeriod"/>
            </a:pPr>
            <a:r>
              <a:rPr lang="en-US" b="0" i="0" dirty="0">
                <a:solidFill>
                  <a:srgbClr val="000000"/>
                </a:solidFill>
                <a:effectLst/>
                <a:latin typeface="Poppins" panose="00000500000000000000" pitchFamily="2" charset="0"/>
              </a:rPr>
              <a:t>char a = ‘B’;</a:t>
            </a:r>
          </a:p>
          <a:p>
            <a:pPr algn="l">
              <a:buFont typeface="+mj-lt"/>
              <a:buAutoNum type="arabicPeriod"/>
            </a:pPr>
            <a:r>
              <a:rPr lang="en-US" b="0" i="0" dirty="0">
                <a:solidFill>
                  <a:srgbClr val="000000"/>
                </a:solidFill>
                <a:effectLst/>
                <a:latin typeface="Poppins" panose="00000500000000000000" pitchFamily="2" charset="0"/>
              </a:rPr>
              <a:t>a++; (a is not ‘C’)</a:t>
            </a:r>
          </a:p>
        </p:txBody>
      </p:sp>
    </p:spTree>
    <p:extLst>
      <p:ext uri="{BB962C8B-B14F-4D97-AF65-F5344CB8AC3E}">
        <p14:creationId xmlns:p14="http://schemas.microsoft.com/office/powerpoint/2010/main" val="424490698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78BA0C-2002-0727-53D3-181A38DBBA9E}"/>
              </a:ext>
            </a:extLst>
          </p:cNvPr>
          <p:cNvSpPr txBox="1"/>
          <p:nvPr/>
        </p:nvSpPr>
        <p:spPr>
          <a:xfrm>
            <a:off x="0" y="0"/>
            <a:ext cx="12192000" cy="729430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package </a:t>
            </a:r>
            <a:r>
              <a:rPr lang="en-IN" dirty="0" err="1"/>
              <a:t>com.company</a:t>
            </a:r>
            <a:r>
              <a:rPr lang="en-IN" dirty="0"/>
              <a:t>;</a:t>
            </a:r>
          </a:p>
          <a:p>
            <a:r>
              <a:rPr lang="en-IN" dirty="0"/>
              <a:t>public class cwh_10_resulting_data_type {</a:t>
            </a:r>
          </a:p>
          <a:p>
            <a:r>
              <a:rPr lang="en-IN" dirty="0"/>
              <a:t>    public static void main(String[] </a:t>
            </a:r>
            <a:r>
              <a:rPr lang="en-IN" dirty="0" err="1"/>
              <a:t>args</a:t>
            </a:r>
            <a:r>
              <a:rPr lang="en-IN" dirty="0"/>
              <a:t>) {</a:t>
            </a:r>
          </a:p>
          <a:p>
            <a:r>
              <a:rPr lang="en-IN" dirty="0"/>
              <a:t>        /* byte x = 5;</a:t>
            </a:r>
          </a:p>
          <a:p>
            <a:r>
              <a:rPr lang="en-IN" dirty="0"/>
              <a:t>        int y = 6;</a:t>
            </a:r>
          </a:p>
          <a:p>
            <a:r>
              <a:rPr lang="en-IN" dirty="0"/>
              <a:t>        short z = 8;</a:t>
            </a:r>
          </a:p>
          <a:p>
            <a:r>
              <a:rPr lang="en-IN" dirty="0"/>
              <a:t>        int a = y + z;</a:t>
            </a:r>
          </a:p>
          <a:p>
            <a:r>
              <a:rPr lang="en-IN" dirty="0"/>
              <a:t>        float b = 6.54f + x;</a:t>
            </a:r>
          </a:p>
          <a:p>
            <a:r>
              <a:rPr lang="en-IN" dirty="0"/>
              <a:t>        </a:t>
            </a:r>
            <a:r>
              <a:rPr lang="en-IN" dirty="0" err="1"/>
              <a:t>System.out.println</a:t>
            </a:r>
            <a:r>
              <a:rPr lang="en-IN" dirty="0"/>
              <a:t>(b); */</a:t>
            </a:r>
          </a:p>
          <a:p>
            <a:endParaRPr lang="en-IN" dirty="0"/>
          </a:p>
          <a:p>
            <a:r>
              <a:rPr lang="en-IN" dirty="0"/>
              <a:t>        // Increment and Decrement Operators</a:t>
            </a:r>
          </a:p>
          <a:p>
            <a:r>
              <a:rPr lang="en-IN" dirty="0"/>
              <a:t>        int </a:t>
            </a:r>
            <a:r>
              <a:rPr lang="en-IN" dirty="0" err="1"/>
              <a:t>i</a:t>
            </a:r>
            <a:r>
              <a:rPr lang="en-IN" dirty="0"/>
              <a:t> = 56;</a:t>
            </a:r>
          </a:p>
          <a:p>
            <a:r>
              <a:rPr lang="en-IN" dirty="0"/>
              <a:t>        // int b = </a:t>
            </a:r>
            <a:r>
              <a:rPr lang="en-IN" dirty="0" err="1"/>
              <a:t>i</a:t>
            </a:r>
            <a:r>
              <a:rPr lang="en-IN" dirty="0"/>
              <a:t>++; // first b is assigned </a:t>
            </a:r>
            <a:r>
              <a:rPr lang="en-IN" dirty="0" err="1"/>
              <a:t>i</a:t>
            </a:r>
            <a:r>
              <a:rPr lang="en-IN" dirty="0"/>
              <a:t> (56) then </a:t>
            </a:r>
            <a:r>
              <a:rPr lang="en-IN" dirty="0" err="1"/>
              <a:t>i</a:t>
            </a:r>
            <a:r>
              <a:rPr lang="en-IN" dirty="0"/>
              <a:t> is incremented</a:t>
            </a:r>
          </a:p>
          <a:p>
            <a:r>
              <a:rPr lang="en-IN" dirty="0"/>
              <a:t>        int j = 67;</a:t>
            </a:r>
          </a:p>
          <a:p>
            <a:r>
              <a:rPr lang="en-IN" dirty="0"/>
              <a:t>        int c = ++j; // first j is incremented then c is assigned j (68)</a:t>
            </a:r>
          </a:p>
          <a:p>
            <a:r>
              <a:rPr lang="en-IN" dirty="0"/>
              <a:t>        </a:t>
            </a:r>
            <a:r>
              <a:rPr lang="en-IN" dirty="0" err="1"/>
              <a:t>System.out.println</a:t>
            </a:r>
            <a:r>
              <a:rPr lang="en-IN" dirty="0"/>
              <a:t>(</a:t>
            </a:r>
            <a:r>
              <a:rPr lang="en-IN" dirty="0" err="1"/>
              <a:t>i</a:t>
            </a:r>
            <a:r>
              <a:rPr lang="en-IN" dirty="0"/>
              <a:t>++);</a:t>
            </a:r>
          </a:p>
          <a:p>
            <a:r>
              <a:rPr lang="en-IN" dirty="0"/>
              <a:t>        </a:t>
            </a:r>
            <a:r>
              <a:rPr lang="en-IN" dirty="0" err="1"/>
              <a:t>System.out.println</a:t>
            </a:r>
            <a:r>
              <a:rPr lang="en-IN" dirty="0"/>
              <a:t>(</a:t>
            </a:r>
            <a:r>
              <a:rPr lang="en-IN" dirty="0" err="1"/>
              <a:t>i</a:t>
            </a:r>
            <a:r>
              <a:rPr lang="en-IN" dirty="0"/>
              <a:t>);</a:t>
            </a:r>
          </a:p>
          <a:p>
            <a:r>
              <a:rPr lang="en-IN" dirty="0"/>
              <a:t>        </a:t>
            </a:r>
            <a:r>
              <a:rPr lang="en-IN" dirty="0" err="1"/>
              <a:t>System.out.println</a:t>
            </a:r>
            <a:r>
              <a:rPr lang="en-IN" dirty="0"/>
              <a:t>(++</a:t>
            </a:r>
            <a:r>
              <a:rPr lang="en-IN" dirty="0" err="1"/>
              <a:t>i</a:t>
            </a:r>
            <a:r>
              <a:rPr lang="en-IN" dirty="0"/>
              <a:t>);</a:t>
            </a:r>
          </a:p>
          <a:p>
            <a:r>
              <a:rPr lang="en-IN" dirty="0"/>
              <a:t>        </a:t>
            </a:r>
            <a:r>
              <a:rPr lang="en-IN" dirty="0" err="1"/>
              <a:t>System.out.println</a:t>
            </a:r>
            <a:r>
              <a:rPr lang="en-IN" dirty="0"/>
              <a:t>(</a:t>
            </a:r>
            <a:r>
              <a:rPr lang="en-IN" dirty="0" err="1"/>
              <a:t>i</a:t>
            </a:r>
            <a:r>
              <a:rPr lang="en-IN" dirty="0"/>
              <a:t>);</a:t>
            </a:r>
          </a:p>
          <a:p>
            <a:r>
              <a:rPr lang="en-IN" dirty="0"/>
              <a:t>        int y = 7;</a:t>
            </a:r>
          </a:p>
          <a:p>
            <a:r>
              <a:rPr lang="en-IN" dirty="0"/>
              <a:t>        </a:t>
            </a:r>
            <a:r>
              <a:rPr lang="en-IN" dirty="0" err="1"/>
              <a:t>System.out.println</a:t>
            </a:r>
            <a:r>
              <a:rPr lang="en-IN" dirty="0"/>
              <a:t>( ++y *8);</a:t>
            </a:r>
          </a:p>
          <a:p>
            <a:r>
              <a:rPr lang="en-IN" dirty="0"/>
              <a:t>        char </a:t>
            </a:r>
            <a:r>
              <a:rPr lang="en-IN" dirty="0" err="1"/>
              <a:t>ch</a:t>
            </a:r>
            <a:r>
              <a:rPr lang="en-IN" dirty="0"/>
              <a:t> = 'a';</a:t>
            </a:r>
          </a:p>
          <a:p>
            <a:r>
              <a:rPr lang="en-IN" dirty="0"/>
              <a:t>        </a:t>
            </a:r>
            <a:r>
              <a:rPr lang="en-IN" dirty="0" err="1"/>
              <a:t>System.out.println</a:t>
            </a:r>
            <a:r>
              <a:rPr lang="en-IN" dirty="0"/>
              <a:t>(++</a:t>
            </a:r>
            <a:r>
              <a:rPr lang="en-IN" dirty="0" err="1"/>
              <a:t>ch</a:t>
            </a:r>
            <a:r>
              <a:rPr lang="en-IN" dirty="0"/>
              <a:t>);</a:t>
            </a:r>
          </a:p>
          <a:p>
            <a:r>
              <a:rPr lang="en-IN" dirty="0"/>
              <a:t>    }</a:t>
            </a:r>
          </a:p>
          <a:p>
            <a:r>
              <a:rPr lang="en-IN" dirty="0"/>
              <a:t>}</a:t>
            </a:r>
          </a:p>
        </p:txBody>
      </p:sp>
    </p:spTree>
    <p:extLst>
      <p:ext uri="{BB962C8B-B14F-4D97-AF65-F5344CB8AC3E}">
        <p14:creationId xmlns:p14="http://schemas.microsoft.com/office/powerpoint/2010/main" val="104321878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61BC7E-E8A7-3B72-BC5B-941375C2BB20}"/>
              </a:ext>
            </a:extLst>
          </p:cNvPr>
          <p:cNvSpPr txBox="1"/>
          <p:nvPr/>
        </p:nvSpPr>
        <p:spPr>
          <a:xfrm>
            <a:off x="67112" y="142613"/>
            <a:ext cx="12124888" cy="1015663"/>
          </a:xfrm>
          <a:prstGeom prst="rect">
            <a:avLst/>
          </a:prstGeom>
          <a:noFill/>
        </p:spPr>
        <p:txBody>
          <a:bodyPr wrap="square">
            <a:spAutoFit/>
          </a:bodyPr>
          <a:lstStyle/>
          <a:p>
            <a:pPr algn="l"/>
            <a:r>
              <a:rPr lang="en-US" sz="2400" b="1" i="0" dirty="0">
                <a:solidFill>
                  <a:srgbClr val="000000"/>
                </a:solidFill>
                <a:effectLst/>
                <a:latin typeface="Poppins" panose="00000500000000000000" pitchFamily="2" charset="0"/>
              </a:rPr>
              <a:t>Java Tutorial: Exercise 1 - Solutions + Shoutouts</a:t>
            </a:r>
          </a:p>
          <a:p>
            <a:pPr algn="l"/>
            <a:r>
              <a:rPr lang="en-US" b="0" i="0" dirty="0">
                <a:solidFill>
                  <a:srgbClr val="000000"/>
                </a:solidFill>
                <a:effectLst/>
                <a:latin typeface="Poppins" panose="00000500000000000000" pitchFamily="2" charset="0"/>
              </a:rPr>
              <a:t>Write a program to calculate the percentage of a given student in the CBSE board exam. His marks from 5 subjects must be taken as input from the keyboard. (Marks are out of 100)</a:t>
            </a:r>
          </a:p>
        </p:txBody>
      </p:sp>
      <p:sp>
        <p:nvSpPr>
          <p:cNvPr id="5" name="TextBox 4">
            <a:extLst>
              <a:ext uri="{FF2B5EF4-FFF2-40B4-BE49-F238E27FC236}">
                <a16:creationId xmlns:a16="http://schemas.microsoft.com/office/drawing/2014/main" id="{48398F3B-AD3F-3F93-D9F9-08FC1C93A085}"/>
              </a:ext>
            </a:extLst>
          </p:cNvPr>
          <p:cNvSpPr txBox="1"/>
          <p:nvPr/>
        </p:nvSpPr>
        <p:spPr>
          <a:xfrm>
            <a:off x="0" y="1452408"/>
            <a:ext cx="12192000" cy="5262979"/>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200" dirty="0"/>
              <a:t>package </a:t>
            </a:r>
            <a:r>
              <a:rPr lang="en-IN" sz="1200" dirty="0" err="1"/>
              <a:t>com.company</a:t>
            </a:r>
            <a:r>
              <a:rPr lang="en-IN" sz="1200" dirty="0"/>
              <a:t>;</a:t>
            </a:r>
          </a:p>
          <a:p>
            <a:r>
              <a:rPr lang="en-IN" sz="1200" dirty="0"/>
              <a:t>import </a:t>
            </a:r>
            <a:r>
              <a:rPr lang="en-IN" sz="1200" dirty="0" err="1"/>
              <a:t>java.util.Scanner</a:t>
            </a:r>
            <a:r>
              <a:rPr lang="en-IN" sz="1200" dirty="0"/>
              <a:t>;</a:t>
            </a:r>
          </a:p>
          <a:p>
            <a:endParaRPr lang="en-IN" sz="1200" dirty="0"/>
          </a:p>
          <a:p>
            <a:r>
              <a:rPr lang="en-IN" sz="1200" dirty="0"/>
              <a:t>public class cwh_11_ex1_sol {</a:t>
            </a:r>
          </a:p>
          <a:p>
            <a:endParaRPr lang="en-IN" sz="1200" dirty="0"/>
          </a:p>
          <a:p>
            <a:endParaRPr lang="en-IN" sz="1200" dirty="0"/>
          </a:p>
          <a:p>
            <a:r>
              <a:rPr lang="en-IN" sz="1200" dirty="0"/>
              <a:t>    public static void main(String[] </a:t>
            </a:r>
            <a:r>
              <a:rPr lang="en-IN" sz="1200" dirty="0" err="1"/>
              <a:t>args</a:t>
            </a:r>
            <a:r>
              <a:rPr lang="en-IN" sz="1200" dirty="0"/>
              <a:t>) {</a:t>
            </a:r>
          </a:p>
          <a:p>
            <a:endParaRPr lang="en-IN" sz="1200" dirty="0"/>
          </a:p>
          <a:p>
            <a:r>
              <a:rPr lang="en-IN" sz="1200" dirty="0"/>
              <a:t>        Scanner scan = new Scanner(System.in);</a:t>
            </a:r>
          </a:p>
          <a:p>
            <a:r>
              <a:rPr lang="en-IN" sz="1200" dirty="0"/>
              <a:t>        </a:t>
            </a:r>
            <a:r>
              <a:rPr lang="en-IN" sz="1200" dirty="0" err="1"/>
              <a:t>System.out.println</a:t>
            </a:r>
            <a:r>
              <a:rPr lang="en-IN" sz="1200" dirty="0"/>
              <a:t>("Enter your Physics marks : ");</a:t>
            </a:r>
          </a:p>
          <a:p>
            <a:r>
              <a:rPr lang="en-IN" sz="1200" dirty="0"/>
              <a:t>        int physics = </a:t>
            </a:r>
            <a:r>
              <a:rPr lang="en-IN" sz="1200" dirty="0" err="1"/>
              <a:t>scan.nextInt</a:t>
            </a:r>
            <a:r>
              <a:rPr lang="en-IN" sz="1200" dirty="0"/>
              <a:t>();</a:t>
            </a:r>
          </a:p>
          <a:p>
            <a:r>
              <a:rPr lang="en-IN" sz="1200" dirty="0"/>
              <a:t>        </a:t>
            </a:r>
            <a:r>
              <a:rPr lang="en-IN" sz="1200" dirty="0" err="1"/>
              <a:t>System.out.println</a:t>
            </a:r>
            <a:r>
              <a:rPr lang="en-IN" sz="1200" dirty="0"/>
              <a:t>("Enter your English marks : ");</a:t>
            </a:r>
          </a:p>
          <a:p>
            <a:r>
              <a:rPr lang="en-IN" sz="1200" dirty="0"/>
              <a:t>        int English = </a:t>
            </a:r>
            <a:r>
              <a:rPr lang="en-IN" sz="1200" dirty="0" err="1"/>
              <a:t>scan.nextInt</a:t>
            </a:r>
            <a:r>
              <a:rPr lang="en-IN" sz="1200" dirty="0"/>
              <a:t>();</a:t>
            </a:r>
          </a:p>
          <a:p>
            <a:r>
              <a:rPr lang="en-IN" sz="1200" dirty="0"/>
              <a:t>        </a:t>
            </a:r>
            <a:r>
              <a:rPr lang="en-IN" sz="1200" dirty="0" err="1"/>
              <a:t>System.out.println</a:t>
            </a:r>
            <a:r>
              <a:rPr lang="en-IN" sz="1200" dirty="0"/>
              <a:t>("Enter your Chemistry marks : ");</a:t>
            </a:r>
          </a:p>
          <a:p>
            <a:r>
              <a:rPr lang="en-IN" sz="1200" dirty="0"/>
              <a:t>        int chemistry = </a:t>
            </a:r>
            <a:r>
              <a:rPr lang="en-IN" sz="1200" dirty="0" err="1"/>
              <a:t>scan.nextInt</a:t>
            </a:r>
            <a:r>
              <a:rPr lang="en-IN" sz="1200" dirty="0"/>
              <a:t>();</a:t>
            </a:r>
          </a:p>
          <a:p>
            <a:r>
              <a:rPr lang="en-IN" sz="1200" dirty="0"/>
              <a:t>        </a:t>
            </a:r>
            <a:r>
              <a:rPr lang="en-IN" sz="1200" dirty="0" err="1"/>
              <a:t>System.out.println</a:t>
            </a:r>
            <a:r>
              <a:rPr lang="en-IN" sz="1200" dirty="0"/>
              <a:t>("Enter your Mathematics marks : ");</a:t>
            </a:r>
          </a:p>
          <a:p>
            <a:r>
              <a:rPr lang="en-IN" sz="1200" dirty="0"/>
              <a:t>        int mathematics = </a:t>
            </a:r>
            <a:r>
              <a:rPr lang="en-IN" sz="1200" dirty="0" err="1"/>
              <a:t>scan.nextInt</a:t>
            </a:r>
            <a:r>
              <a:rPr lang="en-IN" sz="1200" dirty="0"/>
              <a:t>();</a:t>
            </a:r>
          </a:p>
          <a:p>
            <a:r>
              <a:rPr lang="en-IN" sz="1200" dirty="0"/>
              <a:t>        </a:t>
            </a:r>
            <a:r>
              <a:rPr lang="en-IN" sz="1200" dirty="0" err="1"/>
              <a:t>System.out.println</a:t>
            </a:r>
            <a:r>
              <a:rPr lang="en-IN" sz="1200" dirty="0"/>
              <a:t>("Enter your Computer Science marks : ");</a:t>
            </a:r>
          </a:p>
          <a:p>
            <a:r>
              <a:rPr lang="en-IN" sz="1200" dirty="0"/>
              <a:t>        int computer = </a:t>
            </a:r>
            <a:r>
              <a:rPr lang="en-IN" sz="1200" dirty="0" err="1"/>
              <a:t>scan.nextInt</a:t>
            </a:r>
            <a:r>
              <a:rPr lang="en-IN" sz="1200" dirty="0"/>
              <a:t>();</a:t>
            </a:r>
          </a:p>
          <a:p>
            <a:endParaRPr lang="en-IN" sz="1200" dirty="0"/>
          </a:p>
          <a:p>
            <a:r>
              <a:rPr lang="en-IN" sz="1200" dirty="0"/>
              <a:t>        float percentage = ((physics + English + chemistry + mathematics + computer)/500.0f)*100;</a:t>
            </a:r>
          </a:p>
          <a:p>
            <a:endParaRPr lang="en-IN" sz="1200" dirty="0"/>
          </a:p>
          <a:p>
            <a:r>
              <a:rPr lang="en-IN" sz="1200" dirty="0"/>
              <a:t>        </a:t>
            </a:r>
            <a:r>
              <a:rPr lang="en-IN" sz="1200" dirty="0" err="1"/>
              <a:t>System.out.println</a:t>
            </a:r>
            <a:r>
              <a:rPr lang="en-IN" sz="1200" dirty="0"/>
              <a:t>("percentage : ");</a:t>
            </a:r>
          </a:p>
          <a:p>
            <a:r>
              <a:rPr lang="en-IN" sz="1200" dirty="0"/>
              <a:t>        </a:t>
            </a:r>
            <a:r>
              <a:rPr lang="en-IN" sz="1200" dirty="0" err="1"/>
              <a:t>System.out.println</a:t>
            </a:r>
            <a:r>
              <a:rPr lang="en-IN" sz="1200" dirty="0"/>
              <a:t>(percentage);</a:t>
            </a:r>
          </a:p>
          <a:p>
            <a:endParaRPr lang="en-IN" sz="1200" dirty="0"/>
          </a:p>
          <a:p>
            <a:endParaRPr lang="en-IN" sz="1200" dirty="0"/>
          </a:p>
          <a:p>
            <a:r>
              <a:rPr lang="en-IN" sz="1200" dirty="0"/>
              <a:t>    }</a:t>
            </a:r>
          </a:p>
          <a:p>
            <a:r>
              <a:rPr lang="en-IN" sz="1200" dirty="0"/>
              <a:t>}</a:t>
            </a:r>
          </a:p>
        </p:txBody>
      </p:sp>
    </p:spTree>
    <p:extLst>
      <p:ext uri="{BB962C8B-B14F-4D97-AF65-F5344CB8AC3E}">
        <p14:creationId xmlns:p14="http://schemas.microsoft.com/office/powerpoint/2010/main" val="160019145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06CB87-B6D7-38E7-EA80-6BA18DBD00DB}"/>
              </a:ext>
            </a:extLst>
          </p:cNvPr>
          <p:cNvSpPr txBox="1"/>
          <p:nvPr/>
        </p:nvSpPr>
        <p:spPr>
          <a:xfrm>
            <a:off x="0" y="104511"/>
            <a:ext cx="9001386" cy="1569660"/>
          </a:xfrm>
          <a:prstGeom prst="rect">
            <a:avLst/>
          </a:prstGeom>
          <a:noFill/>
        </p:spPr>
        <p:txBody>
          <a:bodyPr wrap="square">
            <a:spAutoFit/>
          </a:bodyPr>
          <a:lstStyle/>
          <a:p>
            <a:pPr algn="l"/>
            <a:r>
              <a:rPr lang="fr-FR" sz="2400" b="1" i="0" dirty="0">
                <a:solidFill>
                  <a:srgbClr val="000000"/>
                </a:solidFill>
                <a:effectLst/>
                <a:latin typeface="Poppins" panose="00000500000000000000" pitchFamily="2" charset="0"/>
              </a:rPr>
              <a:t>Java Tutorial: </a:t>
            </a:r>
            <a:r>
              <a:rPr lang="fr-FR" sz="2400" b="1" i="0" dirty="0" err="1">
                <a:solidFill>
                  <a:srgbClr val="000000"/>
                </a:solidFill>
                <a:effectLst/>
                <a:latin typeface="Poppins" panose="00000500000000000000" pitchFamily="2" charset="0"/>
              </a:rPr>
              <a:t>Chapter</a:t>
            </a:r>
            <a:r>
              <a:rPr lang="fr-FR" sz="2400" b="1" i="0" dirty="0">
                <a:solidFill>
                  <a:srgbClr val="000000"/>
                </a:solidFill>
                <a:effectLst/>
                <a:latin typeface="Poppins" panose="00000500000000000000" pitchFamily="2" charset="0"/>
              </a:rPr>
              <a:t> 2 - Practice Set (Java Practice Questions)</a:t>
            </a:r>
          </a:p>
          <a:p>
            <a:br>
              <a:rPr lang="fr-FR" sz="2400" b="0" i="0" dirty="0">
                <a:solidFill>
                  <a:srgbClr val="000000"/>
                </a:solidFill>
                <a:effectLst/>
                <a:latin typeface="Poppins" panose="00000500000000000000" pitchFamily="2" charset="0"/>
              </a:rPr>
            </a:br>
            <a:endParaRPr lang="en-IN" sz="2400" dirty="0"/>
          </a:p>
        </p:txBody>
      </p:sp>
      <p:pic>
        <p:nvPicPr>
          <p:cNvPr id="9" name="Picture 8">
            <a:extLst>
              <a:ext uri="{FF2B5EF4-FFF2-40B4-BE49-F238E27FC236}">
                <a16:creationId xmlns:a16="http://schemas.microsoft.com/office/drawing/2014/main" id="{CB5C9764-E831-1962-CC40-B03A6F3FED32}"/>
              </a:ext>
            </a:extLst>
          </p:cNvPr>
          <p:cNvPicPr>
            <a:picLocks noChangeAspect="1"/>
          </p:cNvPicPr>
          <p:nvPr/>
        </p:nvPicPr>
        <p:blipFill>
          <a:blip r:embed="rId2"/>
          <a:stretch>
            <a:fillRect/>
          </a:stretch>
        </p:blipFill>
        <p:spPr>
          <a:xfrm>
            <a:off x="1" y="1837188"/>
            <a:ext cx="12191999" cy="3670291"/>
          </a:xfrm>
          <a:prstGeom prst="rect">
            <a:avLst/>
          </a:prstGeom>
        </p:spPr>
      </p:pic>
    </p:spTree>
    <p:extLst>
      <p:ext uri="{BB962C8B-B14F-4D97-AF65-F5344CB8AC3E}">
        <p14:creationId xmlns:p14="http://schemas.microsoft.com/office/powerpoint/2010/main" val="341789014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90C12A-3F23-79ED-E433-DEA085E6FF0B}"/>
              </a:ext>
            </a:extLst>
          </p:cNvPr>
          <p:cNvSpPr txBox="1"/>
          <p:nvPr/>
        </p:nvSpPr>
        <p:spPr>
          <a:xfrm>
            <a:off x="0" y="788564"/>
            <a:ext cx="12192000" cy="181588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400" dirty="0"/>
              <a:t>package </a:t>
            </a:r>
            <a:r>
              <a:rPr lang="en-IN" sz="1400" dirty="0" err="1"/>
              <a:t>com.company</a:t>
            </a:r>
            <a:r>
              <a:rPr lang="en-IN" sz="1400" dirty="0"/>
              <a:t>;</a:t>
            </a:r>
          </a:p>
          <a:p>
            <a:endParaRPr lang="en-IN" sz="1400" dirty="0"/>
          </a:p>
          <a:p>
            <a:r>
              <a:rPr lang="en-IN" sz="1400" dirty="0"/>
              <a:t>public class cwh_12_ps2_pr01 {</a:t>
            </a:r>
          </a:p>
          <a:p>
            <a:r>
              <a:rPr lang="en-IN" sz="1400" dirty="0"/>
              <a:t>    public static void main(String[] </a:t>
            </a:r>
            <a:r>
              <a:rPr lang="en-IN" sz="1400" dirty="0" err="1"/>
              <a:t>args</a:t>
            </a:r>
            <a:r>
              <a:rPr lang="en-IN" sz="1400" dirty="0"/>
              <a:t>) {</a:t>
            </a:r>
          </a:p>
          <a:p>
            <a:r>
              <a:rPr lang="en-IN" sz="1400" dirty="0"/>
              <a:t>        float a = 7/4.0f * 9/2.0f;</a:t>
            </a:r>
          </a:p>
          <a:p>
            <a:r>
              <a:rPr lang="en-IN" sz="1400" dirty="0"/>
              <a:t>        </a:t>
            </a:r>
            <a:r>
              <a:rPr lang="en-IN" sz="1400" dirty="0" err="1"/>
              <a:t>System.out.println</a:t>
            </a:r>
            <a:r>
              <a:rPr lang="en-IN" sz="1400" dirty="0"/>
              <a:t>(a);</a:t>
            </a:r>
          </a:p>
          <a:p>
            <a:r>
              <a:rPr lang="en-IN" sz="1400" dirty="0"/>
              <a:t>    }</a:t>
            </a:r>
          </a:p>
          <a:p>
            <a:r>
              <a:rPr lang="en-IN" sz="1400" dirty="0"/>
              <a:t>}</a:t>
            </a:r>
          </a:p>
        </p:txBody>
      </p:sp>
      <p:sp>
        <p:nvSpPr>
          <p:cNvPr id="5" name="TextBox 4">
            <a:extLst>
              <a:ext uri="{FF2B5EF4-FFF2-40B4-BE49-F238E27FC236}">
                <a16:creationId xmlns:a16="http://schemas.microsoft.com/office/drawing/2014/main" id="{E6B0268D-797C-8EC7-2403-25EE1319D882}"/>
              </a:ext>
            </a:extLst>
          </p:cNvPr>
          <p:cNvSpPr txBox="1"/>
          <p:nvPr/>
        </p:nvSpPr>
        <p:spPr>
          <a:xfrm>
            <a:off x="0" y="3292344"/>
            <a:ext cx="12192000" cy="3046988"/>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600" dirty="0"/>
              <a:t>package </a:t>
            </a:r>
            <a:r>
              <a:rPr lang="en-IN" sz="1600" dirty="0" err="1"/>
              <a:t>com.company</a:t>
            </a:r>
            <a:r>
              <a:rPr lang="en-IN" sz="1600" dirty="0"/>
              <a:t>;</a:t>
            </a:r>
          </a:p>
          <a:p>
            <a:endParaRPr lang="en-IN" sz="1600" dirty="0"/>
          </a:p>
          <a:p>
            <a:r>
              <a:rPr lang="en-IN" sz="1600" dirty="0"/>
              <a:t>public class cwh_12_ps2_pr02 {</a:t>
            </a:r>
          </a:p>
          <a:p>
            <a:r>
              <a:rPr lang="en-IN" sz="1600" dirty="0"/>
              <a:t>    public static void main(String[] </a:t>
            </a:r>
            <a:r>
              <a:rPr lang="en-IN" sz="1600" dirty="0" err="1"/>
              <a:t>args</a:t>
            </a:r>
            <a:r>
              <a:rPr lang="en-IN" sz="1600" dirty="0"/>
              <a:t>) {</a:t>
            </a:r>
          </a:p>
          <a:p>
            <a:r>
              <a:rPr lang="en-IN" sz="1600" dirty="0"/>
              <a:t>        char grade = 'B';</a:t>
            </a:r>
          </a:p>
          <a:p>
            <a:r>
              <a:rPr lang="en-IN" sz="1600" dirty="0"/>
              <a:t>        grade = (char)(grade + 8);</a:t>
            </a:r>
          </a:p>
          <a:p>
            <a:r>
              <a:rPr lang="en-IN" sz="1600" dirty="0"/>
              <a:t>        </a:t>
            </a:r>
            <a:r>
              <a:rPr lang="en-IN" sz="1600" dirty="0" err="1"/>
              <a:t>System.out.println</a:t>
            </a:r>
            <a:r>
              <a:rPr lang="en-IN" sz="1600" dirty="0"/>
              <a:t>(grade);</a:t>
            </a:r>
          </a:p>
          <a:p>
            <a:r>
              <a:rPr lang="en-IN" sz="1600" dirty="0"/>
              <a:t>        // Decrypting the grade</a:t>
            </a:r>
          </a:p>
          <a:p>
            <a:r>
              <a:rPr lang="en-IN" sz="1600" dirty="0"/>
              <a:t>        grade = (char)(grade - 8);</a:t>
            </a:r>
          </a:p>
          <a:p>
            <a:r>
              <a:rPr lang="en-IN" sz="1600" dirty="0"/>
              <a:t>        </a:t>
            </a:r>
            <a:r>
              <a:rPr lang="en-IN" sz="1600" dirty="0" err="1"/>
              <a:t>System.out.println</a:t>
            </a:r>
            <a:r>
              <a:rPr lang="en-IN" sz="1600" dirty="0"/>
              <a:t>(grade);</a:t>
            </a:r>
          </a:p>
          <a:p>
            <a:r>
              <a:rPr lang="en-IN" sz="1600" dirty="0"/>
              <a:t>    }</a:t>
            </a:r>
          </a:p>
          <a:p>
            <a:r>
              <a:rPr lang="en-IN" sz="1600" dirty="0"/>
              <a:t>}</a:t>
            </a:r>
          </a:p>
        </p:txBody>
      </p:sp>
    </p:spTree>
    <p:extLst>
      <p:ext uri="{BB962C8B-B14F-4D97-AF65-F5344CB8AC3E}">
        <p14:creationId xmlns:p14="http://schemas.microsoft.com/office/powerpoint/2010/main" val="4280702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1D72ED-5A8A-4123-D7C1-17EBAFE7529F}"/>
              </a:ext>
            </a:extLst>
          </p:cNvPr>
          <p:cNvSpPr txBox="1"/>
          <p:nvPr/>
        </p:nvSpPr>
        <p:spPr>
          <a:xfrm>
            <a:off x="0" y="0"/>
            <a:ext cx="12192000" cy="2462213"/>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400" dirty="0"/>
              <a:t>package </a:t>
            </a:r>
            <a:r>
              <a:rPr lang="en-IN" sz="1400" dirty="0" err="1"/>
              <a:t>com.company</a:t>
            </a:r>
            <a:r>
              <a:rPr lang="en-IN" sz="1400" dirty="0"/>
              <a:t>;</a:t>
            </a:r>
          </a:p>
          <a:p>
            <a:r>
              <a:rPr lang="en-IN" sz="1400" dirty="0"/>
              <a:t>import </a:t>
            </a:r>
            <a:r>
              <a:rPr lang="en-IN" sz="1400" dirty="0" err="1"/>
              <a:t>java.util.Scanner</a:t>
            </a:r>
            <a:r>
              <a:rPr lang="en-IN" sz="1400" dirty="0"/>
              <a:t>;</a:t>
            </a:r>
          </a:p>
          <a:p>
            <a:endParaRPr lang="en-IN" sz="1400" dirty="0"/>
          </a:p>
          <a:p>
            <a:r>
              <a:rPr lang="en-IN" sz="1400" dirty="0"/>
              <a:t>public class cwh_12_ps2_pr_03 {</a:t>
            </a:r>
          </a:p>
          <a:p>
            <a:r>
              <a:rPr lang="en-IN" sz="1400" dirty="0"/>
              <a:t>    public static void main(String[] </a:t>
            </a:r>
            <a:r>
              <a:rPr lang="en-IN" sz="1400" dirty="0" err="1"/>
              <a:t>args</a:t>
            </a:r>
            <a:r>
              <a:rPr lang="en-IN" sz="1400" dirty="0"/>
              <a:t>) {</a:t>
            </a:r>
          </a:p>
          <a:p>
            <a:r>
              <a:rPr lang="en-IN" sz="1400" dirty="0"/>
              <a:t>        Scanner </a:t>
            </a:r>
            <a:r>
              <a:rPr lang="en-IN" sz="1400" dirty="0" err="1"/>
              <a:t>sc</a:t>
            </a:r>
            <a:r>
              <a:rPr lang="en-IN" sz="1400" dirty="0"/>
              <a:t> = new Scanner(System.in);</a:t>
            </a:r>
          </a:p>
          <a:p>
            <a:r>
              <a:rPr lang="en-IN" sz="1400" dirty="0"/>
              <a:t>        int a = </a:t>
            </a:r>
            <a:r>
              <a:rPr lang="en-IN" sz="1400" dirty="0" err="1"/>
              <a:t>sc.nextInt</a:t>
            </a:r>
            <a:r>
              <a:rPr lang="en-IN" sz="1400" dirty="0"/>
              <a:t>();</a:t>
            </a:r>
          </a:p>
          <a:p>
            <a:r>
              <a:rPr lang="en-IN" sz="1400" dirty="0"/>
              <a:t>        </a:t>
            </a:r>
            <a:r>
              <a:rPr lang="en-IN" sz="1400" dirty="0" err="1"/>
              <a:t>System.out.println</a:t>
            </a:r>
            <a:r>
              <a:rPr lang="en-IN" sz="1400" dirty="0"/>
              <a:t>(a&gt;8);</a:t>
            </a:r>
          </a:p>
          <a:p>
            <a:r>
              <a:rPr lang="en-IN" sz="1400" dirty="0"/>
              <a:t>        </a:t>
            </a:r>
            <a:r>
              <a:rPr lang="en-IN" sz="1400" dirty="0" err="1"/>
              <a:t>System.out.println</a:t>
            </a:r>
            <a:r>
              <a:rPr lang="en-IN" sz="1400" dirty="0"/>
              <a:t>(7*49/7+35/7);</a:t>
            </a:r>
          </a:p>
          <a:p>
            <a:r>
              <a:rPr lang="en-IN" sz="1400" dirty="0"/>
              <a:t>    }</a:t>
            </a:r>
          </a:p>
          <a:p>
            <a:r>
              <a:rPr lang="en-IN" sz="1400" dirty="0"/>
              <a:t>}</a:t>
            </a:r>
          </a:p>
        </p:txBody>
      </p:sp>
      <p:sp>
        <p:nvSpPr>
          <p:cNvPr id="7" name="TextBox 6">
            <a:extLst>
              <a:ext uri="{FF2B5EF4-FFF2-40B4-BE49-F238E27FC236}">
                <a16:creationId xmlns:a16="http://schemas.microsoft.com/office/drawing/2014/main" id="{B009817C-D32A-23CC-6304-5CB20DAF0755}"/>
              </a:ext>
            </a:extLst>
          </p:cNvPr>
          <p:cNvSpPr txBox="1"/>
          <p:nvPr/>
        </p:nvSpPr>
        <p:spPr>
          <a:xfrm>
            <a:off x="0" y="2826738"/>
            <a:ext cx="12192000" cy="1384995"/>
          </a:xfrm>
          <a:prstGeom prst="rect">
            <a:avLst/>
          </a:prstGeom>
          <a:noFill/>
        </p:spPr>
        <p:txBody>
          <a:bodyPr wrap="square">
            <a:spAutoFit/>
          </a:bodyPr>
          <a:lstStyle/>
          <a:p>
            <a:pPr algn="l"/>
            <a:r>
              <a:rPr lang="en-US" sz="2400" b="1" i="0" dirty="0">
                <a:effectLst/>
                <a:highlight>
                  <a:srgbClr val="000000"/>
                </a:highlight>
                <a:latin typeface="Poppins" panose="00000500000000000000" pitchFamily="2" charset="0"/>
              </a:rPr>
              <a:t>Java Tutorial: Introduction to Strings</a:t>
            </a:r>
          </a:p>
          <a:p>
            <a:pPr algn="l"/>
            <a:endParaRPr lang="en-US" sz="2400" b="1" i="0" dirty="0">
              <a:solidFill>
                <a:srgbClr val="000000"/>
              </a:solidFill>
              <a:effectLst/>
              <a:latin typeface="Poppins" panose="00000500000000000000" pitchFamily="2" charset="0"/>
            </a:endParaRPr>
          </a:p>
          <a:p>
            <a:pPr algn="l">
              <a:buFont typeface="Arial" panose="020B0604020202020204" pitchFamily="34" charset="0"/>
              <a:buChar char="•"/>
            </a:pPr>
            <a:r>
              <a:rPr lang="en-US" b="0" i="0" dirty="0">
                <a:solidFill>
                  <a:srgbClr val="000000"/>
                </a:solidFill>
                <a:effectLst/>
                <a:latin typeface="Poppins" panose="00000500000000000000" pitchFamily="2" charset="0"/>
              </a:rPr>
              <a:t>A string is a sequence of characters.</a:t>
            </a:r>
          </a:p>
          <a:p>
            <a:pPr algn="l">
              <a:buFont typeface="Arial" panose="020B0604020202020204" pitchFamily="34" charset="0"/>
              <a:buChar char="•"/>
            </a:pPr>
            <a:r>
              <a:rPr lang="en-US" b="0" i="0" dirty="0">
                <a:solidFill>
                  <a:srgbClr val="000000"/>
                </a:solidFill>
                <a:effectLst/>
                <a:latin typeface="Poppins" panose="00000500000000000000" pitchFamily="2" charset="0"/>
              </a:rPr>
              <a:t>Strings are objects that represent a char array. For example </a:t>
            </a:r>
          </a:p>
        </p:txBody>
      </p:sp>
      <p:sp>
        <p:nvSpPr>
          <p:cNvPr id="9" name="TextBox 8">
            <a:extLst>
              <a:ext uri="{FF2B5EF4-FFF2-40B4-BE49-F238E27FC236}">
                <a16:creationId xmlns:a16="http://schemas.microsoft.com/office/drawing/2014/main" id="{0F5588B7-F400-CF1C-2E45-F4FCD7CAC038}"/>
              </a:ext>
            </a:extLst>
          </p:cNvPr>
          <p:cNvSpPr txBox="1"/>
          <p:nvPr/>
        </p:nvSpPr>
        <p:spPr>
          <a:xfrm>
            <a:off x="0" y="4253092"/>
            <a:ext cx="12191999"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char[] str = {'H','A','R','R','Y'};</a:t>
            </a:r>
          </a:p>
          <a:p>
            <a:r>
              <a:rPr lang="en-IN" dirty="0"/>
              <a:t>String s = new String(str);</a:t>
            </a:r>
          </a:p>
        </p:txBody>
      </p:sp>
      <p:sp>
        <p:nvSpPr>
          <p:cNvPr id="11" name="TextBox 10">
            <a:extLst>
              <a:ext uri="{FF2B5EF4-FFF2-40B4-BE49-F238E27FC236}">
                <a16:creationId xmlns:a16="http://schemas.microsoft.com/office/drawing/2014/main" id="{2B0AEBF7-0B57-1757-5BB1-D7934B27A94E}"/>
              </a:ext>
            </a:extLst>
          </p:cNvPr>
          <p:cNvSpPr txBox="1"/>
          <p:nvPr/>
        </p:nvSpPr>
        <p:spPr>
          <a:xfrm>
            <a:off x="-61519" y="4989019"/>
            <a:ext cx="6157518" cy="369332"/>
          </a:xfrm>
          <a:prstGeom prst="rect">
            <a:avLst/>
          </a:prstGeom>
          <a:noFill/>
        </p:spPr>
        <p:txBody>
          <a:bodyPr wrap="square">
            <a:spAutoFit/>
          </a:bodyPr>
          <a:lstStyle/>
          <a:p>
            <a:r>
              <a:rPr lang="en-IN" b="0" i="0" dirty="0">
                <a:solidFill>
                  <a:srgbClr val="000000"/>
                </a:solidFill>
                <a:effectLst/>
                <a:latin typeface="Poppins" panose="00000500000000000000" pitchFamily="2" charset="0"/>
              </a:rPr>
              <a:t>is same as :</a:t>
            </a:r>
            <a:endParaRPr lang="en-IN" dirty="0"/>
          </a:p>
        </p:txBody>
      </p:sp>
      <p:sp>
        <p:nvSpPr>
          <p:cNvPr id="13" name="TextBox 12">
            <a:extLst>
              <a:ext uri="{FF2B5EF4-FFF2-40B4-BE49-F238E27FC236}">
                <a16:creationId xmlns:a16="http://schemas.microsoft.com/office/drawing/2014/main" id="{A287451D-99B8-AB76-94BF-CDDA7D8C9C99}"/>
              </a:ext>
            </a:extLst>
          </p:cNvPr>
          <p:cNvSpPr txBox="1"/>
          <p:nvPr/>
        </p:nvSpPr>
        <p:spPr>
          <a:xfrm>
            <a:off x="0" y="5492043"/>
            <a:ext cx="12191998"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String s = "Harry";</a:t>
            </a:r>
          </a:p>
        </p:txBody>
      </p:sp>
      <p:sp>
        <p:nvSpPr>
          <p:cNvPr id="15" name="TextBox 14">
            <a:extLst>
              <a:ext uri="{FF2B5EF4-FFF2-40B4-BE49-F238E27FC236}">
                <a16:creationId xmlns:a16="http://schemas.microsoft.com/office/drawing/2014/main" id="{60C4DAEE-7B81-B14E-76C8-142540410486}"/>
              </a:ext>
            </a:extLst>
          </p:cNvPr>
          <p:cNvSpPr txBox="1"/>
          <p:nvPr/>
        </p:nvSpPr>
        <p:spPr>
          <a:xfrm>
            <a:off x="0" y="5917063"/>
            <a:ext cx="12192000" cy="923330"/>
          </a:xfrm>
          <a:prstGeom prst="rect">
            <a:avLst/>
          </a:prstGeom>
          <a:noFill/>
        </p:spPr>
        <p:txBody>
          <a:bodyPr wrap="square">
            <a:spAutoFit/>
          </a:bodyPr>
          <a:lstStyle/>
          <a:p>
            <a:pPr algn="l">
              <a:buFont typeface="Arial" panose="020B0604020202020204" pitchFamily="34" charset="0"/>
              <a:buChar char="•"/>
            </a:pPr>
            <a:r>
              <a:rPr lang="en-US" b="0" i="0" dirty="0">
                <a:solidFill>
                  <a:srgbClr val="000000"/>
                </a:solidFill>
                <a:effectLst/>
                <a:latin typeface="Poppins" panose="00000500000000000000" pitchFamily="2" charset="0"/>
              </a:rPr>
              <a:t>Strings are immutable and cannot be changed.</a:t>
            </a:r>
          </a:p>
          <a:p>
            <a:pPr algn="l">
              <a:buFont typeface="Arial" panose="020B0604020202020204" pitchFamily="34" charset="0"/>
              <a:buChar char="•"/>
            </a:pPr>
            <a:r>
              <a:rPr lang="en-US" b="0" i="0" dirty="0" err="1">
                <a:solidFill>
                  <a:srgbClr val="000000"/>
                </a:solidFill>
                <a:effectLst/>
                <a:latin typeface="Poppins" panose="00000500000000000000" pitchFamily="2" charset="0"/>
              </a:rPr>
              <a:t>java.lang.String</a:t>
            </a:r>
            <a:r>
              <a:rPr lang="en-US" b="0" i="0" dirty="0">
                <a:solidFill>
                  <a:srgbClr val="000000"/>
                </a:solidFill>
                <a:effectLst/>
                <a:latin typeface="Poppins" panose="00000500000000000000" pitchFamily="2" charset="0"/>
              </a:rPr>
              <a:t> class is used to create a String object.</a:t>
            </a:r>
          </a:p>
          <a:p>
            <a:pPr algn="l">
              <a:buFont typeface="Arial" panose="020B0604020202020204" pitchFamily="34" charset="0"/>
              <a:buChar char="•"/>
            </a:pPr>
            <a:r>
              <a:rPr lang="en-US" b="0" i="0" dirty="0">
                <a:solidFill>
                  <a:srgbClr val="000000"/>
                </a:solidFill>
                <a:effectLst/>
                <a:latin typeface="Poppins" panose="00000500000000000000" pitchFamily="2" charset="0"/>
              </a:rPr>
              <a:t>The string is a class but can be used as a data type.</a:t>
            </a:r>
          </a:p>
        </p:txBody>
      </p:sp>
    </p:spTree>
    <p:extLst>
      <p:ext uri="{BB962C8B-B14F-4D97-AF65-F5344CB8AC3E}">
        <p14:creationId xmlns:p14="http://schemas.microsoft.com/office/powerpoint/2010/main" val="28836975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F40043-9BF2-5800-1C5A-424ED11996AE}"/>
              </a:ext>
            </a:extLst>
          </p:cNvPr>
          <p:cNvSpPr txBox="1"/>
          <p:nvPr/>
        </p:nvSpPr>
        <p:spPr>
          <a:xfrm>
            <a:off x="-1" y="0"/>
            <a:ext cx="12189205"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String &lt;</a:t>
            </a:r>
            <a:r>
              <a:rPr lang="en-IN" dirty="0" err="1"/>
              <a:t>String_name</a:t>
            </a:r>
            <a:r>
              <a:rPr lang="en-IN" dirty="0"/>
              <a:t>&gt; = "&lt;</a:t>
            </a:r>
            <a:r>
              <a:rPr lang="en-IN" dirty="0" err="1"/>
              <a:t>sequence_of_string</a:t>
            </a:r>
            <a:r>
              <a:rPr lang="en-IN" dirty="0"/>
              <a:t>&gt;";</a:t>
            </a:r>
          </a:p>
        </p:txBody>
      </p:sp>
      <p:sp>
        <p:nvSpPr>
          <p:cNvPr id="5" name="TextBox 4">
            <a:extLst>
              <a:ext uri="{FF2B5EF4-FFF2-40B4-BE49-F238E27FC236}">
                <a16:creationId xmlns:a16="http://schemas.microsoft.com/office/drawing/2014/main" id="{2E95BE43-4345-F50A-A461-45D26FB8AF6C}"/>
              </a:ext>
            </a:extLst>
          </p:cNvPr>
          <p:cNvSpPr txBox="1"/>
          <p:nvPr/>
        </p:nvSpPr>
        <p:spPr>
          <a:xfrm>
            <a:off x="-37751" y="540981"/>
            <a:ext cx="6132352" cy="369332"/>
          </a:xfrm>
          <a:prstGeom prst="rect">
            <a:avLst/>
          </a:prstGeom>
          <a:noFill/>
        </p:spPr>
        <p:txBody>
          <a:bodyPr wrap="square">
            <a:spAutoFit/>
          </a:bodyPr>
          <a:lstStyle/>
          <a:p>
            <a:pPr algn="l"/>
            <a:r>
              <a:rPr lang="en-IN" b="1" i="0" dirty="0">
                <a:effectLst/>
                <a:latin typeface="Poppins" panose="00000500000000000000" pitchFamily="2" charset="0"/>
              </a:rPr>
              <a:t>Example :</a:t>
            </a:r>
          </a:p>
        </p:txBody>
      </p:sp>
      <p:sp>
        <p:nvSpPr>
          <p:cNvPr id="7" name="TextBox 6">
            <a:extLst>
              <a:ext uri="{FF2B5EF4-FFF2-40B4-BE49-F238E27FC236}">
                <a16:creationId xmlns:a16="http://schemas.microsoft.com/office/drawing/2014/main" id="{5FCCB2D9-6168-9D01-F7A7-B03DB888364C}"/>
              </a:ext>
            </a:extLst>
          </p:cNvPr>
          <p:cNvSpPr txBox="1"/>
          <p:nvPr/>
        </p:nvSpPr>
        <p:spPr>
          <a:xfrm>
            <a:off x="0" y="910313"/>
            <a:ext cx="1218920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 String str = "</a:t>
            </a:r>
            <a:r>
              <a:rPr lang="en-IN" dirty="0" err="1"/>
              <a:t>CodeWithHarry</a:t>
            </a:r>
            <a:r>
              <a:rPr lang="en-IN" dirty="0"/>
              <a:t>";</a:t>
            </a:r>
          </a:p>
        </p:txBody>
      </p:sp>
      <p:sp>
        <p:nvSpPr>
          <p:cNvPr id="8" name="Rectangle 1">
            <a:extLst>
              <a:ext uri="{FF2B5EF4-FFF2-40B4-BE49-F238E27FC236}">
                <a16:creationId xmlns:a16="http://schemas.microsoft.com/office/drawing/2014/main" id="{A51C767C-000E-5B63-EC5F-484D464AB2ED}"/>
              </a:ext>
            </a:extLst>
          </p:cNvPr>
          <p:cNvSpPr>
            <a:spLocks noChangeArrowheads="1"/>
          </p:cNvSpPr>
          <p:nvPr/>
        </p:nvSpPr>
        <p:spPr bwMode="auto">
          <a:xfrm>
            <a:off x="0" y="1451294"/>
            <a:ext cx="6939319"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In the above example, str is a reference, and “</a:t>
            </a:r>
            <a:r>
              <a:rPr kumimoji="0" lang="en-US" altLang="en-US" sz="1400" b="0" i="0" u="none" strike="noStrike" cap="none" normalizeH="0" baseline="0" dirty="0" err="1">
                <a:ln>
                  <a:noFill/>
                </a:ln>
                <a:solidFill>
                  <a:srgbClr val="000000"/>
                </a:solidFill>
                <a:effectLst/>
                <a:latin typeface="Poppins" panose="00000500000000000000" pitchFamily="2" charset="0"/>
                <a:cs typeface="Poppins" panose="00000500000000000000" pitchFamily="2" charset="0"/>
              </a:rPr>
              <a:t>CodeWithHarrt</a:t>
            </a:r>
            <a:r>
              <a:rPr kumimoji="0" lang="en-US" altLang="en-US" sz="14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is an object.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800" b="1" dirty="0">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Different ways to create a string in Java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In Java, strings can be created in two ways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By using string literal</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By using the new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6894A05-654A-9842-361F-706DDDEC3029}"/>
              </a:ext>
            </a:extLst>
          </p:cNvPr>
          <p:cNvSpPr txBox="1"/>
          <p:nvPr/>
        </p:nvSpPr>
        <p:spPr>
          <a:xfrm>
            <a:off x="81793" y="3244334"/>
            <a:ext cx="6153324" cy="369332"/>
          </a:xfrm>
          <a:prstGeom prst="rect">
            <a:avLst/>
          </a:prstGeom>
          <a:noFill/>
        </p:spPr>
        <p:txBody>
          <a:bodyPr wrap="square">
            <a:spAutoFit/>
          </a:bodyPr>
          <a:lstStyle/>
          <a:p>
            <a:pPr algn="l"/>
            <a:r>
              <a:rPr lang="en-US" b="1" i="0" dirty="0">
                <a:effectLst/>
                <a:latin typeface="Poppins" panose="00000500000000000000" pitchFamily="2" charset="0"/>
              </a:rPr>
              <a:t>Creating String using String literal :</a:t>
            </a:r>
          </a:p>
        </p:txBody>
      </p:sp>
      <p:sp>
        <p:nvSpPr>
          <p:cNvPr id="12" name="TextBox 11">
            <a:extLst>
              <a:ext uri="{FF2B5EF4-FFF2-40B4-BE49-F238E27FC236}">
                <a16:creationId xmlns:a16="http://schemas.microsoft.com/office/drawing/2014/main" id="{1EB2AF2B-3D46-B784-807C-FBEFB75C4E0C}"/>
              </a:ext>
            </a:extLst>
          </p:cNvPr>
          <p:cNvSpPr txBox="1"/>
          <p:nvPr/>
        </p:nvSpPr>
        <p:spPr>
          <a:xfrm>
            <a:off x="0" y="3712020"/>
            <a:ext cx="12192000"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String s1= "String literal"</a:t>
            </a:r>
          </a:p>
        </p:txBody>
      </p:sp>
      <p:sp>
        <p:nvSpPr>
          <p:cNvPr id="14" name="TextBox 13">
            <a:extLst>
              <a:ext uri="{FF2B5EF4-FFF2-40B4-BE49-F238E27FC236}">
                <a16:creationId xmlns:a16="http://schemas.microsoft.com/office/drawing/2014/main" id="{A57C8FB1-5784-C081-914C-F62CF3CA39F0}"/>
              </a:ext>
            </a:extLst>
          </p:cNvPr>
          <p:cNvSpPr txBox="1"/>
          <p:nvPr/>
        </p:nvSpPr>
        <p:spPr>
          <a:xfrm>
            <a:off x="84590" y="4837776"/>
            <a:ext cx="12107410" cy="923330"/>
          </a:xfrm>
          <a:prstGeom prst="rect">
            <a:avLst/>
          </a:prstGeom>
          <a:noFill/>
        </p:spPr>
        <p:txBody>
          <a:bodyPr wrap="square">
            <a:spAutoFit/>
          </a:bodyPr>
          <a:lstStyle/>
          <a:p>
            <a:r>
              <a:rPr lang="en-US" b="0" i="0" dirty="0">
                <a:solidFill>
                  <a:srgbClr val="000000"/>
                </a:solidFill>
                <a:effectLst/>
                <a:latin typeface="Poppins" panose="00000500000000000000" pitchFamily="2" charset="0"/>
              </a:rPr>
              <a:t>We use double quotes("") to create string using string literal. Before creating a new string instance, JVM verifies if the same string is already present in the string pool or not. If it is already present, then JVM returns a reference to the pooled instance otherwise, a new string instance is created.</a:t>
            </a:r>
            <a:endParaRPr lang="en-IN" dirty="0"/>
          </a:p>
        </p:txBody>
      </p:sp>
    </p:spTree>
    <p:extLst>
      <p:ext uri="{BB962C8B-B14F-4D97-AF65-F5344CB8AC3E}">
        <p14:creationId xmlns:p14="http://schemas.microsoft.com/office/powerpoint/2010/main" val="3748420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EFC64180-7873-22EB-DCC1-4CED38606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138" y="0"/>
            <a:ext cx="7348756" cy="47733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BC92C04-A3E3-F8D1-84E0-3A989844B0D5}"/>
              </a:ext>
            </a:extLst>
          </p:cNvPr>
          <p:cNvSpPr txBox="1"/>
          <p:nvPr/>
        </p:nvSpPr>
        <p:spPr>
          <a:xfrm>
            <a:off x="0" y="4773336"/>
            <a:ext cx="12192000" cy="1200329"/>
          </a:xfrm>
          <a:prstGeom prst="rect">
            <a:avLst/>
          </a:prstGeom>
          <a:noFill/>
        </p:spPr>
        <p:txBody>
          <a:bodyPr wrap="square">
            <a:spAutoFit/>
          </a:bodyPr>
          <a:lstStyle/>
          <a:p>
            <a:r>
              <a:rPr lang="en-US" b="0" i="0" dirty="0">
                <a:solidFill>
                  <a:srgbClr val="000000"/>
                </a:solidFill>
                <a:effectLst/>
                <a:latin typeface="Poppins" panose="00000500000000000000" pitchFamily="2" charset="0"/>
              </a:rPr>
              <a:t>In the above diagram, notice that string "Harry" is already present in the string pool, which is pointed by the str1. When we try to create the same string object using str2, JVM finds that string object with the value "Harry" is already present in the string pool; therefore, instead of creating a new object, a reference to the same object is returned.</a:t>
            </a:r>
            <a:endParaRPr lang="en-IN" dirty="0"/>
          </a:p>
        </p:txBody>
      </p:sp>
      <p:sp>
        <p:nvSpPr>
          <p:cNvPr id="5" name="TextBox 4">
            <a:extLst>
              <a:ext uri="{FF2B5EF4-FFF2-40B4-BE49-F238E27FC236}">
                <a16:creationId xmlns:a16="http://schemas.microsoft.com/office/drawing/2014/main" id="{918A2C50-0707-0910-EB36-FC80E852CC20}"/>
              </a:ext>
            </a:extLst>
          </p:cNvPr>
          <p:cNvSpPr txBox="1"/>
          <p:nvPr/>
        </p:nvSpPr>
        <p:spPr>
          <a:xfrm>
            <a:off x="0" y="6140633"/>
            <a:ext cx="1219199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String s=new String("Harry");</a:t>
            </a:r>
          </a:p>
        </p:txBody>
      </p:sp>
    </p:spTree>
    <p:extLst>
      <p:ext uri="{BB962C8B-B14F-4D97-AF65-F5344CB8AC3E}">
        <p14:creationId xmlns:p14="http://schemas.microsoft.com/office/powerpoint/2010/main" val="318414091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5130CEE4-2F7F-C766-2BEC-3C8978EBA15F}"/>
              </a:ext>
            </a:extLst>
          </p:cNvPr>
          <p:cNvSpPr txBox="1"/>
          <p:nvPr/>
        </p:nvSpPr>
        <p:spPr>
          <a:xfrm>
            <a:off x="71438" y="196334"/>
            <a:ext cx="6105524" cy="461665"/>
          </a:xfrm>
          <a:prstGeom prst="rect">
            <a:avLst/>
          </a:prstGeom>
          <a:noFill/>
        </p:spPr>
        <p:txBody>
          <a:bodyPr wrap="square">
            <a:spAutoFit/>
          </a:bodyPr>
          <a:lstStyle/>
          <a:p>
            <a:pPr algn="l"/>
            <a:r>
              <a:rPr lang="en-IN" sz="2400" b="1" i="0" dirty="0">
                <a:solidFill>
                  <a:schemeClr val="bg1"/>
                </a:solidFill>
                <a:effectLst/>
                <a:latin typeface="Poppins" panose="00000500000000000000" pitchFamily="2" charset="0"/>
              </a:rPr>
              <a:t>Creating String using new :</a:t>
            </a:r>
          </a:p>
        </p:txBody>
      </p:sp>
      <p:sp>
        <p:nvSpPr>
          <p:cNvPr id="14" name="TextBox 13">
            <a:extLst>
              <a:ext uri="{FF2B5EF4-FFF2-40B4-BE49-F238E27FC236}">
                <a16:creationId xmlns:a16="http://schemas.microsoft.com/office/drawing/2014/main" id="{1094D5D7-3CB5-E41D-131C-2AB546683E19}"/>
              </a:ext>
            </a:extLst>
          </p:cNvPr>
          <p:cNvSpPr txBox="1"/>
          <p:nvPr/>
        </p:nvSpPr>
        <p:spPr>
          <a:xfrm>
            <a:off x="0" y="929759"/>
            <a:ext cx="12192000" cy="369332"/>
          </a:xfrm>
          <a:prstGeom prst="rect">
            <a:avLst/>
          </a:prstGeom>
          <a:solidFill>
            <a:schemeClr val="bg1"/>
          </a:solidFill>
        </p:spPr>
        <p:txBody>
          <a:bodyPr wrap="square">
            <a:spAutoFit/>
          </a:bodyPr>
          <a:lstStyle/>
          <a:p>
            <a:r>
              <a:rPr lang="en-IN" dirty="0">
                <a:highlight>
                  <a:srgbClr val="000000"/>
                </a:highlight>
              </a:rPr>
              <a:t>String s=new String("Harry");</a:t>
            </a:r>
          </a:p>
        </p:txBody>
      </p:sp>
      <p:sp>
        <p:nvSpPr>
          <p:cNvPr id="16" name="TextBox 15">
            <a:extLst>
              <a:ext uri="{FF2B5EF4-FFF2-40B4-BE49-F238E27FC236}">
                <a16:creationId xmlns:a16="http://schemas.microsoft.com/office/drawing/2014/main" id="{3E4366A8-F8D4-AD78-B54A-DB72647C3CDB}"/>
              </a:ext>
            </a:extLst>
          </p:cNvPr>
          <p:cNvSpPr txBox="1"/>
          <p:nvPr/>
        </p:nvSpPr>
        <p:spPr>
          <a:xfrm>
            <a:off x="-90487" y="1570851"/>
            <a:ext cx="12192000" cy="369332"/>
          </a:xfrm>
          <a:prstGeom prst="rect">
            <a:avLst/>
          </a:prstGeom>
          <a:noFill/>
        </p:spPr>
        <p:txBody>
          <a:bodyPr wrap="square">
            <a:spAutoFit/>
          </a:bodyPr>
          <a:lstStyle/>
          <a:p>
            <a:r>
              <a:rPr lang="en-US" b="0" i="0" dirty="0">
                <a:solidFill>
                  <a:srgbClr val="000000"/>
                </a:solidFill>
                <a:effectLst/>
                <a:latin typeface="Poppins" panose="00000500000000000000" pitchFamily="2" charset="0"/>
              </a:rPr>
              <a:t>When we create a string using "new", a new object is always created in the heap memory.</a:t>
            </a:r>
            <a:endParaRPr lang="en-IN" dirty="0"/>
          </a:p>
        </p:txBody>
      </p:sp>
      <p:pic>
        <p:nvPicPr>
          <p:cNvPr id="1037" name="Picture 13">
            <a:extLst>
              <a:ext uri="{FF2B5EF4-FFF2-40B4-BE49-F238E27FC236}">
                <a16:creationId xmlns:a16="http://schemas.microsoft.com/office/drawing/2014/main" id="{764E0778-585C-AB54-FF45-1CC8E57D73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108716"/>
            <a:ext cx="7058025" cy="4454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069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553698-76B8-8C41-5746-799D1AD91277}"/>
              </a:ext>
            </a:extLst>
          </p:cNvPr>
          <p:cNvSpPr txBox="1"/>
          <p:nvPr/>
        </p:nvSpPr>
        <p:spPr>
          <a:xfrm>
            <a:off x="95250" y="236488"/>
            <a:ext cx="12096750" cy="1754326"/>
          </a:xfrm>
          <a:prstGeom prst="rect">
            <a:avLst/>
          </a:prstGeom>
          <a:noFill/>
        </p:spPr>
        <p:txBody>
          <a:bodyPr wrap="square">
            <a:spAutoFit/>
          </a:bodyPr>
          <a:lstStyle/>
          <a:p>
            <a:pPr algn="l"/>
            <a:r>
              <a:rPr lang="en-US" b="0" i="0" dirty="0">
                <a:solidFill>
                  <a:srgbClr val="000000"/>
                </a:solidFill>
                <a:effectLst/>
                <a:latin typeface="Poppins" panose="00000500000000000000" pitchFamily="2" charset="0"/>
              </a:rPr>
              <a:t>In the above diagram, you can see that although the value of both string objects is the same, i.e., "Harry" still two different objects are created, and they are referred by two different reference variables, i.e., str1 and str2.</a:t>
            </a:r>
          </a:p>
          <a:p>
            <a:pPr algn="l"/>
            <a:endParaRPr lang="en-US" b="0" i="0" dirty="0">
              <a:solidFill>
                <a:srgbClr val="FF0000"/>
              </a:solidFill>
              <a:effectLst/>
              <a:latin typeface="Poppins" panose="00000500000000000000" pitchFamily="2" charset="0"/>
            </a:endParaRPr>
          </a:p>
          <a:p>
            <a:pPr algn="l"/>
            <a:r>
              <a:rPr lang="en-US" b="1" i="0" dirty="0">
                <a:solidFill>
                  <a:srgbClr val="FF0000"/>
                </a:solidFill>
                <a:effectLst/>
                <a:latin typeface="Poppins" panose="00000500000000000000" pitchFamily="2" charset="0"/>
              </a:rPr>
              <a:t>See the examples given below to get a better understanding of String literal and String object :</a:t>
            </a:r>
            <a:br>
              <a:rPr lang="en-US" b="1" i="0" dirty="0">
                <a:effectLst/>
                <a:latin typeface="Poppins" panose="00000500000000000000" pitchFamily="2" charset="0"/>
              </a:rPr>
            </a:br>
            <a:r>
              <a:rPr lang="en-US" b="1" i="0" dirty="0">
                <a:effectLst/>
                <a:latin typeface="Poppins" panose="00000500000000000000" pitchFamily="2" charset="0"/>
              </a:rPr>
              <a:t>                                                                                                         </a:t>
            </a:r>
            <a:r>
              <a:rPr lang="en-US" b="1" i="0" dirty="0">
                <a:effectLst/>
                <a:highlight>
                  <a:srgbClr val="000000"/>
                </a:highlight>
                <a:latin typeface="Poppins" panose="00000500000000000000" pitchFamily="2" charset="0"/>
              </a:rPr>
              <a:t>EX : - 1</a:t>
            </a:r>
          </a:p>
        </p:txBody>
      </p:sp>
      <p:sp>
        <p:nvSpPr>
          <p:cNvPr id="6" name="TextBox 5">
            <a:extLst>
              <a:ext uri="{FF2B5EF4-FFF2-40B4-BE49-F238E27FC236}">
                <a16:creationId xmlns:a16="http://schemas.microsoft.com/office/drawing/2014/main" id="{E20250F3-2DD2-6EDD-AC77-606F66AE9954}"/>
              </a:ext>
            </a:extLst>
          </p:cNvPr>
          <p:cNvSpPr txBox="1"/>
          <p:nvPr/>
        </p:nvSpPr>
        <p:spPr>
          <a:xfrm>
            <a:off x="-1" y="1990814"/>
            <a:ext cx="12192000" cy="923330"/>
          </a:xfrm>
          <a:prstGeom prst="rect">
            <a:avLst/>
          </a:prstGeom>
          <a:solidFill>
            <a:schemeClr val="bg1"/>
          </a:solidFill>
        </p:spPr>
        <p:txBody>
          <a:bodyPr wrap="square">
            <a:spAutoFit/>
          </a:bodyPr>
          <a:lstStyle/>
          <a:p>
            <a:r>
              <a:rPr lang="en-IN" dirty="0"/>
              <a:t>String str1 = "</a:t>
            </a:r>
            <a:r>
              <a:rPr lang="en-IN" dirty="0" err="1"/>
              <a:t>CodeWithHarry</a:t>
            </a:r>
            <a:r>
              <a:rPr lang="en-IN" dirty="0"/>
              <a:t>";</a:t>
            </a:r>
          </a:p>
          <a:p>
            <a:r>
              <a:rPr lang="en-IN" dirty="0"/>
              <a:t>String str2 = "</a:t>
            </a:r>
            <a:r>
              <a:rPr lang="en-IN" dirty="0" err="1"/>
              <a:t>CodeWithHarry</a:t>
            </a:r>
            <a:r>
              <a:rPr lang="en-IN" dirty="0"/>
              <a:t>"</a:t>
            </a:r>
          </a:p>
          <a:p>
            <a:r>
              <a:rPr lang="en-IN" dirty="0" err="1"/>
              <a:t>System.out.println</a:t>
            </a:r>
            <a:r>
              <a:rPr lang="en-IN" dirty="0"/>
              <a:t>(str1 == str2); </a:t>
            </a:r>
          </a:p>
        </p:txBody>
      </p:sp>
      <p:sp>
        <p:nvSpPr>
          <p:cNvPr id="8" name="TextBox 7">
            <a:extLst>
              <a:ext uri="{FF2B5EF4-FFF2-40B4-BE49-F238E27FC236}">
                <a16:creationId xmlns:a16="http://schemas.microsoft.com/office/drawing/2014/main" id="{A9213D9E-6E0A-BD06-FB17-7858B561653F}"/>
              </a:ext>
            </a:extLst>
          </p:cNvPr>
          <p:cNvSpPr txBox="1"/>
          <p:nvPr/>
        </p:nvSpPr>
        <p:spPr>
          <a:xfrm>
            <a:off x="0" y="3195935"/>
            <a:ext cx="12192000" cy="923330"/>
          </a:xfrm>
          <a:prstGeom prst="rect">
            <a:avLst/>
          </a:prstGeom>
          <a:noFill/>
        </p:spPr>
        <p:txBody>
          <a:bodyPr wrap="square">
            <a:spAutoFit/>
          </a:bodyPr>
          <a:lstStyle/>
          <a:p>
            <a:r>
              <a:rPr lang="en-US" b="0" i="0" dirty="0">
                <a:solidFill>
                  <a:srgbClr val="000000"/>
                </a:solidFill>
                <a:effectLst/>
                <a:latin typeface="Poppins" panose="00000500000000000000" pitchFamily="2" charset="0"/>
              </a:rPr>
              <a:t>                                                                                         </a:t>
            </a:r>
            <a:r>
              <a:rPr lang="en-US" b="1" i="0" dirty="0">
                <a:effectLst/>
                <a:highlight>
                  <a:srgbClr val="000000"/>
                </a:highlight>
                <a:latin typeface="Poppins" panose="00000500000000000000" pitchFamily="2" charset="0"/>
              </a:rPr>
              <a:t>EX : - 2</a:t>
            </a:r>
          </a:p>
          <a:p>
            <a:r>
              <a:rPr lang="en-US" b="0" i="0" dirty="0">
                <a:solidFill>
                  <a:srgbClr val="000000"/>
                </a:solidFill>
                <a:effectLst/>
                <a:latin typeface="Poppins" panose="00000500000000000000" pitchFamily="2" charset="0"/>
              </a:rPr>
              <a:t>Returns true because str1 and str2 are referencing the same object present in the string constant pool. Now, let's see the case of the String object :</a:t>
            </a:r>
            <a:endParaRPr lang="en-IN" dirty="0"/>
          </a:p>
        </p:txBody>
      </p:sp>
      <p:sp>
        <p:nvSpPr>
          <p:cNvPr id="10" name="TextBox 9">
            <a:extLst>
              <a:ext uri="{FF2B5EF4-FFF2-40B4-BE49-F238E27FC236}">
                <a16:creationId xmlns:a16="http://schemas.microsoft.com/office/drawing/2014/main" id="{0D9C219B-9334-A078-1DC0-457E65536C95}"/>
              </a:ext>
            </a:extLst>
          </p:cNvPr>
          <p:cNvSpPr txBox="1"/>
          <p:nvPr/>
        </p:nvSpPr>
        <p:spPr>
          <a:xfrm>
            <a:off x="0" y="4529435"/>
            <a:ext cx="12191999" cy="923330"/>
          </a:xfrm>
          <a:prstGeom prst="rect">
            <a:avLst/>
          </a:prstGeom>
          <a:solidFill>
            <a:schemeClr val="bg1"/>
          </a:solidFill>
        </p:spPr>
        <p:txBody>
          <a:bodyPr wrap="square">
            <a:spAutoFit/>
          </a:bodyPr>
          <a:lstStyle/>
          <a:p>
            <a:r>
              <a:rPr lang="en-IN" dirty="0"/>
              <a:t>String str1 = new String("Keep coding"); </a:t>
            </a:r>
          </a:p>
          <a:p>
            <a:r>
              <a:rPr lang="en-IN" dirty="0"/>
              <a:t>String str2 = new String("Keep coding""); </a:t>
            </a:r>
          </a:p>
          <a:p>
            <a:r>
              <a:rPr lang="en-IN" dirty="0" err="1"/>
              <a:t>System.out.println</a:t>
            </a:r>
            <a:r>
              <a:rPr lang="en-IN" dirty="0"/>
              <a:t>(str1 == str2); </a:t>
            </a:r>
          </a:p>
        </p:txBody>
      </p:sp>
      <p:sp>
        <p:nvSpPr>
          <p:cNvPr id="13" name="TextBox 12">
            <a:extLst>
              <a:ext uri="{FF2B5EF4-FFF2-40B4-BE49-F238E27FC236}">
                <a16:creationId xmlns:a16="http://schemas.microsoft.com/office/drawing/2014/main" id="{93DD9BAC-905F-F4B8-063D-60933A115960}"/>
              </a:ext>
            </a:extLst>
          </p:cNvPr>
          <p:cNvSpPr txBox="1"/>
          <p:nvPr/>
        </p:nvSpPr>
        <p:spPr>
          <a:xfrm>
            <a:off x="95250" y="5614511"/>
            <a:ext cx="12191998" cy="1200329"/>
          </a:xfrm>
          <a:prstGeom prst="rect">
            <a:avLst/>
          </a:prstGeom>
          <a:noFill/>
        </p:spPr>
        <p:txBody>
          <a:bodyPr wrap="square">
            <a:spAutoFit/>
          </a:bodyPr>
          <a:lstStyle/>
          <a:p>
            <a:r>
              <a:rPr lang="en-US" b="0" i="0" dirty="0">
                <a:solidFill>
                  <a:srgbClr val="000000"/>
                </a:solidFill>
                <a:effectLst/>
                <a:latin typeface="Poppins" panose="00000500000000000000" pitchFamily="2" charset="0"/>
              </a:rPr>
              <a:t>Although the value of both the string object is the same, still false is displayed as output because str1 and str2 are two different string objects created in the heap. That's why it is not considered a good practice two compare two strings using the == operator. Always use the equals() method to compare two strings in Java.</a:t>
            </a:r>
            <a:endParaRPr lang="en-IN" dirty="0"/>
          </a:p>
        </p:txBody>
      </p:sp>
    </p:spTree>
    <p:extLst>
      <p:ext uri="{BB962C8B-B14F-4D97-AF65-F5344CB8AC3E}">
        <p14:creationId xmlns:p14="http://schemas.microsoft.com/office/powerpoint/2010/main" val="8639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0672F9-59D0-EB88-CF16-4BE9B1F9138E}"/>
              </a:ext>
            </a:extLst>
          </p:cNvPr>
          <p:cNvSpPr txBox="1"/>
          <p:nvPr/>
        </p:nvSpPr>
        <p:spPr>
          <a:xfrm>
            <a:off x="138113" y="370612"/>
            <a:ext cx="6481762" cy="2031325"/>
          </a:xfrm>
          <a:prstGeom prst="rect">
            <a:avLst/>
          </a:prstGeom>
          <a:noFill/>
        </p:spPr>
        <p:txBody>
          <a:bodyPr wrap="square">
            <a:spAutoFit/>
          </a:bodyPr>
          <a:lstStyle/>
          <a:p>
            <a:pPr algn="l"/>
            <a:r>
              <a:rPr lang="en-US" b="1" i="0" dirty="0">
                <a:solidFill>
                  <a:schemeClr val="bg1"/>
                </a:solidFill>
                <a:effectLst/>
                <a:latin typeface="Poppins" panose="00000500000000000000" pitchFamily="2" charset="0"/>
              </a:rPr>
              <a:t>Different ways to print in Java :</a:t>
            </a:r>
          </a:p>
          <a:p>
            <a:pPr algn="l"/>
            <a:endParaRPr lang="en-US" b="1" i="0" dirty="0">
              <a:solidFill>
                <a:schemeClr val="bg1"/>
              </a:solidFill>
              <a:effectLst/>
              <a:latin typeface="Poppins" panose="00000500000000000000" pitchFamily="2" charset="0"/>
            </a:endParaRPr>
          </a:p>
          <a:p>
            <a:pPr algn="l"/>
            <a:r>
              <a:rPr lang="en-US" b="0" i="0" dirty="0">
                <a:solidFill>
                  <a:srgbClr val="000000"/>
                </a:solidFill>
                <a:effectLst/>
                <a:latin typeface="Poppins" panose="00000500000000000000" pitchFamily="2" charset="0"/>
              </a:rPr>
              <a:t>We can use the following ways to print in Java:</a:t>
            </a:r>
          </a:p>
          <a:p>
            <a:pPr algn="l">
              <a:buFont typeface="Arial" panose="020B0604020202020204" pitchFamily="34" charset="0"/>
              <a:buChar char="•"/>
            </a:pPr>
            <a:r>
              <a:rPr lang="en-US" b="0" i="0" dirty="0" err="1">
                <a:solidFill>
                  <a:srgbClr val="000000"/>
                </a:solidFill>
                <a:effectLst/>
                <a:latin typeface="Poppins" panose="00000500000000000000" pitchFamily="2" charset="0"/>
              </a:rPr>
              <a:t>System.out.print</a:t>
            </a:r>
            <a:r>
              <a:rPr lang="en-US" b="0" i="0" dirty="0">
                <a:solidFill>
                  <a:srgbClr val="000000"/>
                </a:solidFill>
                <a:effectLst/>
                <a:latin typeface="Poppins" panose="00000500000000000000" pitchFamily="2" charset="0"/>
              </a:rPr>
              <a:t>() // No newline at the end</a:t>
            </a:r>
          </a:p>
          <a:p>
            <a:pPr algn="l">
              <a:buFont typeface="Arial" panose="020B0604020202020204" pitchFamily="34" charset="0"/>
              <a:buChar char="•"/>
            </a:pPr>
            <a:r>
              <a:rPr lang="en-US" b="0" i="0" dirty="0" err="1">
                <a:solidFill>
                  <a:srgbClr val="000000"/>
                </a:solidFill>
                <a:effectLst/>
                <a:latin typeface="Poppins" panose="00000500000000000000" pitchFamily="2" charset="0"/>
              </a:rPr>
              <a:t>System.out.println</a:t>
            </a:r>
            <a:r>
              <a:rPr lang="en-US" b="0" i="0" dirty="0">
                <a:solidFill>
                  <a:srgbClr val="000000"/>
                </a:solidFill>
                <a:effectLst/>
                <a:latin typeface="Poppins" panose="00000500000000000000" pitchFamily="2" charset="0"/>
              </a:rPr>
              <a:t>() // Prints a new line at the end</a:t>
            </a:r>
          </a:p>
          <a:p>
            <a:pPr algn="l">
              <a:buFont typeface="Arial" panose="020B0604020202020204" pitchFamily="34" charset="0"/>
              <a:buChar char="•"/>
            </a:pPr>
            <a:r>
              <a:rPr lang="en-US" b="0" i="0" dirty="0" err="1">
                <a:solidFill>
                  <a:srgbClr val="000000"/>
                </a:solidFill>
                <a:effectLst/>
                <a:latin typeface="Poppins" panose="00000500000000000000" pitchFamily="2" charset="0"/>
              </a:rPr>
              <a:t>System.out.printf</a:t>
            </a:r>
            <a:r>
              <a:rPr lang="en-US" b="0" i="0" dirty="0">
                <a:solidFill>
                  <a:srgbClr val="000000"/>
                </a:solidFill>
                <a:effectLst/>
                <a:latin typeface="Poppins" panose="00000500000000000000" pitchFamily="2" charset="0"/>
              </a:rPr>
              <a:t>()</a:t>
            </a:r>
          </a:p>
          <a:p>
            <a:pPr algn="l">
              <a:buFont typeface="Arial" panose="020B0604020202020204" pitchFamily="34" charset="0"/>
              <a:buChar char="•"/>
            </a:pPr>
            <a:r>
              <a:rPr lang="en-US" b="0" i="0" dirty="0" err="1">
                <a:solidFill>
                  <a:srgbClr val="000000"/>
                </a:solidFill>
                <a:effectLst/>
                <a:latin typeface="Poppins" panose="00000500000000000000" pitchFamily="2" charset="0"/>
              </a:rPr>
              <a:t>System.out.format</a:t>
            </a:r>
            <a:r>
              <a:rPr lang="en-US" b="0" i="0" dirty="0">
                <a:solidFill>
                  <a:srgbClr val="000000"/>
                </a:solidFill>
                <a:effectLst/>
                <a:latin typeface="Poppins" panose="00000500000000000000" pitchFamily="2" charset="0"/>
              </a:rPr>
              <a:t>()</a:t>
            </a:r>
          </a:p>
        </p:txBody>
      </p:sp>
      <p:sp>
        <p:nvSpPr>
          <p:cNvPr id="5" name="TextBox 4">
            <a:extLst>
              <a:ext uri="{FF2B5EF4-FFF2-40B4-BE49-F238E27FC236}">
                <a16:creationId xmlns:a16="http://schemas.microsoft.com/office/drawing/2014/main" id="{BC8E0FC3-713D-229D-2CCB-74683C8E7342}"/>
              </a:ext>
            </a:extLst>
          </p:cNvPr>
          <p:cNvSpPr txBox="1"/>
          <p:nvPr/>
        </p:nvSpPr>
        <p:spPr>
          <a:xfrm>
            <a:off x="0" y="2653784"/>
            <a:ext cx="12192000" cy="369332"/>
          </a:xfrm>
          <a:prstGeom prst="rect">
            <a:avLst/>
          </a:prstGeom>
          <a:solidFill>
            <a:schemeClr val="bg1"/>
          </a:solidFill>
        </p:spPr>
        <p:txBody>
          <a:bodyPr wrap="square">
            <a:spAutoFit/>
          </a:bodyPr>
          <a:lstStyle/>
          <a:p>
            <a:r>
              <a:rPr lang="en-IN" dirty="0" err="1"/>
              <a:t>System.out.printf</a:t>
            </a:r>
            <a:r>
              <a:rPr lang="en-IN" dirty="0"/>
              <a:t>("%c",</a:t>
            </a:r>
            <a:r>
              <a:rPr lang="en-IN" dirty="0" err="1"/>
              <a:t>ch</a:t>
            </a:r>
            <a:r>
              <a:rPr lang="en-IN" dirty="0"/>
              <a:t>)</a:t>
            </a:r>
          </a:p>
        </p:txBody>
      </p:sp>
      <p:sp>
        <p:nvSpPr>
          <p:cNvPr id="7" name="TextBox 6">
            <a:extLst>
              <a:ext uri="{FF2B5EF4-FFF2-40B4-BE49-F238E27FC236}">
                <a16:creationId xmlns:a16="http://schemas.microsoft.com/office/drawing/2014/main" id="{43A28262-76B0-14DA-12FC-61D207EB648C}"/>
              </a:ext>
            </a:extLst>
          </p:cNvPr>
          <p:cNvSpPr txBox="1"/>
          <p:nvPr/>
        </p:nvSpPr>
        <p:spPr>
          <a:xfrm>
            <a:off x="138113" y="3274963"/>
            <a:ext cx="6129336" cy="1200329"/>
          </a:xfrm>
          <a:prstGeom prst="rect">
            <a:avLst/>
          </a:prstGeom>
          <a:noFill/>
        </p:spPr>
        <p:txBody>
          <a:bodyPr wrap="square">
            <a:spAutoFit/>
          </a:bodyPr>
          <a:lstStyle/>
          <a:p>
            <a:pPr algn="l">
              <a:buFont typeface="Arial" panose="020B0604020202020204" pitchFamily="34" charset="0"/>
              <a:buChar char="•"/>
            </a:pPr>
            <a:r>
              <a:rPr lang="en-IN" b="0" i="0" dirty="0">
                <a:solidFill>
                  <a:srgbClr val="000000"/>
                </a:solidFill>
                <a:effectLst/>
                <a:latin typeface="Poppins" panose="00000500000000000000" pitchFamily="2" charset="0"/>
              </a:rPr>
              <a:t>  %d for int</a:t>
            </a:r>
          </a:p>
          <a:p>
            <a:pPr algn="l">
              <a:buFont typeface="Arial" panose="020B0604020202020204" pitchFamily="34" charset="0"/>
              <a:buChar char="•"/>
            </a:pPr>
            <a:r>
              <a:rPr lang="en-IN" b="0" i="0" dirty="0">
                <a:solidFill>
                  <a:srgbClr val="000000"/>
                </a:solidFill>
                <a:effectLst/>
                <a:latin typeface="Poppins" panose="00000500000000000000" pitchFamily="2" charset="0"/>
              </a:rPr>
              <a:t>  %f for float</a:t>
            </a:r>
          </a:p>
          <a:p>
            <a:pPr algn="l">
              <a:buFont typeface="Arial" panose="020B0604020202020204" pitchFamily="34" charset="0"/>
              <a:buChar char="•"/>
            </a:pPr>
            <a:r>
              <a:rPr lang="en-IN" b="0" i="0" dirty="0">
                <a:solidFill>
                  <a:srgbClr val="000000"/>
                </a:solidFill>
                <a:effectLst/>
                <a:latin typeface="Poppins" panose="00000500000000000000" pitchFamily="2" charset="0"/>
              </a:rPr>
              <a:t>  %c for char</a:t>
            </a:r>
          </a:p>
          <a:p>
            <a:pPr algn="l">
              <a:buFont typeface="Arial" panose="020B0604020202020204" pitchFamily="34" charset="0"/>
              <a:buChar char="•"/>
            </a:pPr>
            <a:r>
              <a:rPr lang="en-IN" b="0" i="0" dirty="0">
                <a:solidFill>
                  <a:srgbClr val="000000"/>
                </a:solidFill>
                <a:effectLst/>
                <a:latin typeface="Poppins" panose="00000500000000000000" pitchFamily="2" charset="0"/>
              </a:rPr>
              <a:t>  %s for string </a:t>
            </a:r>
          </a:p>
        </p:txBody>
      </p:sp>
    </p:spTree>
    <p:extLst>
      <p:ext uri="{BB962C8B-B14F-4D97-AF65-F5344CB8AC3E}">
        <p14:creationId xmlns:p14="http://schemas.microsoft.com/office/powerpoint/2010/main" val="660896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168DC7-026E-AD9C-FABD-4BE1EA9905C3}"/>
              </a:ext>
            </a:extLst>
          </p:cNvPr>
          <p:cNvSpPr txBox="1"/>
          <p:nvPr/>
        </p:nvSpPr>
        <p:spPr>
          <a:xfrm>
            <a:off x="0" y="610136"/>
            <a:ext cx="12192000" cy="624786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2000" dirty="0"/>
              <a:t>package </a:t>
            </a:r>
            <a:r>
              <a:rPr lang="en-IN" sz="2000" dirty="0" err="1"/>
              <a:t>com.company</a:t>
            </a:r>
            <a:r>
              <a:rPr lang="en-IN" sz="2000" dirty="0"/>
              <a:t>;</a:t>
            </a:r>
          </a:p>
          <a:p>
            <a:r>
              <a:rPr lang="en-IN" sz="2000" dirty="0"/>
              <a:t>import </a:t>
            </a:r>
            <a:r>
              <a:rPr lang="en-IN" sz="2000" dirty="0" err="1"/>
              <a:t>java.util.Scanner</a:t>
            </a:r>
            <a:r>
              <a:rPr lang="en-IN" sz="2000" dirty="0"/>
              <a:t>;</a:t>
            </a:r>
          </a:p>
          <a:p>
            <a:endParaRPr lang="en-IN" sz="2000" dirty="0"/>
          </a:p>
          <a:p>
            <a:r>
              <a:rPr lang="en-IN" sz="2000" dirty="0"/>
              <a:t>public class cwh_13_strings {</a:t>
            </a:r>
          </a:p>
          <a:p>
            <a:r>
              <a:rPr lang="en-IN" sz="2000" dirty="0"/>
              <a:t>    public static void main(String[] </a:t>
            </a:r>
            <a:r>
              <a:rPr lang="en-IN" sz="2000" dirty="0" err="1"/>
              <a:t>args</a:t>
            </a:r>
            <a:r>
              <a:rPr lang="en-IN" sz="2000" dirty="0"/>
              <a:t>) {</a:t>
            </a:r>
          </a:p>
          <a:p>
            <a:r>
              <a:rPr lang="en-IN" sz="2000" dirty="0"/>
              <a:t>        // String name = new String("Harry");</a:t>
            </a:r>
          </a:p>
          <a:p>
            <a:r>
              <a:rPr lang="en-IN" sz="2000" dirty="0"/>
              <a:t>        // String name = "Harry";</a:t>
            </a:r>
          </a:p>
          <a:p>
            <a:r>
              <a:rPr lang="en-IN" sz="2000" dirty="0"/>
              <a:t>        // </a:t>
            </a:r>
            <a:r>
              <a:rPr lang="en-IN" sz="2000" dirty="0" err="1"/>
              <a:t>System.out.print</a:t>
            </a:r>
            <a:r>
              <a:rPr lang="en-IN" sz="2000" dirty="0"/>
              <a:t>("The name is: ");</a:t>
            </a:r>
          </a:p>
          <a:p>
            <a:r>
              <a:rPr lang="en-IN" sz="2000" dirty="0"/>
              <a:t>        // </a:t>
            </a:r>
            <a:r>
              <a:rPr lang="en-IN" sz="2000" dirty="0" err="1"/>
              <a:t>System.out.print</a:t>
            </a:r>
            <a:r>
              <a:rPr lang="en-IN" sz="2000" dirty="0"/>
              <a:t>(name);</a:t>
            </a:r>
          </a:p>
          <a:p>
            <a:r>
              <a:rPr lang="en-IN" sz="2000" dirty="0"/>
              <a:t>        int a = 6;</a:t>
            </a:r>
          </a:p>
          <a:p>
            <a:r>
              <a:rPr lang="en-IN" sz="2000" dirty="0"/>
              <a:t>        float b = 5.6454f;</a:t>
            </a:r>
          </a:p>
          <a:p>
            <a:r>
              <a:rPr lang="en-IN" sz="2000" dirty="0"/>
              <a:t>        </a:t>
            </a:r>
            <a:r>
              <a:rPr lang="en-IN" sz="2000" dirty="0" err="1"/>
              <a:t>System.out.printf</a:t>
            </a:r>
            <a:r>
              <a:rPr lang="en-IN" sz="2000" dirty="0"/>
              <a:t>("The value of a is %d and value of b is %8.2f", a, b);</a:t>
            </a:r>
          </a:p>
          <a:p>
            <a:r>
              <a:rPr lang="en-IN" sz="2000" dirty="0"/>
              <a:t>        //</a:t>
            </a:r>
            <a:r>
              <a:rPr lang="en-IN" sz="2000" dirty="0" err="1"/>
              <a:t>System.out.format</a:t>
            </a:r>
            <a:r>
              <a:rPr lang="en-IN" sz="2000" dirty="0"/>
              <a:t>("The value of a is %d and value of b is %f", a, b);</a:t>
            </a:r>
          </a:p>
          <a:p>
            <a:r>
              <a:rPr lang="en-IN" sz="2000" dirty="0"/>
              <a:t>        Scanner </a:t>
            </a:r>
            <a:r>
              <a:rPr lang="en-IN" sz="2000" dirty="0" err="1"/>
              <a:t>sc</a:t>
            </a:r>
            <a:r>
              <a:rPr lang="en-IN" sz="2000" dirty="0"/>
              <a:t> = new Scanner(System.in);</a:t>
            </a:r>
          </a:p>
          <a:p>
            <a:r>
              <a:rPr lang="en-IN" sz="2000" dirty="0"/>
              <a:t>//        String </a:t>
            </a:r>
            <a:r>
              <a:rPr lang="en-IN" sz="2000" dirty="0" err="1"/>
              <a:t>st</a:t>
            </a:r>
            <a:r>
              <a:rPr lang="en-IN" sz="2000" dirty="0"/>
              <a:t> = </a:t>
            </a:r>
            <a:r>
              <a:rPr lang="en-IN" sz="2000" dirty="0" err="1"/>
              <a:t>sc.next</a:t>
            </a:r>
            <a:r>
              <a:rPr lang="en-IN" sz="2000" dirty="0"/>
              <a:t>();</a:t>
            </a:r>
          </a:p>
          <a:p>
            <a:r>
              <a:rPr lang="en-IN" sz="2000" dirty="0"/>
              <a:t>//        String </a:t>
            </a:r>
            <a:r>
              <a:rPr lang="en-IN" sz="2000" dirty="0" err="1"/>
              <a:t>st</a:t>
            </a:r>
            <a:r>
              <a:rPr lang="en-IN" sz="2000" dirty="0"/>
              <a:t> = </a:t>
            </a:r>
            <a:r>
              <a:rPr lang="en-IN" sz="2000" dirty="0" err="1"/>
              <a:t>sc.nextLine</a:t>
            </a:r>
            <a:r>
              <a:rPr lang="en-IN" sz="2000" dirty="0"/>
              <a:t>();</a:t>
            </a:r>
          </a:p>
          <a:p>
            <a:r>
              <a:rPr lang="en-IN" sz="2000" dirty="0"/>
              <a:t>//        </a:t>
            </a:r>
            <a:r>
              <a:rPr lang="en-IN" sz="2000" dirty="0" err="1"/>
              <a:t>System.out.println</a:t>
            </a:r>
            <a:r>
              <a:rPr lang="en-IN" sz="2000" dirty="0"/>
              <a:t>(</a:t>
            </a:r>
            <a:r>
              <a:rPr lang="en-IN" sz="2000" dirty="0" err="1"/>
              <a:t>st</a:t>
            </a:r>
            <a:r>
              <a:rPr lang="en-IN" sz="2000" dirty="0"/>
              <a:t>);</a:t>
            </a:r>
          </a:p>
          <a:p>
            <a:endParaRPr lang="en-IN" sz="2000" dirty="0"/>
          </a:p>
          <a:p>
            <a:r>
              <a:rPr lang="en-IN" sz="2000" dirty="0"/>
              <a:t>    }</a:t>
            </a:r>
          </a:p>
          <a:p>
            <a:r>
              <a:rPr lang="en-IN" sz="2000" dirty="0"/>
              <a:t>}</a:t>
            </a:r>
          </a:p>
        </p:txBody>
      </p:sp>
      <p:sp>
        <p:nvSpPr>
          <p:cNvPr id="6" name="Rectangle 5">
            <a:extLst>
              <a:ext uri="{FF2B5EF4-FFF2-40B4-BE49-F238E27FC236}">
                <a16:creationId xmlns:a16="http://schemas.microsoft.com/office/drawing/2014/main" id="{18723D9D-6122-E6C3-BBE3-438E288786D7}"/>
              </a:ext>
            </a:extLst>
          </p:cNvPr>
          <p:cNvSpPr/>
          <p:nvPr/>
        </p:nvSpPr>
        <p:spPr>
          <a:xfrm>
            <a:off x="0" y="0"/>
            <a:ext cx="12192000" cy="61013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b="1" dirty="0"/>
              <a:t>String</a:t>
            </a:r>
            <a:endParaRPr lang="en-IN" sz="3600" b="1" dirty="0"/>
          </a:p>
        </p:txBody>
      </p:sp>
    </p:spTree>
    <p:extLst>
      <p:ext uri="{BB962C8B-B14F-4D97-AF65-F5344CB8AC3E}">
        <p14:creationId xmlns:p14="http://schemas.microsoft.com/office/powerpoint/2010/main" val="2313806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F400C9-2A51-8B8F-11D6-E6E59286ACEE}"/>
              </a:ext>
            </a:extLst>
          </p:cNvPr>
          <p:cNvSpPr txBox="1"/>
          <p:nvPr/>
        </p:nvSpPr>
        <p:spPr>
          <a:xfrm>
            <a:off x="1" y="0"/>
            <a:ext cx="12191999" cy="52322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l"/>
            <a:r>
              <a:rPr lang="en-IN" sz="2800" b="1" i="0" dirty="0">
                <a:solidFill>
                  <a:srgbClr val="000000"/>
                </a:solidFill>
                <a:effectLst/>
                <a:latin typeface="Poppins" panose="00000500000000000000" pitchFamily="2" charset="0"/>
              </a:rPr>
              <a:t>String Methods</a:t>
            </a:r>
          </a:p>
        </p:txBody>
      </p:sp>
      <p:sp>
        <p:nvSpPr>
          <p:cNvPr id="5" name="TextBox 4">
            <a:extLst>
              <a:ext uri="{FF2B5EF4-FFF2-40B4-BE49-F238E27FC236}">
                <a16:creationId xmlns:a16="http://schemas.microsoft.com/office/drawing/2014/main" id="{9C290058-F4FB-E136-8249-DBE3BD14904A}"/>
              </a:ext>
            </a:extLst>
          </p:cNvPr>
          <p:cNvSpPr txBox="1"/>
          <p:nvPr/>
        </p:nvSpPr>
        <p:spPr>
          <a:xfrm>
            <a:off x="0" y="633323"/>
            <a:ext cx="12192001" cy="923330"/>
          </a:xfrm>
          <a:prstGeom prst="rect">
            <a:avLst/>
          </a:prstGeom>
          <a:noFill/>
        </p:spPr>
        <p:txBody>
          <a:bodyPr wrap="square">
            <a:spAutoFit/>
          </a:bodyPr>
          <a:lstStyle/>
          <a:p>
            <a:pPr algn="l"/>
            <a:r>
              <a:rPr lang="en-US" b="0" i="0" dirty="0">
                <a:solidFill>
                  <a:srgbClr val="000000"/>
                </a:solidFill>
                <a:effectLst/>
                <a:latin typeface="Poppins" panose="00000500000000000000" pitchFamily="2" charset="0"/>
              </a:rPr>
              <a:t>String Methods operate on Java Strings. They can be used to find the length of the string, convert to lowercase, etc.</a:t>
            </a:r>
          </a:p>
          <a:p>
            <a:pPr algn="l"/>
            <a:r>
              <a:rPr lang="en-US" b="0" i="0" dirty="0">
                <a:solidFill>
                  <a:srgbClr val="000000"/>
                </a:solidFill>
                <a:effectLst/>
                <a:latin typeface="Poppins" panose="00000500000000000000" pitchFamily="2" charset="0"/>
              </a:rPr>
              <a:t>Some of the commonly used String methods are:</a:t>
            </a:r>
          </a:p>
        </p:txBody>
      </p:sp>
      <p:sp>
        <p:nvSpPr>
          <p:cNvPr id="7" name="TextBox 6">
            <a:extLst>
              <a:ext uri="{FF2B5EF4-FFF2-40B4-BE49-F238E27FC236}">
                <a16:creationId xmlns:a16="http://schemas.microsoft.com/office/drawing/2014/main" id="{35D293BC-A5ED-E686-88CC-E3655DC1B09C}"/>
              </a:ext>
            </a:extLst>
          </p:cNvPr>
          <p:cNvSpPr txBox="1"/>
          <p:nvPr/>
        </p:nvSpPr>
        <p:spPr>
          <a:xfrm>
            <a:off x="0" y="1925121"/>
            <a:ext cx="12192000" cy="369332"/>
          </a:xfrm>
          <a:prstGeom prst="rect">
            <a:avLst/>
          </a:prstGeom>
          <a:solidFill>
            <a:schemeClr val="bg1"/>
          </a:solidFill>
        </p:spPr>
        <p:txBody>
          <a:bodyPr wrap="square">
            <a:spAutoFit/>
          </a:bodyPr>
          <a:lstStyle/>
          <a:p>
            <a:r>
              <a:rPr lang="en-IN" dirty="0"/>
              <a:t>String name = “Harry”;</a:t>
            </a:r>
          </a:p>
        </p:txBody>
      </p:sp>
      <p:sp>
        <p:nvSpPr>
          <p:cNvPr id="9" name="TextBox 8">
            <a:extLst>
              <a:ext uri="{FF2B5EF4-FFF2-40B4-BE49-F238E27FC236}">
                <a16:creationId xmlns:a16="http://schemas.microsoft.com/office/drawing/2014/main" id="{44F86DC7-0DEA-99CA-4789-1E702FA666E2}"/>
              </a:ext>
            </a:extLst>
          </p:cNvPr>
          <p:cNvSpPr txBox="1"/>
          <p:nvPr/>
        </p:nvSpPr>
        <p:spPr>
          <a:xfrm>
            <a:off x="0" y="2478255"/>
            <a:ext cx="9127330" cy="369332"/>
          </a:xfrm>
          <a:prstGeom prst="rect">
            <a:avLst/>
          </a:prstGeom>
          <a:noFill/>
        </p:spPr>
        <p:txBody>
          <a:bodyPr wrap="square">
            <a:spAutoFit/>
          </a:bodyPr>
          <a:lstStyle/>
          <a:p>
            <a:r>
              <a:rPr lang="en-US" b="0" i="0" dirty="0">
                <a:solidFill>
                  <a:srgbClr val="000000"/>
                </a:solidFill>
                <a:effectLst/>
                <a:latin typeface="Poppins" panose="00000500000000000000" pitchFamily="2" charset="0"/>
              </a:rPr>
              <a:t>(Indexes of the above string are as follows: 0-H, 1-a, 2-r, 3-r, 4-y)</a:t>
            </a:r>
            <a:endParaRPr lang="en-IN" dirty="0"/>
          </a:p>
        </p:txBody>
      </p:sp>
      <p:sp>
        <p:nvSpPr>
          <p:cNvPr id="14" name="TextBox 13">
            <a:extLst>
              <a:ext uri="{FF2B5EF4-FFF2-40B4-BE49-F238E27FC236}">
                <a16:creationId xmlns:a16="http://schemas.microsoft.com/office/drawing/2014/main" id="{C371E7D2-A6B8-D71F-A7F4-4EE69F073A74}"/>
              </a:ext>
            </a:extLst>
          </p:cNvPr>
          <p:cNvSpPr txBox="1"/>
          <p:nvPr/>
        </p:nvSpPr>
        <p:spPr>
          <a:xfrm>
            <a:off x="0" y="3575000"/>
            <a:ext cx="12192000" cy="1754326"/>
          </a:xfrm>
          <a:prstGeom prst="rect">
            <a:avLst/>
          </a:prstGeom>
          <a:noFill/>
        </p:spPr>
        <p:txBody>
          <a:bodyPr wrap="square">
            <a:spAutoFit/>
          </a:bodyPr>
          <a:lstStyle/>
          <a:p>
            <a:pPr algn="l"/>
            <a:r>
              <a:rPr lang="en-US" b="1" i="0" dirty="0">
                <a:solidFill>
                  <a:schemeClr val="bg1"/>
                </a:solidFill>
                <a:effectLst/>
                <a:latin typeface="Poppins" panose="00000500000000000000" pitchFamily="2" charset="0"/>
              </a:rPr>
              <a:t>Escape Sequence Characters : </a:t>
            </a:r>
          </a:p>
          <a:p>
            <a:pPr algn="l"/>
            <a:endParaRPr lang="en-US" b="1" i="0" dirty="0">
              <a:solidFill>
                <a:schemeClr val="bg1"/>
              </a:solidFill>
              <a:effectLst/>
              <a:latin typeface="Poppins" panose="00000500000000000000" pitchFamily="2" charset="0"/>
            </a:endParaRPr>
          </a:p>
          <a:p>
            <a:pPr algn="l">
              <a:buFont typeface="Arial" panose="020B0604020202020204" pitchFamily="34" charset="0"/>
              <a:buChar char="•"/>
            </a:pPr>
            <a:r>
              <a:rPr lang="en-US" b="0" i="0" dirty="0">
                <a:solidFill>
                  <a:srgbClr val="000000"/>
                </a:solidFill>
                <a:effectLst/>
                <a:latin typeface="Poppins" panose="00000500000000000000" pitchFamily="2" charset="0"/>
              </a:rPr>
              <a:t>The sequence of characters after backslash ‘\’ = Escape Sequence Characters</a:t>
            </a:r>
          </a:p>
          <a:p>
            <a:pPr algn="l">
              <a:buFont typeface="Arial" panose="020B0604020202020204" pitchFamily="34" charset="0"/>
              <a:buChar char="•"/>
            </a:pPr>
            <a:r>
              <a:rPr lang="en-US" b="0" i="0" dirty="0">
                <a:solidFill>
                  <a:srgbClr val="000000"/>
                </a:solidFill>
                <a:effectLst/>
                <a:latin typeface="Poppins" panose="00000500000000000000" pitchFamily="2" charset="0"/>
              </a:rPr>
              <a:t>Escape Sequence Characters consist of more than one character but represent one character when used within the strings.</a:t>
            </a:r>
          </a:p>
          <a:p>
            <a:pPr algn="l">
              <a:buFont typeface="Arial" panose="020B0604020202020204" pitchFamily="34" charset="0"/>
              <a:buChar char="•"/>
            </a:pPr>
            <a:r>
              <a:rPr lang="en-US" b="0" i="0" dirty="0">
                <a:solidFill>
                  <a:srgbClr val="000000"/>
                </a:solidFill>
                <a:effectLst/>
                <a:latin typeface="Poppins" panose="00000500000000000000" pitchFamily="2" charset="0"/>
              </a:rPr>
              <a:t>Examples: \n (newline), \t (tab), \’ (single quote), \\ (backslash), etc.</a:t>
            </a:r>
          </a:p>
        </p:txBody>
      </p:sp>
    </p:spTree>
    <p:extLst>
      <p:ext uri="{BB962C8B-B14F-4D97-AF65-F5344CB8AC3E}">
        <p14:creationId xmlns:p14="http://schemas.microsoft.com/office/powerpoint/2010/main" val="1637493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E23DB70B-CC1A-FB74-2D1E-A48BCE617031}"/>
              </a:ext>
            </a:extLst>
          </p:cNvPr>
          <p:cNvGraphicFramePr>
            <a:graphicFrameLocks noGrp="1"/>
          </p:cNvGraphicFramePr>
          <p:nvPr>
            <p:extLst>
              <p:ext uri="{D42A27DB-BD31-4B8C-83A1-F6EECF244321}">
                <p14:modId xmlns:p14="http://schemas.microsoft.com/office/powerpoint/2010/main" val="1722881030"/>
              </p:ext>
            </p:extLst>
          </p:nvPr>
        </p:nvGraphicFramePr>
        <p:xfrm>
          <a:off x="0" y="576798"/>
          <a:ext cx="12192000" cy="6281202"/>
        </p:xfrm>
        <a:graphic>
          <a:graphicData uri="http://schemas.openxmlformats.org/drawingml/2006/table">
            <a:tbl>
              <a:tblPr/>
              <a:tblGrid>
                <a:gridCol w="4204706">
                  <a:extLst>
                    <a:ext uri="{9D8B030D-6E8A-4147-A177-3AD203B41FA5}">
                      <a16:colId xmlns:a16="http://schemas.microsoft.com/office/drawing/2014/main" val="3100666800"/>
                    </a:ext>
                  </a:extLst>
                </a:gridCol>
                <a:gridCol w="7987294">
                  <a:extLst>
                    <a:ext uri="{9D8B030D-6E8A-4147-A177-3AD203B41FA5}">
                      <a16:colId xmlns:a16="http://schemas.microsoft.com/office/drawing/2014/main" val="2047699143"/>
                    </a:ext>
                  </a:extLst>
                </a:gridCol>
              </a:tblGrid>
              <a:tr h="299785">
                <a:tc>
                  <a:txBody>
                    <a:bodyPr/>
                    <a:lstStyle/>
                    <a:p>
                      <a:pPr algn="ctr"/>
                      <a:r>
                        <a:rPr lang="en-IN" sz="1200">
                          <a:effectLst/>
                        </a:rPr>
                        <a:t>1. length()</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the length of String name. (5 in this case)</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2598057656"/>
                  </a:ext>
                </a:extLst>
              </a:tr>
              <a:tr h="299785">
                <a:tc>
                  <a:txBody>
                    <a:bodyPr/>
                    <a:lstStyle/>
                    <a:p>
                      <a:pPr algn="ctr"/>
                      <a:r>
                        <a:rPr lang="en-IN" sz="1200">
                          <a:effectLst/>
                        </a:rPr>
                        <a:t>2. toLowerCase()</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Converts all the characters of the string to the lower case letters.</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3655987412"/>
                  </a:ext>
                </a:extLst>
              </a:tr>
              <a:tr h="299785">
                <a:tc>
                  <a:txBody>
                    <a:bodyPr/>
                    <a:lstStyle/>
                    <a:p>
                      <a:pPr algn="ctr"/>
                      <a:r>
                        <a:rPr lang="en-IN" sz="1200">
                          <a:effectLst/>
                        </a:rPr>
                        <a:t>3. toUpperCase()</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Converts all the characters of the string to the upper case letters.</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499881368"/>
                  </a:ext>
                </a:extLst>
              </a:tr>
              <a:tr h="428263">
                <a:tc>
                  <a:txBody>
                    <a:bodyPr/>
                    <a:lstStyle/>
                    <a:p>
                      <a:pPr algn="ctr"/>
                      <a:r>
                        <a:rPr lang="en-IN" sz="1200">
                          <a:effectLst/>
                        </a:rPr>
                        <a:t>4. trim()</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dirty="0">
                          <a:effectLst/>
                        </a:rPr>
                        <a:t>Returns a new String after removing all the leading and trailing spaces from the original string.</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45373037"/>
                  </a:ext>
                </a:extLst>
              </a:tr>
              <a:tr h="428263">
                <a:tc>
                  <a:txBody>
                    <a:bodyPr/>
                    <a:lstStyle/>
                    <a:p>
                      <a:pPr algn="ctr"/>
                      <a:r>
                        <a:rPr lang="en-IN" sz="1200">
                          <a:effectLst/>
                        </a:rPr>
                        <a:t>5. substring(int start)</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dirty="0">
                          <a:effectLst/>
                        </a:rPr>
                        <a:t>Returns a substring from start to the end. Substring(3) returns “</a:t>
                      </a:r>
                      <a:r>
                        <a:rPr lang="en-US" sz="1200" dirty="0" err="1">
                          <a:effectLst/>
                        </a:rPr>
                        <a:t>ry</a:t>
                      </a:r>
                      <a:r>
                        <a:rPr lang="en-US" sz="1200" dirty="0">
                          <a:effectLst/>
                        </a:rPr>
                        <a:t>”. [Note</a:t>
                      </a:r>
                      <a:r>
                        <a:rPr lang="en-US" sz="1200" b="1" dirty="0">
                          <a:effectLst/>
                        </a:rPr>
                        <a:t> </a:t>
                      </a:r>
                      <a:r>
                        <a:rPr lang="en-US" sz="1200" dirty="0">
                          <a:effectLst/>
                        </a:rPr>
                        <a:t>that indexing starts from 0]</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833679584"/>
                  </a:ext>
                </a:extLst>
              </a:tr>
              <a:tr h="428263">
                <a:tc>
                  <a:txBody>
                    <a:bodyPr/>
                    <a:lstStyle/>
                    <a:p>
                      <a:pPr algn="ctr"/>
                      <a:r>
                        <a:rPr lang="en-US" sz="1200">
                          <a:effectLst/>
                        </a:rPr>
                        <a:t>6. substring(int start, int end)</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a substring from the start index to the end index. The start index is included, and the end is excluded.</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485653709"/>
                  </a:ext>
                </a:extLst>
              </a:tr>
              <a:tr h="428263">
                <a:tc>
                  <a:txBody>
                    <a:bodyPr/>
                    <a:lstStyle/>
                    <a:p>
                      <a:pPr algn="ctr"/>
                      <a:r>
                        <a:rPr lang="en-IN" sz="1200">
                          <a:effectLst/>
                        </a:rPr>
                        <a:t>7. replace(‘r’, ‘p’)</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a new string after replacing r with p. Happy is returned in this case. (This method takes char as argument)</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4272032250"/>
                  </a:ext>
                </a:extLst>
              </a:tr>
              <a:tr h="299785">
                <a:tc>
                  <a:txBody>
                    <a:bodyPr/>
                    <a:lstStyle/>
                    <a:p>
                      <a:pPr algn="ctr"/>
                      <a:r>
                        <a:rPr lang="en-IN" sz="1200">
                          <a:effectLst/>
                        </a:rPr>
                        <a:t>8. startsWith(“Ha”)</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true if the name starts with the string “Ha”. (True in this case)</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240609450"/>
                  </a:ext>
                </a:extLst>
              </a:tr>
              <a:tr h="299785">
                <a:tc>
                  <a:txBody>
                    <a:bodyPr/>
                    <a:lstStyle/>
                    <a:p>
                      <a:pPr algn="ctr"/>
                      <a:r>
                        <a:rPr lang="en-IN" sz="1200">
                          <a:effectLst/>
                        </a:rPr>
                        <a:t>9. endsWith(“ry”)</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true if the name ends with the string “ry”. (True in this case)</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4046568147"/>
                  </a:ext>
                </a:extLst>
              </a:tr>
              <a:tr h="299785">
                <a:tc>
                  <a:txBody>
                    <a:bodyPr/>
                    <a:lstStyle/>
                    <a:p>
                      <a:pPr algn="ctr"/>
                      <a:r>
                        <a:rPr lang="en-IN" sz="1200">
                          <a:effectLst/>
                        </a:rPr>
                        <a:t>10. charAt(2)</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the character at a given index position. (r in this case)</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3353910095"/>
                  </a:ext>
                </a:extLst>
              </a:tr>
              <a:tr h="299785">
                <a:tc>
                  <a:txBody>
                    <a:bodyPr/>
                    <a:lstStyle/>
                    <a:p>
                      <a:pPr algn="ctr"/>
                      <a:r>
                        <a:rPr lang="en-IN" sz="1200">
                          <a:effectLst/>
                        </a:rPr>
                        <a:t>11. indexOf(“s”)</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the index of the first occurrence of the specified character in the given string.</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604658411"/>
                  </a:ext>
                </a:extLst>
              </a:tr>
              <a:tr h="428263">
                <a:tc>
                  <a:txBody>
                    <a:bodyPr/>
                    <a:lstStyle/>
                    <a:p>
                      <a:pPr algn="ctr"/>
                      <a:r>
                        <a:rPr lang="en-IN" sz="1200">
                          <a:effectLst/>
                        </a:rPr>
                        <a:t>12. lastIndexOf(“r”)</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the last index of the specified character from the given string. (3 in this case)</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4186867734"/>
                  </a:ext>
                </a:extLst>
              </a:tr>
              <a:tr h="1020696">
                <a:tc>
                  <a:txBody>
                    <a:bodyPr/>
                    <a:lstStyle/>
                    <a:p>
                      <a:pPr algn="ctr"/>
                      <a:r>
                        <a:rPr lang="en-IN" sz="1200">
                          <a:effectLst/>
                        </a:rPr>
                        <a:t>13. equals(“Harry”)</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a:effectLst/>
                        </a:rPr>
                        <a:t>Returns true if the given string is equal to “Harry” false otherwise [Case sensitive]</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3056377695"/>
                  </a:ext>
                </a:extLst>
              </a:tr>
              <a:tr h="1020696">
                <a:tc>
                  <a:txBody>
                    <a:bodyPr/>
                    <a:lstStyle/>
                    <a:p>
                      <a:pPr algn="ctr"/>
                      <a:r>
                        <a:rPr lang="en-IN" sz="1200">
                          <a:effectLst/>
                        </a:rPr>
                        <a:t>14.equalsIgnoreCase(“harry”)</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tc>
                  <a:txBody>
                    <a:bodyPr/>
                    <a:lstStyle/>
                    <a:p>
                      <a:r>
                        <a:rPr lang="en-US" sz="1200" dirty="0">
                          <a:effectLst/>
                        </a:rPr>
                        <a:t>Returns true if two strings are equal, ignoring the case of characters.</a:t>
                      </a:r>
                    </a:p>
                  </a:txBody>
                  <a:tcPr marL="24646" marR="24646" marT="12323" marB="12323"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3126076362"/>
                  </a:ext>
                </a:extLst>
              </a:tr>
            </a:tbl>
          </a:graphicData>
        </a:graphic>
      </p:graphicFrame>
      <p:sp>
        <p:nvSpPr>
          <p:cNvPr id="10" name="Rectangle 9">
            <a:extLst>
              <a:ext uri="{FF2B5EF4-FFF2-40B4-BE49-F238E27FC236}">
                <a16:creationId xmlns:a16="http://schemas.microsoft.com/office/drawing/2014/main" id="{2B2B6473-48EB-73B3-610F-1DF4B4920451}"/>
              </a:ext>
            </a:extLst>
          </p:cNvPr>
          <p:cNvSpPr/>
          <p:nvPr/>
        </p:nvSpPr>
        <p:spPr>
          <a:xfrm>
            <a:off x="0" y="0"/>
            <a:ext cx="12192000" cy="576798"/>
          </a:xfrm>
          <a:prstGeom prst="rect">
            <a:avLst/>
          </a:prstGeom>
          <a:solidFill>
            <a:srgbClr val="00B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3200" b="1" i="0" dirty="0">
                <a:solidFill>
                  <a:schemeClr val="tx1"/>
                </a:solidFill>
                <a:effectLst/>
                <a:latin typeface="Poppins" panose="00000500000000000000" pitchFamily="2" charset="0"/>
              </a:rPr>
              <a:t>Methods</a:t>
            </a:r>
            <a:endParaRPr lang="en-IN" sz="3200" dirty="0">
              <a:solidFill>
                <a:schemeClr val="tx1"/>
              </a:solidFill>
            </a:endParaRPr>
          </a:p>
        </p:txBody>
      </p:sp>
    </p:spTree>
    <p:extLst>
      <p:ext uri="{BB962C8B-B14F-4D97-AF65-F5344CB8AC3E}">
        <p14:creationId xmlns:p14="http://schemas.microsoft.com/office/powerpoint/2010/main" val="4075574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E14A0A1-E9FF-E8CB-910E-13EB84B45C2F}"/>
              </a:ext>
            </a:extLst>
          </p:cNvPr>
          <p:cNvSpPr txBox="1"/>
          <p:nvPr/>
        </p:nvSpPr>
        <p:spPr>
          <a:xfrm>
            <a:off x="0" y="487025"/>
            <a:ext cx="12192000" cy="637097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package </a:t>
            </a:r>
            <a:r>
              <a:rPr lang="en-IN" dirty="0" err="1"/>
              <a:t>com.company</a:t>
            </a:r>
            <a:r>
              <a:rPr lang="en-IN" dirty="0"/>
              <a:t>;</a:t>
            </a:r>
          </a:p>
          <a:p>
            <a:endParaRPr lang="en-IN" dirty="0"/>
          </a:p>
          <a:p>
            <a:r>
              <a:rPr lang="en-IN" dirty="0"/>
              <a:t>public class cwh_14_string_methods {</a:t>
            </a:r>
          </a:p>
          <a:p>
            <a:r>
              <a:rPr lang="en-IN" dirty="0"/>
              <a:t>    public static void main(String[] </a:t>
            </a:r>
            <a:r>
              <a:rPr lang="en-IN" dirty="0" err="1"/>
              <a:t>args</a:t>
            </a:r>
            <a:r>
              <a:rPr lang="en-IN" dirty="0"/>
              <a:t>) {</a:t>
            </a:r>
          </a:p>
          <a:p>
            <a:r>
              <a:rPr lang="en-IN" dirty="0"/>
              <a:t>        String name = "Harry";</a:t>
            </a:r>
          </a:p>
          <a:p>
            <a:r>
              <a:rPr lang="en-IN" dirty="0"/>
              <a:t>        // </a:t>
            </a:r>
            <a:r>
              <a:rPr lang="en-IN" dirty="0" err="1"/>
              <a:t>System.out.println</a:t>
            </a:r>
            <a:r>
              <a:rPr lang="en-IN" dirty="0"/>
              <a:t>(name);</a:t>
            </a:r>
          </a:p>
          <a:p>
            <a:r>
              <a:rPr lang="en-IN" dirty="0"/>
              <a:t>        int value = </a:t>
            </a:r>
            <a:r>
              <a:rPr lang="en-IN" dirty="0" err="1"/>
              <a:t>name.length</a:t>
            </a:r>
            <a:r>
              <a:rPr lang="en-IN" dirty="0"/>
              <a:t>();</a:t>
            </a:r>
          </a:p>
          <a:p>
            <a:r>
              <a:rPr lang="en-IN" dirty="0"/>
              <a:t>        //</a:t>
            </a:r>
            <a:r>
              <a:rPr lang="en-IN" dirty="0" err="1"/>
              <a:t>System.out.println</a:t>
            </a:r>
            <a:r>
              <a:rPr lang="en-IN" dirty="0"/>
              <a:t>(value);</a:t>
            </a:r>
          </a:p>
          <a:p>
            <a:endParaRPr lang="en-IN" dirty="0"/>
          </a:p>
          <a:p>
            <a:r>
              <a:rPr lang="en-IN" dirty="0"/>
              <a:t>        //String </a:t>
            </a:r>
            <a:r>
              <a:rPr lang="en-IN" dirty="0" err="1"/>
              <a:t>lstring</a:t>
            </a:r>
            <a:r>
              <a:rPr lang="en-IN" dirty="0"/>
              <a:t> = </a:t>
            </a:r>
            <a:r>
              <a:rPr lang="en-IN" dirty="0" err="1"/>
              <a:t>name.toLowerCase</a:t>
            </a:r>
            <a:r>
              <a:rPr lang="en-IN" dirty="0"/>
              <a:t>();</a:t>
            </a:r>
          </a:p>
          <a:p>
            <a:r>
              <a:rPr lang="en-IN" dirty="0"/>
              <a:t>        //</a:t>
            </a:r>
            <a:r>
              <a:rPr lang="en-IN" dirty="0" err="1"/>
              <a:t>System.out.println</a:t>
            </a:r>
            <a:r>
              <a:rPr lang="en-IN" dirty="0"/>
              <a:t>(</a:t>
            </a:r>
            <a:r>
              <a:rPr lang="en-IN" dirty="0" err="1"/>
              <a:t>lstring</a:t>
            </a:r>
            <a:r>
              <a:rPr lang="en-IN" dirty="0"/>
              <a:t>);</a:t>
            </a:r>
          </a:p>
          <a:p>
            <a:endParaRPr lang="en-IN" dirty="0"/>
          </a:p>
          <a:p>
            <a:r>
              <a:rPr lang="en-IN" dirty="0"/>
              <a:t>        //String </a:t>
            </a:r>
            <a:r>
              <a:rPr lang="en-IN" dirty="0" err="1"/>
              <a:t>ustring</a:t>
            </a:r>
            <a:r>
              <a:rPr lang="en-IN" dirty="0"/>
              <a:t> = </a:t>
            </a:r>
            <a:r>
              <a:rPr lang="en-IN" dirty="0" err="1"/>
              <a:t>name.toUpperCase</a:t>
            </a:r>
            <a:r>
              <a:rPr lang="en-IN" dirty="0"/>
              <a:t>();</a:t>
            </a:r>
          </a:p>
          <a:p>
            <a:r>
              <a:rPr lang="en-IN" dirty="0"/>
              <a:t>        //</a:t>
            </a:r>
            <a:r>
              <a:rPr lang="en-IN" dirty="0" err="1"/>
              <a:t>System.out.println</a:t>
            </a:r>
            <a:r>
              <a:rPr lang="en-IN" dirty="0"/>
              <a:t>(</a:t>
            </a:r>
            <a:r>
              <a:rPr lang="en-IN" dirty="0" err="1"/>
              <a:t>ustring</a:t>
            </a:r>
            <a:r>
              <a:rPr lang="en-IN" dirty="0"/>
              <a:t>);</a:t>
            </a:r>
          </a:p>
          <a:p>
            <a:endParaRPr lang="en-IN" dirty="0"/>
          </a:p>
          <a:p>
            <a:r>
              <a:rPr lang="en-IN" dirty="0"/>
              <a:t>        //String </a:t>
            </a:r>
            <a:r>
              <a:rPr lang="en-IN" dirty="0" err="1"/>
              <a:t>nonTrimmedString</a:t>
            </a:r>
            <a:r>
              <a:rPr lang="en-IN" dirty="0"/>
              <a:t> = "     Harry     ";</a:t>
            </a:r>
          </a:p>
          <a:p>
            <a:r>
              <a:rPr lang="en-IN" dirty="0"/>
              <a:t>        //</a:t>
            </a:r>
            <a:r>
              <a:rPr lang="en-IN" dirty="0" err="1"/>
              <a:t>System.out.println</a:t>
            </a:r>
            <a:r>
              <a:rPr lang="en-IN" dirty="0"/>
              <a:t>(</a:t>
            </a:r>
            <a:r>
              <a:rPr lang="en-IN" dirty="0" err="1"/>
              <a:t>nonTrimmedString</a:t>
            </a:r>
            <a:r>
              <a:rPr lang="en-IN" dirty="0"/>
              <a:t>);</a:t>
            </a:r>
          </a:p>
          <a:p>
            <a:endParaRPr lang="en-IN" dirty="0"/>
          </a:p>
          <a:p>
            <a:r>
              <a:rPr lang="en-IN" dirty="0"/>
              <a:t>        //String </a:t>
            </a:r>
            <a:r>
              <a:rPr lang="en-IN" dirty="0" err="1"/>
              <a:t>trimmedString</a:t>
            </a:r>
            <a:r>
              <a:rPr lang="en-IN" dirty="0"/>
              <a:t> = </a:t>
            </a:r>
            <a:r>
              <a:rPr lang="en-IN" dirty="0" err="1"/>
              <a:t>nonTrimmedString.trim</a:t>
            </a:r>
            <a:r>
              <a:rPr lang="en-IN" dirty="0"/>
              <a:t>();</a:t>
            </a:r>
          </a:p>
          <a:p>
            <a:r>
              <a:rPr lang="en-IN" dirty="0"/>
              <a:t>        //</a:t>
            </a:r>
            <a:r>
              <a:rPr lang="en-IN" dirty="0" err="1"/>
              <a:t>System.out.println</a:t>
            </a:r>
            <a:r>
              <a:rPr lang="en-IN" dirty="0"/>
              <a:t>(</a:t>
            </a:r>
            <a:r>
              <a:rPr lang="en-IN" dirty="0" err="1"/>
              <a:t>trimmedString</a:t>
            </a:r>
            <a:r>
              <a:rPr lang="en-IN" dirty="0"/>
              <a:t>);</a:t>
            </a:r>
          </a:p>
          <a:p>
            <a:endParaRPr lang="en-IN" sz="1600" dirty="0"/>
          </a:p>
          <a:p>
            <a:r>
              <a:rPr lang="en-IN" sz="1600" dirty="0"/>
              <a:t>    </a:t>
            </a:r>
          </a:p>
          <a:p>
            <a:r>
              <a:rPr lang="en-IN" sz="1600" dirty="0"/>
              <a:t>        </a:t>
            </a:r>
          </a:p>
        </p:txBody>
      </p:sp>
      <p:sp>
        <p:nvSpPr>
          <p:cNvPr id="9" name="Rectangle 8">
            <a:extLst>
              <a:ext uri="{FF2B5EF4-FFF2-40B4-BE49-F238E27FC236}">
                <a16:creationId xmlns:a16="http://schemas.microsoft.com/office/drawing/2014/main" id="{3FA5C30C-B9F2-5EB7-1A36-F3BBFEEA793C}"/>
              </a:ext>
            </a:extLst>
          </p:cNvPr>
          <p:cNvSpPr/>
          <p:nvPr/>
        </p:nvSpPr>
        <p:spPr>
          <a:xfrm>
            <a:off x="0" y="0"/>
            <a:ext cx="12192000" cy="48702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800" b="1" dirty="0"/>
              <a:t>String </a:t>
            </a:r>
            <a:r>
              <a:rPr lang="en-IN" sz="2800" b="1" i="0" dirty="0">
                <a:solidFill>
                  <a:schemeClr val="tx1"/>
                </a:solidFill>
                <a:effectLst/>
                <a:latin typeface="Poppins" panose="00000500000000000000" pitchFamily="2" charset="0"/>
              </a:rPr>
              <a:t>Methods</a:t>
            </a:r>
            <a:r>
              <a:rPr lang="en-US" sz="2800" b="1" dirty="0"/>
              <a:t> Ex :- </a:t>
            </a:r>
            <a:endParaRPr lang="en-IN" sz="2800" b="1" dirty="0"/>
          </a:p>
        </p:txBody>
      </p:sp>
    </p:spTree>
    <p:extLst>
      <p:ext uri="{BB962C8B-B14F-4D97-AF65-F5344CB8AC3E}">
        <p14:creationId xmlns:p14="http://schemas.microsoft.com/office/powerpoint/2010/main" val="843359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695784-EF78-D18A-E66B-0712410EC607}"/>
              </a:ext>
            </a:extLst>
          </p:cNvPr>
          <p:cNvSpPr txBox="1"/>
          <p:nvPr/>
        </p:nvSpPr>
        <p:spPr>
          <a:xfrm>
            <a:off x="-66675" y="0"/>
            <a:ext cx="12258675" cy="689419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endParaRPr lang="en-IN" dirty="0"/>
          </a:p>
          <a:p>
            <a:endParaRPr lang="en-IN" sz="1600" dirty="0"/>
          </a:p>
          <a:p>
            <a:r>
              <a:rPr lang="en-IN" sz="1600" dirty="0"/>
              <a:t>        //</a:t>
            </a:r>
            <a:r>
              <a:rPr lang="en-IN" sz="1600" dirty="0" err="1"/>
              <a:t>System.out.println</a:t>
            </a:r>
            <a:r>
              <a:rPr lang="en-IN" sz="1600" dirty="0"/>
              <a:t>(</a:t>
            </a:r>
            <a:r>
              <a:rPr lang="en-IN" sz="1600" dirty="0" err="1"/>
              <a:t>name.substring</a:t>
            </a:r>
            <a:r>
              <a:rPr lang="en-IN" sz="1600" dirty="0"/>
              <a:t>(1));</a:t>
            </a:r>
          </a:p>
          <a:p>
            <a:r>
              <a:rPr lang="en-IN" sz="1600" dirty="0"/>
              <a:t>        //</a:t>
            </a:r>
            <a:r>
              <a:rPr lang="en-IN" sz="1600" dirty="0" err="1"/>
              <a:t>System.out.println</a:t>
            </a:r>
            <a:r>
              <a:rPr lang="en-IN" sz="1600" dirty="0"/>
              <a:t>(</a:t>
            </a:r>
            <a:r>
              <a:rPr lang="en-IN" sz="1600" dirty="0" err="1"/>
              <a:t>name.substring</a:t>
            </a:r>
            <a:r>
              <a:rPr lang="en-IN" sz="1600" dirty="0"/>
              <a:t>(1,5));</a:t>
            </a:r>
          </a:p>
          <a:p>
            <a:endParaRPr lang="en-IN" sz="1600" dirty="0"/>
          </a:p>
          <a:p>
            <a:r>
              <a:rPr lang="en-IN" sz="1600" dirty="0"/>
              <a:t>        //</a:t>
            </a:r>
            <a:r>
              <a:rPr lang="en-IN" sz="1600" dirty="0" err="1"/>
              <a:t>System.out.println</a:t>
            </a:r>
            <a:r>
              <a:rPr lang="en-IN" sz="1600" dirty="0"/>
              <a:t>(</a:t>
            </a:r>
            <a:r>
              <a:rPr lang="en-IN" sz="1600" dirty="0" err="1"/>
              <a:t>name.replace</a:t>
            </a:r>
            <a:r>
              <a:rPr lang="en-IN" sz="1600" dirty="0"/>
              <a:t>('r', 'p'));</a:t>
            </a:r>
          </a:p>
          <a:p>
            <a:r>
              <a:rPr lang="en-IN" sz="1600" dirty="0"/>
              <a:t>        //</a:t>
            </a:r>
            <a:r>
              <a:rPr lang="en-IN" sz="1600" dirty="0" err="1"/>
              <a:t>System.out.println</a:t>
            </a:r>
            <a:r>
              <a:rPr lang="en-IN" sz="1600" dirty="0"/>
              <a:t>(</a:t>
            </a:r>
            <a:r>
              <a:rPr lang="en-IN" sz="1600" dirty="0" err="1"/>
              <a:t>name.replace</a:t>
            </a:r>
            <a:r>
              <a:rPr lang="en-IN" sz="1600" dirty="0"/>
              <a:t>("r", "</a:t>
            </a:r>
            <a:r>
              <a:rPr lang="en-IN" sz="1600" dirty="0" err="1"/>
              <a:t>ier</a:t>
            </a:r>
            <a:r>
              <a:rPr lang="en-IN" sz="1600" dirty="0"/>
              <a:t>"));</a:t>
            </a:r>
          </a:p>
          <a:p>
            <a:endParaRPr lang="en-IN" sz="1600" dirty="0"/>
          </a:p>
          <a:p>
            <a:r>
              <a:rPr lang="en-IN" sz="1600" dirty="0"/>
              <a:t>        //</a:t>
            </a:r>
            <a:r>
              <a:rPr lang="en-IN" sz="1600" dirty="0" err="1"/>
              <a:t>System.out.println</a:t>
            </a:r>
            <a:r>
              <a:rPr lang="en-IN" sz="1600" dirty="0"/>
              <a:t>(</a:t>
            </a:r>
            <a:r>
              <a:rPr lang="en-IN" sz="1600" dirty="0" err="1"/>
              <a:t>name.startsWith</a:t>
            </a:r>
            <a:r>
              <a:rPr lang="en-IN" sz="1600" dirty="0"/>
              <a:t>("Har"));</a:t>
            </a:r>
          </a:p>
          <a:p>
            <a:r>
              <a:rPr lang="en-IN" sz="1600" dirty="0"/>
              <a:t>        //</a:t>
            </a:r>
            <a:r>
              <a:rPr lang="en-IN" sz="1600" dirty="0" err="1"/>
              <a:t>System.out.println</a:t>
            </a:r>
            <a:r>
              <a:rPr lang="en-IN" sz="1600" dirty="0"/>
              <a:t>(</a:t>
            </a:r>
            <a:r>
              <a:rPr lang="en-IN" sz="1600" dirty="0" err="1"/>
              <a:t>name.endsWith</a:t>
            </a:r>
            <a:r>
              <a:rPr lang="en-IN" sz="1600" dirty="0"/>
              <a:t>("dd"));</a:t>
            </a:r>
          </a:p>
          <a:p>
            <a:endParaRPr lang="en-IN" sz="1600" dirty="0"/>
          </a:p>
          <a:p>
            <a:r>
              <a:rPr lang="en-IN" sz="1600" dirty="0"/>
              <a:t>        //</a:t>
            </a:r>
            <a:r>
              <a:rPr lang="en-IN" sz="1600" dirty="0" err="1"/>
              <a:t>System.out.println</a:t>
            </a:r>
            <a:r>
              <a:rPr lang="en-IN" sz="1600" dirty="0"/>
              <a:t>(</a:t>
            </a:r>
            <a:r>
              <a:rPr lang="en-IN" sz="1600" dirty="0" err="1"/>
              <a:t>name.charAt</a:t>
            </a:r>
            <a:r>
              <a:rPr lang="en-IN" sz="1600" dirty="0"/>
              <a:t>(4));</a:t>
            </a:r>
          </a:p>
          <a:p>
            <a:r>
              <a:rPr lang="en-IN" sz="1600" dirty="0"/>
              <a:t>        //String </a:t>
            </a:r>
            <a:r>
              <a:rPr lang="en-IN" sz="1600" dirty="0" err="1"/>
              <a:t>modifiedName</a:t>
            </a:r>
            <a:r>
              <a:rPr lang="en-IN" sz="1600" dirty="0"/>
              <a:t> = "</a:t>
            </a:r>
            <a:r>
              <a:rPr lang="en-IN" sz="1600" dirty="0" err="1"/>
              <a:t>Harryrryrry</a:t>
            </a:r>
            <a:r>
              <a:rPr lang="en-IN" sz="1600" dirty="0"/>
              <a:t>";</a:t>
            </a:r>
          </a:p>
          <a:p>
            <a:endParaRPr lang="en-IN" sz="1600" dirty="0"/>
          </a:p>
          <a:p>
            <a:r>
              <a:rPr lang="en-IN" sz="1600" dirty="0"/>
              <a:t>        //</a:t>
            </a:r>
            <a:r>
              <a:rPr lang="en-IN" sz="1600" dirty="0" err="1"/>
              <a:t>System.out.println</a:t>
            </a:r>
            <a:r>
              <a:rPr lang="en-IN" sz="1600" dirty="0"/>
              <a:t>(</a:t>
            </a:r>
            <a:r>
              <a:rPr lang="en-IN" sz="1600" dirty="0" err="1"/>
              <a:t>modifiedName.indexOf</a:t>
            </a:r>
            <a:r>
              <a:rPr lang="en-IN" sz="1600" dirty="0"/>
              <a:t>("</a:t>
            </a:r>
            <a:r>
              <a:rPr lang="en-IN" sz="1600" dirty="0" err="1"/>
              <a:t>rry</a:t>
            </a:r>
            <a:r>
              <a:rPr lang="en-IN" sz="1600" dirty="0"/>
              <a:t>"));</a:t>
            </a:r>
          </a:p>
          <a:p>
            <a:r>
              <a:rPr lang="en-IN" sz="1600" dirty="0"/>
              <a:t>        //</a:t>
            </a:r>
            <a:r>
              <a:rPr lang="en-IN" sz="1600" dirty="0" err="1"/>
              <a:t>System.out.println</a:t>
            </a:r>
            <a:r>
              <a:rPr lang="en-IN" sz="1600" dirty="0"/>
              <a:t>(</a:t>
            </a:r>
            <a:r>
              <a:rPr lang="en-IN" sz="1600" dirty="0" err="1"/>
              <a:t>modifiedName.indexOf</a:t>
            </a:r>
            <a:r>
              <a:rPr lang="en-IN" sz="1600" dirty="0"/>
              <a:t>("</a:t>
            </a:r>
            <a:r>
              <a:rPr lang="en-IN" sz="1600" dirty="0" err="1"/>
              <a:t>rry</a:t>
            </a:r>
            <a:r>
              <a:rPr lang="en-IN" sz="1600" dirty="0"/>
              <a:t>", 4));   </a:t>
            </a:r>
          </a:p>
          <a:p>
            <a:r>
              <a:rPr lang="en-IN" sz="1600" dirty="0"/>
              <a:t>      //</a:t>
            </a:r>
            <a:r>
              <a:rPr lang="en-IN" sz="1600" dirty="0" err="1"/>
              <a:t>System.out.println</a:t>
            </a:r>
            <a:r>
              <a:rPr lang="en-IN" sz="1600" dirty="0"/>
              <a:t>(</a:t>
            </a:r>
            <a:r>
              <a:rPr lang="en-IN" sz="1600" dirty="0" err="1"/>
              <a:t>modifiedName.lastIndexOf</a:t>
            </a:r>
            <a:r>
              <a:rPr lang="en-IN" sz="1600" dirty="0"/>
              <a:t>("</a:t>
            </a:r>
            <a:r>
              <a:rPr lang="en-IN" sz="1600" dirty="0" err="1"/>
              <a:t>rry</a:t>
            </a:r>
            <a:r>
              <a:rPr lang="en-IN" sz="1600" dirty="0"/>
              <a:t>", 7));</a:t>
            </a:r>
          </a:p>
          <a:p>
            <a:endParaRPr lang="en-IN" sz="1600" dirty="0"/>
          </a:p>
          <a:p>
            <a:r>
              <a:rPr lang="en-IN" sz="1600" dirty="0"/>
              <a:t>        //</a:t>
            </a:r>
            <a:r>
              <a:rPr lang="en-IN" sz="1600" dirty="0" err="1"/>
              <a:t>System.out.println</a:t>
            </a:r>
            <a:r>
              <a:rPr lang="en-IN" sz="1600" dirty="0"/>
              <a:t>(</a:t>
            </a:r>
            <a:r>
              <a:rPr lang="en-IN" sz="1600" dirty="0" err="1"/>
              <a:t>name.equals</a:t>
            </a:r>
            <a:r>
              <a:rPr lang="en-IN" sz="1600" dirty="0"/>
              <a:t>("Harry"));</a:t>
            </a:r>
          </a:p>
          <a:p>
            <a:r>
              <a:rPr lang="en-IN" sz="1600" dirty="0"/>
              <a:t>     </a:t>
            </a:r>
            <a:r>
              <a:rPr lang="en-IN" sz="1600" dirty="0" err="1"/>
              <a:t>System.out.println</a:t>
            </a:r>
            <a:r>
              <a:rPr lang="en-IN" sz="1600" dirty="0"/>
              <a:t>(</a:t>
            </a:r>
            <a:r>
              <a:rPr lang="en-IN" sz="1600" dirty="0" err="1"/>
              <a:t>name.equalsIgnoreCase</a:t>
            </a:r>
            <a:r>
              <a:rPr lang="en-IN" sz="1600" dirty="0"/>
              <a:t>("</a:t>
            </a:r>
            <a:r>
              <a:rPr lang="en-IN" sz="1600" dirty="0" err="1"/>
              <a:t>HarRY</a:t>
            </a:r>
            <a:r>
              <a:rPr lang="en-IN" sz="1600" dirty="0"/>
              <a:t>"));</a:t>
            </a:r>
          </a:p>
          <a:p>
            <a:endParaRPr lang="en-IN" sz="1600" dirty="0"/>
          </a:p>
          <a:p>
            <a:r>
              <a:rPr lang="en-IN" sz="1600" dirty="0"/>
              <a:t>        </a:t>
            </a:r>
            <a:r>
              <a:rPr lang="en-IN" sz="1600" dirty="0" err="1"/>
              <a:t>System.out.println</a:t>
            </a:r>
            <a:r>
              <a:rPr lang="en-IN" sz="1600" dirty="0"/>
              <a:t>("I am escape sequence\</a:t>
            </a:r>
            <a:r>
              <a:rPr lang="en-IN" sz="1600" dirty="0" err="1"/>
              <a:t>tdouble</a:t>
            </a:r>
            <a:r>
              <a:rPr lang="en-IN" sz="1600" dirty="0"/>
              <a:t> quote");</a:t>
            </a:r>
          </a:p>
          <a:p>
            <a:endParaRPr lang="en-IN" dirty="0"/>
          </a:p>
          <a:p>
            <a:endParaRPr lang="en-IN" dirty="0"/>
          </a:p>
          <a:p>
            <a:r>
              <a:rPr lang="en-IN" dirty="0"/>
              <a:t>    }</a:t>
            </a:r>
          </a:p>
          <a:p>
            <a:r>
              <a:rPr lang="en-IN" dirty="0"/>
              <a:t>}</a:t>
            </a:r>
          </a:p>
        </p:txBody>
      </p:sp>
    </p:spTree>
    <p:extLst>
      <p:ext uri="{BB962C8B-B14F-4D97-AF65-F5344CB8AC3E}">
        <p14:creationId xmlns:p14="http://schemas.microsoft.com/office/powerpoint/2010/main" val="2968749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561956-C7DA-3B92-6AC0-212BCD2B657E}"/>
              </a:ext>
            </a:extLst>
          </p:cNvPr>
          <p:cNvSpPr txBox="1"/>
          <p:nvPr/>
        </p:nvSpPr>
        <p:spPr>
          <a:xfrm>
            <a:off x="-42865" y="1552574"/>
            <a:ext cx="12125325" cy="3416320"/>
          </a:xfrm>
          <a:prstGeom prst="rect">
            <a:avLst/>
          </a:prstGeom>
          <a:noFill/>
        </p:spPr>
        <p:txBody>
          <a:bodyPr wrap="square">
            <a:spAutoFit/>
          </a:bodyPr>
          <a:lstStyle/>
          <a:p>
            <a:pPr algn="l"/>
            <a:r>
              <a:rPr lang="en-US" b="0" i="0" dirty="0">
                <a:solidFill>
                  <a:srgbClr val="000000"/>
                </a:solidFill>
                <a:effectLst/>
                <a:latin typeface="Poppins" panose="00000500000000000000" pitchFamily="2" charset="0"/>
              </a:rPr>
              <a:t>      Sometimes we want to drink coffee when we feel sleepy. Sometimes, we order junk food if it is our friend’s birthday.</a:t>
            </a:r>
          </a:p>
          <a:p>
            <a:pPr algn="l"/>
            <a:endParaRPr lang="en-US" b="0" i="0" dirty="0">
              <a:solidFill>
                <a:srgbClr val="000000"/>
              </a:solidFill>
              <a:effectLst/>
              <a:latin typeface="Poppins" panose="00000500000000000000" pitchFamily="2" charset="0"/>
            </a:endParaRPr>
          </a:p>
          <a:p>
            <a:pPr algn="l"/>
            <a:r>
              <a:rPr lang="en-US" b="0" i="0" dirty="0">
                <a:solidFill>
                  <a:srgbClr val="000000"/>
                </a:solidFill>
                <a:effectLst/>
                <a:latin typeface="Poppins" panose="00000500000000000000" pitchFamily="2" charset="0"/>
              </a:rPr>
              <a:t>   You might want to buy an umbrella if it’s raining. </a:t>
            </a:r>
          </a:p>
          <a:p>
            <a:pPr algn="l"/>
            <a:endParaRPr lang="en-US" b="0" i="0" dirty="0">
              <a:solidFill>
                <a:srgbClr val="000000"/>
              </a:solidFill>
              <a:effectLst/>
              <a:latin typeface="Poppins" panose="00000500000000000000" pitchFamily="2" charset="0"/>
            </a:endParaRPr>
          </a:p>
          <a:p>
            <a:pPr algn="l"/>
            <a:r>
              <a:rPr lang="en-US" dirty="0">
                <a:solidFill>
                  <a:srgbClr val="000000"/>
                </a:solidFill>
                <a:latin typeface="Poppins" panose="00000500000000000000" pitchFamily="2" charset="0"/>
              </a:rPr>
              <a:t>   </a:t>
            </a:r>
            <a:r>
              <a:rPr lang="en-US" b="0" i="0" dirty="0">
                <a:solidFill>
                  <a:srgbClr val="000000"/>
                </a:solidFill>
                <a:effectLst/>
                <a:latin typeface="Poppins" panose="00000500000000000000" pitchFamily="2" charset="0"/>
              </a:rPr>
              <a:t>All these decisions depend on a certain condition being met. </a:t>
            </a:r>
          </a:p>
          <a:p>
            <a:pPr algn="l"/>
            <a:endParaRPr lang="en-US" b="0" i="0" dirty="0">
              <a:solidFill>
                <a:srgbClr val="000000"/>
              </a:solidFill>
              <a:effectLst/>
              <a:latin typeface="Poppins" panose="00000500000000000000" pitchFamily="2" charset="0"/>
            </a:endParaRPr>
          </a:p>
          <a:p>
            <a:pPr algn="l"/>
            <a:r>
              <a:rPr lang="en-US" dirty="0">
                <a:solidFill>
                  <a:srgbClr val="000000"/>
                </a:solidFill>
                <a:latin typeface="Poppins" panose="00000500000000000000" pitchFamily="2" charset="0"/>
              </a:rPr>
              <a:t>    </a:t>
            </a:r>
            <a:r>
              <a:rPr lang="en-US" b="0" i="0" dirty="0">
                <a:solidFill>
                  <a:srgbClr val="000000"/>
                </a:solidFill>
                <a:effectLst/>
                <a:latin typeface="Poppins" panose="00000500000000000000" pitchFamily="2" charset="0"/>
              </a:rPr>
              <a:t>Similar to real life, we can execute some instructions only when a condition is met in programming also.</a:t>
            </a:r>
          </a:p>
          <a:p>
            <a:pPr algn="l"/>
            <a:endParaRPr lang="en-US" b="0" i="0" dirty="0">
              <a:solidFill>
                <a:srgbClr val="000000"/>
              </a:solidFill>
              <a:effectLst/>
              <a:latin typeface="Poppins" panose="00000500000000000000" pitchFamily="2" charset="0"/>
            </a:endParaRPr>
          </a:p>
          <a:p>
            <a:pPr algn="l"/>
            <a:r>
              <a:rPr lang="en-US" b="0" i="0" dirty="0">
                <a:solidFill>
                  <a:srgbClr val="000000"/>
                </a:solidFill>
                <a:effectLst/>
                <a:latin typeface="Poppins" panose="00000500000000000000" pitchFamily="2" charset="0"/>
              </a:rPr>
              <a:t>   If-else block is used to check conditions and execute a particular section of code for a specific condition.</a:t>
            </a:r>
          </a:p>
        </p:txBody>
      </p:sp>
      <p:sp>
        <p:nvSpPr>
          <p:cNvPr id="4" name="Rectangle 3">
            <a:extLst>
              <a:ext uri="{FF2B5EF4-FFF2-40B4-BE49-F238E27FC236}">
                <a16:creationId xmlns:a16="http://schemas.microsoft.com/office/drawing/2014/main" id="{FADFA158-F720-397F-3A1B-148A92CEA6DA}"/>
              </a:ext>
            </a:extLst>
          </p:cNvPr>
          <p:cNvSpPr/>
          <p:nvPr/>
        </p:nvSpPr>
        <p:spPr>
          <a:xfrm>
            <a:off x="1" y="0"/>
            <a:ext cx="12192000" cy="762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800" b="1" dirty="0"/>
              <a:t>Conditional Statement </a:t>
            </a:r>
            <a:endParaRPr lang="en-IN" sz="2800" b="1" dirty="0"/>
          </a:p>
        </p:txBody>
      </p:sp>
      <p:sp>
        <p:nvSpPr>
          <p:cNvPr id="6" name="TextBox 5">
            <a:extLst>
              <a:ext uri="{FF2B5EF4-FFF2-40B4-BE49-F238E27FC236}">
                <a16:creationId xmlns:a16="http://schemas.microsoft.com/office/drawing/2014/main" id="{13DEF14A-6933-7FE2-5772-8F713AE78648}"/>
              </a:ext>
            </a:extLst>
          </p:cNvPr>
          <p:cNvSpPr txBox="1"/>
          <p:nvPr/>
        </p:nvSpPr>
        <p:spPr>
          <a:xfrm>
            <a:off x="197644" y="865226"/>
            <a:ext cx="6110286" cy="369332"/>
          </a:xfrm>
          <a:prstGeom prst="rect">
            <a:avLst/>
          </a:prstGeom>
          <a:noFill/>
        </p:spPr>
        <p:txBody>
          <a:bodyPr wrap="square">
            <a:spAutoFit/>
          </a:bodyPr>
          <a:lstStyle/>
          <a:p>
            <a:pPr algn="l"/>
            <a:r>
              <a:rPr lang="en-US" b="1" i="0" dirty="0">
                <a:solidFill>
                  <a:srgbClr val="000000"/>
                </a:solidFill>
                <a:effectLst/>
                <a:latin typeface="Poppins" panose="00000500000000000000" pitchFamily="2" charset="0"/>
              </a:rPr>
              <a:t>Java Conditionals: If-else Statement in Java</a:t>
            </a:r>
          </a:p>
        </p:txBody>
      </p:sp>
    </p:spTree>
    <p:extLst>
      <p:ext uri="{BB962C8B-B14F-4D97-AF65-F5344CB8AC3E}">
        <p14:creationId xmlns:p14="http://schemas.microsoft.com/office/powerpoint/2010/main" val="12450773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E526CC-99F8-BBA8-0B8A-945FCCC8057D}"/>
              </a:ext>
            </a:extLst>
          </p:cNvPr>
          <p:cNvSpPr/>
          <p:nvPr/>
        </p:nvSpPr>
        <p:spPr>
          <a:xfrm>
            <a:off x="0" y="-1"/>
            <a:ext cx="12192000" cy="52387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l"/>
            <a:r>
              <a:rPr lang="en-US" b="1" i="0">
                <a:effectLst/>
                <a:latin typeface="Poppins" panose="00000500000000000000" pitchFamily="2" charset="0"/>
              </a:rPr>
              <a:t>Flow control of if-else in Java </a:t>
            </a:r>
          </a:p>
        </p:txBody>
      </p:sp>
      <p:pic>
        <p:nvPicPr>
          <p:cNvPr id="5122" name="Picture 2">
            <a:extLst>
              <a:ext uri="{FF2B5EF4-FFF2-40B4-BE49-F238E27FC236}">
                <a16:creationId xmlns:a16="http://schemas.microsoft.com/office/drawing/2014/main" id="{FA8FC9C7-B2F6-03C2-0F1A-CD798CE24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0725" y="523874"/>
            <a:ext cx="6188075" cy="586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351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D33353-FDB3-2033-D1C1-5D11D7F1D8CD}"/>
              </a:ext>
            </a:extLst>
          </p:cNvPr>
          <p:cNvSpPr txBox="1"/>
          <p:nvPr/>
        </p:nvSpPr>
        <p:spPr>
          <a:xfrm>
            <a:off x="376238" y="976610"/>
            <a:ext cx="6105524" cy="646331"/>
          </a:xfrm>
          <a:prstGeom prst="rect">
            <a:avLst/>
          </a:prstGeom>
          <a:noFill/>
        </p:spPr>
        <p:txBody>
          <a:bodyPr wrap="square">
            <a:spAutoFit/>
          </a:bodyPr>
          <a:lstStyle/>
          <a:p>
            <a:pPr algn="l">
              <a:buFont typeface="Arial" panose="020B0604020202020204" pitchFamily="34" charset="0"/>
              <a:buChar char="•"/>
            </a:pPr>
            <a:r>
              <a:rPr lang="en-US" b="0" i="0">
                <a:solidFill>
                  <a:srgbClr val="000000"/>
                </a:solidFill>
                <a:effectLst/>
                <a:latin typeface="Poppins" panose="00000500000000000000" pitchFamily="2" charset="0"/>
              </a:rPr>
              <a:t>If-Else Statement</a:t>
            </a:r>
          </a:p>
          <a:p>
            <a:pPr algn="l">
              <a:buFont typeface="Arial" panose="020B0604020202020204" pitchFamily="34" charset="0"/>
              <a:buChar char="•"/>
            </a:pPr>
            <a:r>
              <a:rPr lang="en-US" b="0" i="0">
                <a:solidFill>
                  <a:srgbClr val="000000"/>
                </a:solidFill>
                <a:effectLst/>
                <a:latin typeface="Poppins" panose="00000500000000000000" pitchFamily="2" charset="0"/>
              </a:rPr>
              <a:t>Switch Statement</a:t>
            </a:r>
            <a:endParaRPr lang="en-US" b="0" i="0" dirty="0">
              <a:solidFill>
                <a:srgbClr val="000000"/>
              </a:solidFill>
              <a:effectLst/>
              <a:latin typeface="Poppins" panose="00000500000000000000" pitchFamily="2" charset="0"/>
            </a:endParaRPr>
          </a:p>
        </p:txBody>
      </p:sp>
      <p:sp>
        <p:nvSpPr>
          <p:cNvPr id="5" name="TextBox 4">
            <a:extLst>
              <a:ext uri="{FF2B5EF4-FFF2-40B4-BE49-F238E27FC236}">
                <a16:creationId xmlns:a16="http://schemas.microsoft.com/office/drawing/2014/main" id="{8C874EF1-87D6-A952-22DF-6590AAB73107}"/>
              </a:ext>
            </a:extLst>
          </p:cNvPr>
          <p:cNvSpPr txBox="1"/>
          <p:nvPr/>
        </p:nvSpPr>
        <p:spPr>
          <a:xfrm>
            <a:off x="-9524" y="367784"/>
            <a:ext cx="6105524" cy="369332"/>
          </a:xfrm>
          <a:prstGeom prst="rect">
            <a:avLst/>
          </a:prstGeom>
          <a:noFill/>
        </p:spPr>
        <p:txBody>
          <a:bodyPr wrap="square">
            <a:spAutoFit/>
          </a:bodyPr>
          <a:lstStyle/>
          <a:p>
            <a:pPr algn="l"/>
            <a:r>
              <a:rPr lang="en-US" b="1" i="0" dirty="0">
                <a:solidFill>
                  <a:schemeClr val="bg1"/>
                </a:solidFill>
                <a:effectLst/>
                <a:latin typeface="Poppins" panose="00000500000000000000" pitchFamily="2" charset="0"/>
              </a:rPr>
              <a:t>Decision-making instructions in Java</a:t>
            </a:r>
          </a:p>
        </p:txBody>
      </p:sp>
      <p:sp>
        <p:nvSpPr>
          <p:cNvPr id="7" name="TextBox 6">
            <a:extLst>
              <a:ext uri="{FF2B5EF4-FFF2-40B4-BE49-F238E27FC236}">
                <a16:creationId xmlns:a16="http://schemas.microsoft.com/office/drawing/2014/main" id="{F64938AA-CDEB-9BAE-BB2C-7527368CBD24}"/>
              </a:ext>
            </a:extLst>
          </p:cNvPr>
          <p:cNvSpPr txBox="1"/>
          <p:nvPr/>
        </p:nvSpPr>
        <p:spPr>
          <a:xfrm>
            <a:off x="-23812" y="2351812"/>
            <a:ext cx="6134100" cy="369332"/>
          </a:xfrm>
          <a:prstGeom prst="rect">
            <a:avLst/>
          </a:prstGeom>
          <a:noFill/>
        </p:spPr>
        <p:txBody>
          <a:bodyPr wrap="square">
            <a:spAutoFit/>
          </a:bodyPr>
          <a:lstStyle/>
          <a:p>
            <a:pPr algn="l"/>
            <a:r>
              <a:rPr lang="en-US" b="0" i="0" dirty="0">
                <a:solidFill>
                  <a:srgbClr val="000000"/>
                </a:solidFill>
                <a:effectLst/>
                <a:latin typeface="Poppins" panose="00000500000000000000" pitchFamily="2" charset="0"/>
              </a:rPr>
              <a:t>Syntax of If-else statement in Java :</a:t>
            </a:r>
          </a:p>
        </p:txBody>
      </p:sp>
      <p:sp>
        <p:nvSpPr>
          <p:cNvPr id="9" name="TextBox 8">
            <a:extLst>
              <a:ext uri="{FF2B5EF4-FFF2-40B4-BE49-F238E27FC236}">
                <a16:creationId xmlns:a16="http://schemas.microsoft.com/office/drawing/2014/main" id="{641F5A1B-93C8-B1FF-CB8D-E66E970CD1B9}"/>
              </a:ext>
            </a:extLst>
          </p:cNvPr>
          <p:cNvSpPr txBox="1"/>
          <p:nvPr/>
        </p:nvSpPr>
        <p:spPr>
          <a:xfrm>
            <a:off x="0" y="1802710"/>
            <a:ext cx="6134100" cy="369332"/>
          </a:xfrm>
          <a:prstGeom prst="rect">
            <a:avLst/>
          </a:prstGeom>
          <a:noFill/>
        </p:spPr>
        <p:txBody>
          <a:bodyPr wrap="square">
            <a:spAutoFit/>
          </a:bodyPr>
          <a:lstStyle/>
          <a:p>
            <a:pPr algn="l"/>
            <a:r>
              <a:rPr lang="en-US" b="1" i="0" dirty="0">
                <a:solidFill>
                  <a:srgbClr val="FFFF00"/>
                </a:solidFill>
                <a:effectLst/>
                <a:latin typeface="Poppins" panose="00000500000000000000" pitchFamily="2" charset="0"/>
              </a:rPr>
              <a:t>If-Else Statement</a:t>
            </a:r>
          </a:p>
        </p:txBody>
      </p:sp>
      <p:sp>
        <p:nvSpPr>
          <p:cNvPr id="11" name="TextBox 10">
            <a:extLst>
              <a:ext uri="{FF2B5EF4-FFF2-40B4-BE49-F238E27FC236}">
                <a16:creationId xmlns:a16="http://schemas.microsoft.com/office/drawing/2014/main" id="{81FF5E34-B1DE-8C93-F3CA-A9CD169F0553}"/>
              </a:ext>
            </a:extLst>
          </p:cNvPr>
          <p:cNvSpPr txBox="1"/>
          <p:nvPr/>
        </p:nvSpPr>
        <p:spPr>
          <a:xfrm>
            <a:off x="0" y="3237636"/>
            <a:ext cx="12191999" cy="1754326"/>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 if (condition-to-be-checked) {</a:t>
            </a:r>
          </a:p>
          <a:p>
            <a:r>
              <a:rPr lang="en-IN" dirty="0"/>
              <a:t>	statements-if-condition-true;</a:t>
            </a:r>
          </a:p>
          <a:p>
            <a:r>
              <a:rPr lang="en-IN" dirty="0"/>
              <a:t>}</a:t>
            </a:r>
          </a:p>
          <a:p>
            <a:r>
              <a:rPr lang="en-IN" dirty="0"/>
              <a:t>else {</a:t>
            </a:r>
          </a:p>
          <a:p>
            <a:r>
              <a:rPr lang="en-IN" dirty="0"/>
              <a:t>	statements-if-condition-false;</a:t>
            </a:r>
          </a:p>
          <a:p>
            <a:r>
              <a:rPr lang="en-IN" dirty="0"/>
              <a:t>} */</a:t>
            </a:r>
          </a:p>
        </p:txBody>
      </p:sp>
      <p:sp>
        <p:nvSpPr>
          <p:cNvPr id="13" name="TextBox 12">
            <a:extLst>
              <a:ext uri="{FF2B5EF4-FFF2-40B4-BE49-F238E27FC236}">
                <a16:creationId xmlns:a16="http://schemas.microsoft.com/office/drawing/2014/main" id="{D5B8D1D3-7332-FEAC-4E34-42857269D9C7}"/>
              </a:ext>
            </a:extLst>
          </p:cNvPr>
          <p:cNvSpPr txBox="1"/>
          <p:nvPr/>
        </p:nvSpPr>
        <p:spPr>
          <a:xfrm>
            <a:off x="0" y="5597009"/>
            <a:ext cx="12191999"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l"/>
            <a:r>
              <a:rPr lang="en-IN" b="1" i="0" dirty="0">
                <a:effectLst/>
                <a:latin typeface="Poppins" panose="00000500000000000000" pitchFamily="2" charset="0"/>
              </a:rPr>
              <a:t>Example:</a:t>
            </a:r>
          </a:p>
        </p:txBody>
      </p:sp>
    </p:spTree>
    <p:extLst>
      <p:ext uri="{BB962C8B-B14F-4D97-AF65-F5344CB8AC3E}">
        <p14:creationId xmlns:p14="http://schemas.microsoft.com/office/powerpoint/2010/main" val="34262540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141C13-DEE7-9DDB-C7CA-73DF93A3E560}"/>
              </a:ext>
            </a:extLst>
          </p:cNvPr>
          <p:cNvSpPr txBox="1"/>
          <p:nvPr/>
        </p:nvSpPr>
        <p:spPr>
          <a:xfrm>
            <a:off x="-9524" y="0"/>
            <a:ext cx="12201524" cy="203132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dirty="0"/>
              <a:t>int a = 29;</a:t>
            </a:r>
          </a:p>
          <a:p>
            <a:r>
              <a:rPr lang="en-IN" dirty="0"/>
              <a:t>if (a&gt;18) {</a:t>
            </a:r>
          </a:p>
          <a:p>
            <a:r>
              <a:rPr lang="en-IN" dirty="0"/>
              <a:t>	</a:t>
            </a:r>
            <a:r>
              <a:rPr lang="en-IN" dirty="0" err="1"/>
              <a:t>System.out.println</a:t>
            </a:r>
            <a:r>
              <a:rPr lang="en-IN" dirty="0"/>
              <a:t>(“You can drive”);</a:t>
            </a:r>
          </a:p>
          <a:p>
            <a:r>
              <a:rPr lang="en-IN" dirty="0"/>
              <a:t>}</a:t>
            </a:r>
          </a:p>
          <a:p>
            <a:r>
              <a:rPr lang="en-IN" dirty="0"/>
              <a:t>else{</a:t>
            </a:r>
          </a:p>
          <a:p>
            <a:r>
              <a:rPr lang="en-IN" dirty="0"/>
              <a:t>       </a:t>
            </a:r>
            <a:r>
              <a:rPr lang="en-IN" dirty="0" err="1"/>
              <a:t>System.out.println</a:t>
            </a:r>
            <a:r>
              <a:rPr lang="en-IN" dirty="0"/>
              <a:t>(“You are underage!");</a:t>
            </a:r>
          </a:p>
          <a:p>
            <a:r>
              <a:rPr lang="en-IN" dirty="0"/>
              <a:t>}</a:t>
            </a:r>
          </a:p>
        </p:txBody>
      </p:sp>
      <p:sp>
        <p:nvSpPr>
          <p:cNvPr id="5" name="TextBox 4">
            <a:extLst>
              <a:ext uri="{FF2B5EF4-FFF2-40B4-BE49-F238E27FC236}">
                <a16:creationId xmlns:a16="http://schemas.microsoft.com/office/drawing/2014/main" id="{8F5795DA-3063-004C-58D1-2A9A8694D69E}"/>
              </a:ext>
            </a:extLst>
          </p:cNvPr>
          <p:cNvSpPr txBox="1"/>
          <p:nvPr/>
        </p:nvSpPr>
        <p:spPr>
          <a:xfrm>
            <a:off x="-9524" y="3429000"/>
            <a:ext cx="12201524" cy="1200329"/>
          </a:xfrm>
          <a:prstGeom prst="rect">
            <a:avLst/>
          </a:prstGeom>
          <a:noFill/>
        </p:spPr>
        <p:txBody>
          <a:bodyPr wrap="square">
            <a:spAutoFit/>
          </a:bodyPr>
          <a:lstStyle/>
          <a:p>
            <a:pPr algn="l">
              <a:buFont typeface="Arial" panose="020B0604020202020204" pitchFamily="34" charset="0"/>
              <a:buChar char="•"/>
            </a:pPr>
            <a:r>
              <a:rPr lang="en-US" b="0" i="0" dirty="0">
                <a:solidFill>
                  <a:srgbClr val="000000"/>
                </a:solidFill>
                <a:effectLst/>
                <a:latin typeface="Poppins" panose="00000500000000000000" pitchFamily="2" charset="0"/>
              </a:rPr>
              <a:t>Instead of using multiple if statements, we can also use else if along with if thus forming an if-else-if-else ladder.</a:t>
            </a:r>
          </a:p>
          <a:p>
            <a:pPr algn="l">
              <a:buFont typeface="Arial" panose="020B0604020202020204" pitchFamily="34" charset="0"/>
              <a:buChar char="•"/>
            </a:pPr>
            <a:r>
              <a:rPr lang="en-US" b="0" i="0" dirty="0">
                <a:solidFill>
                  <a:srgbClr val="000000"/>
                </a:solidFill>
                <a:effectLst/>
                <a:latin typeface="Poppins" panose="00000500000000000000" pitchFamily="2" charset="0"/>
              </a:rPr>
              <a:t>Using such kind of logic reduces indents.</a:t>
            </a:r>
          </a:p>
          <a:p>
            <a:pPr algn="l">
              <a:buFont typeface="Arial" panose="020B0604020202020204" pitchFamily="34" charset="0"/>
              <a:buChar char="•"/>
            </a:pPr>
            <a:r>
              <a:rPr lang="en-US" b="0" i="0" dirty="0">
                <a:solidFill>
                  <a:srgbClr val="000000"/>
                </a:solidFill>
                <a:effectLst/>
                <a:latin typeface="Poppins" panose="00000500000000000000" pitchFamily="2" charset="0"/>
              </a:rPr>
              <a:t>Last else is executed only if all the conditions fail.</a:t>
            </a:r>
          </a:p>
        </p:txBody>
      </p:sp>
      <p:sp>
        <p:nvSpPr>
          <p:cNvPr id="7" name="TextBox 6">
            <a:extLst>
              <a:ext uri="{FF2B5EF4-FFF2-40B4-BE49-F238E27FC236}">
                <a16:creationId xmlns:a16="http://schemas.microsoft.com/office/drawing/2014/main" id="{BE1A9B36-A7A8-2E4E-F10D-16D1AC73E57D}"/>
              </a:ext>
            </a:extLst>
          </p:cNvPr>
          <p:cNvSpPr txBox="1"/>
          <p:nvPr/>
        </p:nvSpPr>
        <p:spPr>
          <a:xfrm>
            <a:off x="0" y="2644839"/>
            <a:ext cx="1220152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l"/>
            <a:r>
              <a:rPr lang="en-US" b="1" i="0" dirty="0">
                <a:effectLst/>
                <a:latin typeface="Poppins" panose="00000500000000000000" pitchFamily="2" charset="0"/>
              </a:rPr>
              <a:t>If-else ladder : </a:t>
            </a:r>
          </a:p>
        </p:txBody>
      </p:sp>
      <p:sp>
        <p:nvSpPr>
          <p:cNvPr id="9" name="TextBox 8">
            <a:extLst>
              <a:ext uri="{FF2B5EF4-FFF2-40B4-BE49-F238E27FC236}">
                <a16:creationId xmlns:a16="http://schemas.microsoft.com/office/drawing/2014/main" id="{A85FFE62-4622-E552-C386-6F724E30FEF9}"/>
              </a:ext>
            </a:extLst>
          </p:cNvPr>
          <p:cNvSpPr txBox="1"/>
          <p:nvPr/>
        </p:nvSpPr>
        <p:spPr>
          <a:xfrm>
            <a:off x="0" y="4843879"/>
            <a:ext cx="12192000" cy="181588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IN" sz="1400" dirty="0"/>
              <a:t>/* if (condition1) {</a:t>
            </a:r>
          </a:p>
          <a:p>
            <a:r>
              <a:rPr lang="en-IN" sz="1400" dirty="0"/>
              <a:t>            //Statements;</a:t>
            </a:r>
          </a:p>
          <a:p>
            <a:r>
              <a:rPr lang="en-IN" sz="1400" dirty="0"/>
              <a:t>else if {</a:t>
            </a:r>
          </a:p>
          <a:p>
            <a:r>
              <a:rPr lang="en-IN" sz="1400" dirty="0"/>
              <a:t>            // Statements;</a:t>
            </a:r>
          </a:p>
          <a:p>
            <a:r>
              <a:rPr lang="en-IN" sz="1400" dirty="0"/>
              <a:t>}</a:t>
            </a:r>
          </a:p>
          <a:p>
            <a:r>
              <a:rPr lang="en-IN" sz="1400" dirty="0"/>
              <a:t>else {</a:t>
            </a:r>
          </a:p>
          <a:p>
            <a:r>
              <a:rPr lang="en-IN" sz="1400" dirty="0"/>
              <a:t>            //Statements</a:t>
            </a:r>
          </a:p>
          <a:p>
            <a:r>
              <a:rPr lang="en-IN" sz="1400" dirty="0"/>
              <a:t>} */</a:t>
            </a:r>
          </a:p>
        </p:txBody>
      </p:sp>
    </p:spTree>
    <p:extLst>
      <p:ext uri="{BB962C8B-B14F-4D97-AF65-F5344CB8AC3E}">
        <p14:creationId xmlns:p14="http://schemas.microsoft.com/office/powerpoint/2010/main" val="24485143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9E34F5-F26C-1A95-EA60-1C5415CF2FDB}"/>
              </a:ext>
            </a:extLst>
          </p:cNvPr>
          <p:cNvSpPr txBox="1"/>
          <p:nvPr/>
        </p:nvSpPr>
        <p:spPr>
          <a:xfrm>
            <a:off x="1262063" y="2019211"/>
            <a:ext cx="6105524" cy="646331"/>
          </a:xfrm>
          <a:prstGeom prst="rect">
            <a:avLst/>
          </a:prstGeom>
          <a:noFill/>
        </p:spPr>
        <p:txBody>
          <a:bodyPr wrap="square">
            <a:spAutoFit/>
          </a:bodyPr>
          <a:lstStyle/>
          <a:p>
            <a:br>
              <a:rPr lang="en-US" b="0" i="0" dirty="0">
                <a:solidFill>
                  <a:srgbClr val="000000"/>
                </a:solidFill>
                <a:effectLst/>
                <a:latin typeface="Poppins" panose="00000500000000000000" pitchFamily="2" charset="0"/>
              </a:rPr>
            </a:br>
            <a:endParaRPr lang="en-IN" dirty="0"/>
          </a:p>
        </p:txBody>
      </p:sp>
      <p:sp>
        <p:nvSpPr>
          <p:cNvPr id="7" name="TextBox 6">
            <a:extLst>
              <a:ext uri="{FF2B5EF4-FFF2-40B4-BE49-F238E27FC236}">
                <a16:creationId xmlns:a16="http://schemas.microsoft.com/office/drawing/2014/main" id="{9C646F60-5E05-FEF7-301D-DFD7AE9E05F3}"/>
              </a:ext>
            </a:extLst>
          </p:cNvPr>
          <p:cNvSpPr txBox="1"/>
          <p:nvPr/>
        </p:nvSpPr>
        <p:spPr>
          <a:xfrm>
            <a:off x="0" y="0"/>
            <a:ext cx="1219200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l"/>
            <a:r>
              <a:rPr lang="en-US" b="1" i="0" dirty="0">
                <a:solidFill>
                  <a:schemeClr val="tx1"/>
                </a:solidFill>
                <a:effectLst/>
                <a:latin typeface="Poppins" panose="00000500000000000000" pitchFamily="2" charset="0"/>
              </a:rPr>
              <a:t>Java Tutorial: Relational and Logical Operators in Java</a:t>
            </a:r>
          </a:p>
        </p:txBody>
      </p:sp>
      <p:sp>
        <p:nvSpPr>
          <p:cNvPr id="9" name="TextBox 8">
            <a:extLst>
              <a:ext uri="{FF2B5EF4-FFF2-40B4-BE49-F238E27FC236}">
                <a16:creationId xmlns:a16="http://schemas.microsoft.com/office/drawing/2014/main" id="{5E98F105-F16B-5A48-253C-F0D6D0278836}"/>
              </a:ext>
            </a:extLst>
          </p:cNvPr>
          <p:cNvSpPr txBox="1"/>
          <p:nvPr/>
        </p:nvSpPr>
        <p:spPr>
          <a:xfrm>
            <a:off x="0" y="369332"/>
            <a:ext cx="12192000" cy="3139321"/>
          </a:xfrm>
          <a:prstGeom prst="rect">
            <a:avLst/>
          </a:prstGeom>
          <a:noFill/>
        </p:spPr>
        <p:txBody>
          <a:bodyPr wrap="square">
            <a:spAutoFit/>
          </a:bodyPr>
          <a:lstStyle/>
          <a:p>
            <a:pPr algn="l"/>
            <a:r>
              <a:rPr lang="en-US" b="1" i="0" dirty="0">
                <a:effectLst/>
                <a:latin typeface="Poppins" panose="00000500000000000000" pitchFamily="2" charset="0"/>
              </a:rPr>
              <a:t>Relational Operators in Java : </a:t>
            </a:r>
          </a:p>
          <a:p>
            <a:pPr algn="l"/>
            <a:r>
              <a:rPr lang="en-US" b="0" i="0" dirty="0">
                <a:solidFill>
                  <a:srgbClr val="000000"/>
                </a:solidFill>
                <a:effectLst/>
                <a:latin typeface="Poppins" panose="00000500000000000000" pitchFamily="2" charset="0"/>
              </a:rPr>
              <a:t>Relational operators are used to evaluate conditions (true or false) inside the if statements. Some examples of relational operators are:</a:t>
            </a:r>
          </a:p>
          <a:p>
            <a:pPr algn="l">
              <a:buFont typeface="Arial" panose="020B0604020202020204" pitchFamily="34" charset="0"/>
              <a:buChar char="•"/>
            </a:pPr>
            <a:r>
              <a:rPr lang="en-US" b="0" i="0" dirty="0">
                <a:solidFill>
                  <a:srgbClr val="000000"/>
                </a:solidFill>
                <a:effectLst/>
                <a:latin typeface="Poppins" panose="00000500000000000000" pitchFamily="2" charset="0"/>
              </a:rPr>
              <a:t>== (equals)</a:t>
            </a:r>
          </a:p>
          <a:p>
            <a:pPr algn="l">
              <a:buFont typeface="Arial" panose="020B0604020202020204" pitchFamily="34" charset="0"/>
              <a:buChar char="•"/>
            </a:pPr>
            <a:r>
              <a:rPr lang="en-US" b="0" i="0" dirty="0">
                <a:solidFill>
                  <a:srgbClr val="000000"/>
                </a:solidFill>
                <a:effectLst/>
                <a:latin typeface="Poppins" panose="00000500000000000000" pitchFamily="2" charset="0"/>
              </a:rPr>
              <a:t>&gt;= (greater than or equals to)</a:t>
            </a:r>
          </a:p>
          <a:p>
            <a:pPr algn="l">
              <a:buFont typeface="Arial" panose="020B0604020202020204" pitchFamily="34" charset="0"/>
              <a:buChar char="•"/>
            </a:pPr>
            <a:r>
              <a:rPr lang="en-US" b="0" i="0" dirty="0">
                <a:solidFill>
                  <a:srgbClr val="000000"/>
                </a:solidFill>
                <a:effectLst/>
                <a:latin typeface="Poppins" panose="00000500000000000000" pitchFamily="2" charset="0"/>
              </a:rPr>
              <a:t>&gt; (greater than)</a:t>
            </a:r>
          </a:p>
          <a:p>
            <a:pPr algn="l">
              <a:buFont typeface="Arial" panose="020B0604020202020204" pitchFamily="34" charset="0"/>
              <a:buChar char="•"/>
            </a:pPr>
            <a:r>
              <a:rPr lang="en-US" b="0" i="0" dirty="0">
                <a:solidFill>
                  <a:srgbClr val="000000"/>
                </a:solidFill>
                <a:effectLst/>
                <a:latin typeface="Poppins" panose="00000500000000000000" pitchFamily="2" charset="0"/>
              </a:rPr>
              <a:t>&lt; (less than)</a:t>
            </a:r>
          </a:p>
          <a:p>
            <a:pPr algn="l">
              <a:buFont typeface="Arial" panose="020B0604020202020204" pitchFamily="34" charset="0"/>
              <a:buChar char="•"/>
            </a:pPr>
            <a:r>
              <a:rPr lang="en-US" b="0" i="0" dirty="0">
                <a:solidFill>
                  <a:srgbClr val="000000"/>
                </a:solidFill>
                <a:effectLst/>
                <a:latin typeface="Poppins" panose="00000500000000000000" pitchFamily="2" charset="0"/>
              </a:rPr>
              <a:t>&lt;= (less than or equals to)</a:t>
            </a:r>
          </a:p>
          <a:p>
            <a:pPr algn="l">
              <a:buFont typeface="Arial" panose="020B0604020202020204" pitchFamily="34" charset="0"/>
              <a:buChar char="•"/>
            </a:pPr>
            <a:r>
              <a:rPr lang="en-US" b="0" i="0" dirty="0">
                <a:solidFill>
                  <a:srgbClr val="000000"/>
                </a:solidFill>
                <a:effectLst/>
                <a:latin typeface="Poppins" panose="00000500000000000000" pitchFamily="2" charset="0"/>
              </a:rPr>
              <a:t>!= (not equals)</a:t>
            </a:r>
          </a:p>
          <a:p>
            <a:pPr algn="l"/>
            <a:r>
              <a:rPr lang="en-US" b="0" i="0" dirty="0">
                <a:solidFill>
                  <a:srgbClr val="000000"/>
                </a:solidFill>
                <a:effectLst/>
                <a:latin typeface="Poppins" panose="00000500000000000000" pitchFamily="2" charset="0"/>
              </a:rPr>
              <a:t>Note: ‘=’ is used for an assignment whereas ‘==’ is used for equality check. The condition can be either true or false.</a:t>
            </a:r>
          </a:p>
        </p:txBody>
      </p:sp>
      <p:sp>
        <p:nvSpPr>
          <p:cNvPr id="3" name="TextBox 2">
            <a:extLst>
              <a:ext uri="{FF2B5EF4-FFF2-40B4-BE49-F238E27FC236}">
                <a16:creationId xmlns:a16="http://schemas.microsoft.com/office/drawing/2014/main" id="{DB3C0A59-B975-3C24-1987-1DAD587AA8F8}"/>
              </a:ext>
            </a:extLst>
          </p:cNvPr>
          <p:cNvSpPr txBox="1"/>
          <p:nvPr/>
        </p:nvSpPr>
        <p:spPr>
          <a:xfrm>
            <a:off x="0" y="3508653"/>
            <a:ext cx="12192000" cy="2031325"/>
          </a:xfrm>
          <a:prstGeom prst="rect">
            <a:avLst/>
          </a:prstGeom>
          <a:noFill/>
        </p:spPr>
        <p:txBody>
          <a:bodyPr wrap="square">
            <a:spAutoFit/>
          </a:bodyPr>
          <a:lstStyle/>
          <a:p>
            <a:pPr algn="l"/>
            <a:r>
              <a:rPr lang="en-US" b="1" i="0" dirty="0">
                <a:effectLst/>
                <a:latin typeface="Poppins" panose="00000500000000000000" pitchFamily="2" charset="0"/>
              </a:rPr>
              <a:t>Logical Operators : </a:t>
            </a:r>
          </a:p>
          <a:p>
            <a:pPr algn="l">
              <a:buFont typeface="Arial" panose="020B0604020202020204" pitchFamily="34" charset="0"/>
              <a:buChar char="•"/>
            </a:pPr>
            <a:r>
              <a:rPr lang="en-US" b="0" i="0" dirty="0">
                <a:solidFill>
                  <a:srgbClr val="000000"/>
                </a:solidFill>
                <a:effectLst/>
                <a:latin typeface="Poppins" panose="00000500000000000000" pitchFamily="2" charset="0"/>
              </a:rPr>
              <a:t>Logical operators are used to provide logic to our Java programs.</a:t>
            </a:r>
          </a:p>
          <a:p>
            <a:pPr algn="l">
              <a:buFont typeface="Arial" panose="020B0604020202020204" pitchFamily="34" charset="0"/>
              <a:buChar char="•"/>
            </a:pPr>
            <a:r>
              <a:rPr lang="en-US" b="0" i="0" dirty="0">
                <a:solidFill>
                  <a:srgbClr val="000000"/>
                </a:solidFill>
                <a:effectLst/>
                <a:latin typeface="Poppins" panose="00000500000000000000" pitchFamily="2" charset="0"/>
              </a:rPr>
              <a:t>There are three types of logical operators in Java :</a:t>
            </a:r>
          </a:p>
          <a:p>
            <a:pPr algn="l">
              <a:buFont typeface="Arial" panose="020B0604020202020204" pitchFamily="34" charset="0"/>
              <a:buChar char="•"/>
            </a:pPr>
            <a:r>
              <a:rPr lang="en-US" b="0" i="0" dirty="0">
                <a:solidFill>
                  <a:srgbClr val="000000"/>
                </a:solidFill>
                <a:effectLst/>
                <a:latin typeface="Poppins" panose="00000500000000000000" pitchFamily="2" charset="0"/>
              </a:rPr>
              <a:t>&amp;&amp; - AND</a:t>
            </a:r>
          </a:p>
          <a:p>
            <a:pPr algn="l">
              <a:buFont typeface="Arial" panose="020B0604020202020204" pitchFamily="34" charset="0"/>
              <a:buChar char="•"/>
            </a:pPr>
            <a:r>
              <a:rPr lang="en-US" b="0" i="0" dirty="0">
                <a:solidFill>
                  <a:srgbClr val="000000"/>
                </a:solidFill>
                <a:effectLst/>
                <a:latin typeface="Poppins" panose="00000500000000000000" pitchFamily="2" charset="0"/>
              </a:rPr>
              <a:t>|| - OR</a:t>
            </a:r>
          </a:p>
          <a:p>
            <a:pPr algn="l">
              <a:buFont typeface="Arial" panose="020B0604020202020204" pitchFamily="34" charset="0"/>
              <a:buChar char="•"/>
            </a:pPr>
            <a:r>
              <a:rPr lang="en-US" b="0" i="0" dirty="0">
                <a:solidFill>
                  <a:srgbClr val="000000"/>
                </a:solidFill>
                <a:effectLst/>
                <a:latin typeface="Poppins" panose="00000500000000000000" pitchFamily="2" charset="0"/>
              </a:rPr>
              <a:t>! – NOT</a:t>
            </a:r>
          </a:p>
          <a:p>
            <a:pPr algn="l"/>
            <a:r>
              <a:rPr lang="en-US" b="1" i="0" dirty="0">
                <a:effectLst/>
                <a:latin typeface="Poppins" panose="00000500000000000000" pitchFamily="2" charset="0"/>
              </a:rPr>
              <a:t>AND Operator : </a:t>
            </a:r>
          </a:p>
        </p:txBody>
      </p:sp>
      <p:sp>
        <p:nvSpPr>
          <p:cNvPr id="6" name="TextBox 5">
            <a:extLst>
              <a:ext uri="{FF2B5EF4-FFF2-40B4-BE49-F238E27FC236}">
                <a16:creationId xmlns:a16="http://schemas.microsoft.com/office/drawing/2014/main" id="{EDB0BF4B-E41E-BA37-8B34-57A4815186AE}"/>
              </a:ext>
            </a:extLst>
          </p:cNvPr>
          <p:cNvSpPr txBox="1"/>
          <p:nvPr/>
        </p:nvSpPr>
        <p:spPr>
          <a:xfrm>
            <a:off x="2047875" y="5288340"/>
            <a:ext cx="9467849" cy="1569660"/>
          </a:xfrm>
          <a:prstGeom prst="rect">
            <a:avLst/>
          </a:prstGeom>
          <a:noFill/>
        </p:spPr>
        <p:txBody>
          <a:bodyPr wrap="square">
            <a:spAutoFit/>
          </a:bodyPr>
          <a:lstStyle/>
          <a:p>
            <a:pPr algn="l"/>
            <a:r>
              <a:rPr lang="en-US" sz="1600" b="0" i="0" dirty="0">
                <a:solidFill>
                  <a:srgbClr val="000000"/>
                </a:solidFill>
                <a:effectLst/>
                <a:latin typeface="Poppins" panose="00000500000000000000" pitchFamily="2" charset="0"/>
              </a:rPr>
              <a:t>Evaluates to true if both the conditions are true.</a:t>
            </a:r>
          </a:p>
          <a:p>
            <a:pPr algn="l">
              <a:buFont typeface="Arial" panose="020B0604020202020204" pitchFamily="34" charset="0"/>
              <a:buChar char="•"/>
            </a:pPr>
            <a:r>
              <a:rPr lang="en-US" sz="1600" b="0" i="0" dirty="0">
                <a:solidFill>
                  <a:srgbClr val="000000"/>
                </a:solidFill>
                <a:effectLst/>
                <a:latin typeface="Poppins" panose="00000500000000000000" pitchFamily="2" charset="0"/>
              </a:rPr>
              <a:t>Y &amp;&amp; Y = Y                </a:t>
            </a:r>
          </a:p>
          <a:p>
            <a:pPr algn="l">
              <a:buFont typeface="Arial" panose="020B0604020202020204" pitchFamily="34" charset="0"/>
              <a:buChar char="•"/>
            </a:pPr>
            <a:r>
              <a:rPr lang="en-US" sz="1600" b="0" i="0" dirty="0">
                <a:solidFill>
                  <a:srgbClr val="000000"/>
                </a:solidFill>
                <a:effectLst/>
                <a:latin typeface="Poppins" panose="00000500000000000000" pitchFamily="2" charset="0"/>
              </a:rPr>
              <a:t>Y &amp;&amp; N = N</a:t>
            </a:r>
          </a:p>
          <a:p>
            <a:pPr algn="l">
              <a:buFont typeface="Arial" panose="020B0604020202020204" pitchFamily="34" charset="0"/>
              <a:buChar char="•"/>
            </a:pPr>
            <a:r>
              <a:rPr lang="en-US" sz="1600" b="0" i="0" dirty="0">
                <a:solidFill>
                  <a:srgbClr val="000000"/>
                </a:solidFill>
                <a:effectLst/>
                <a:latin typeface="Poppins" panose="00000500000000000000" pitchFamily="2" charset="0"/>
              </a:rPr>
              <a:t>N &amp;&amp; Y = N</a:t>
            </a:r>
          </a:p>
          <a:p>
            <a:pPr algn="l">
              <a:buFont typeface="Arial" panose="020B0604020202020204" pitchFamily="34" charset="0"/>
              <a:buChar char="•"/>
            </a:pPr>
            <a:r>
              <a:rPr lang="en-US" sz="1600" b="0" i="0" dirty="0">
                <a:solidFill>
                  <a:srgbClr val="000000"/>
                </a:solidFill>
                <a:effectLst/>
                <a:latin typeface="Poppins" panose="00000500000000000000" pitchFamily="2" charset="0"/>
              </a:rPr>
              <a:t>N &amp;&amp; N = N</a:t>
            </a:r>
          </a:p>
          <a:p>
            <a:pPr algn="l"/>
            <a:r>
              <a:rPr lang="en-US" sz="1600" b="1" i="0" dirty="0">
                <a:solidFill>
                  <a:srgbClr val="000000"/>
                </a:solidFill>
                <a:effectLst/>
                <a:latin typeface="Poppins" panose="00000500000000000000" pitchFamily="2" charset="0"/>
              </a:rPr>
              <a:t>Convention:</a:t>
            </a:r>
            <a:r>
              <a:rPr lang="en-US" sz="1600" b="0" i="0" dirty="0">
                <a:solidFill>
                  <a:srgbClr val="000000"/>
                </a:solidFill>
                <a:effectLst/>
                <a:latin typeface="Poppins" panose="00000500000000000000" pitchFamily="2" charset="0"/>
              </a:rPr>
              <a:t> # Y – True and N - False</a:t>
            </a:r>
          </a:p>
        </p:txBody>
      </p:sp>
    </p:spTree>
    <p:extLst>
      <p:ext uri="{BB962C8B-B14F-4D97-AF65-F5344CB8AC3E}">
        <p14:creationId xmlns:p14="http://schemas.microsoft.com/office/powerpoint/2010/main" val="1391706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004194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D06F1E"/>
      </a:dk2>
      <a:lt2>
        <a:srgbClr val="F0BE21"/>
      </a:lt2>
      <a:accent1>
        <a:srgbClr val="760603"/>
      </a:accent1>
      <a:accent2>
        <a:srgbClr val="9F761A"/>
      </a:accent2>
      <a:accent3>
        <a:srgbClr val="92A200"/>
      </a:accent3>
      <a:accent4>
        <a:srgbClr val="4AA157"/>
      </a:accent4>
      <a:accent5>
        <a:srgbClr val="46788D"/>
      </a:accent5>
      <a:accent6>
        <a:srgbClr val="A848A8"/>
      </a:accent6>
      <a:hlink>
        <a:srgbClr val="460402"/>
      </a:hlink>
      <a:folHlink>
        <a:srgbClr val="991111"/>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62000"/>
                <a:satMod val="200000"/>
                <a:lumMod val="124000"/>
              </a:schemeClr>
            </a:gs>
            <a:gs pos="100000">
              <a:schemeClr val="phClr">
                <a:shade val="96000"/>
                <a:hueMod val="88000"/>
                <a:satMod val="220000"/>
                <a:lumMod val="8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82EB108-EDE6-4B8E-957B-D4A69BF580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395</TotalTime>
  <Words>5740</Words>
  <Application>Microsoft Office PowerPoint</Application>
  <PresentationFormat>Widescreen</PresentationFormat>
  <Paragraphs>762</Paragraphs>
  <Slides>45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Century Gothic</vt:lpstr>
      <vt:lpstr>Poppins</vt:lpstr>
      <vt:lpstr>Wingdings 3</vt:lpstr>
      <vt:lpstr>Slice</vt:lpstr>
      <vt:lpstr>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dc:title>
  <dc:creator>Rutvik</dc:creator>
  <cp:lastModifiedBy>Rutvik Dolar</cp:lastModifiedBy>
  <cp:revision>8</cp:revision>
  <dcterms:created xsi:type="dcterms:W3CDTF">2023-09-01T05:42:46Z</dcterms:created>
  <dcterms:modified xsi:type="dcterms:W3CDTF">2023-12-10T13:52:13Z</dcterms:modified>
</cp:coreProperties>
</file>